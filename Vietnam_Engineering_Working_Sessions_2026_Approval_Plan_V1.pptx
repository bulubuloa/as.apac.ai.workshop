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383" autoAdjust="0"/>
  </p:normalViewPr>
  <p:slideViewPr>
    <p:cSldViewPr snapToGrid="0">
      <p:cViewPr varScale="1">
        <p:scale>
          <a:sx n="93" d="100"/>
          <a:sy n="93" d="100"/>
        </p:scale>
        <p:origin x="123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Purpose: approval deck for a focused engineering track during the Vietnam visit. Dates remain TBC. The cover photograph and Aspire logo come from the user-provided April 2025 Vietnam workshop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boundary avoids duplicating Dominique's work. Invite BA participants only for a specific dependency decision. The core engineering sessions remain with the internal owners named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plan uses three engineering days inside the wider trip. Each day has one primary output package, while the full-stack day combines two tightly time-boxed outputs supported by pre-work.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Keep this day decision oriented. The optional BA checkpoint should address only a dependency that changes the selected test journeys or rollout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Playwright scope source: https://playwright.dev/docs/emulation and https://playwright.dev/docs/api/class-android. Playwright documents browser/device emulation and experimental Android Chrome/WebView automation. The workshop therefore treats native app automation as a separate tool decision. AI assistance remains subject to Aspire approval and human code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The architecture reflects the current RDP model with client-specific ECS services and the need to support shared and custom code lines. AWS </a:t>
            </a:r>
            <a:r>
              <a:rPr dirty="0" err="1"/>
              <a:t>AppConfig</a:t>
            </a:r>
            <a:r>
              <a:rPr dirty="0"/>
              <a:t> documentation confirms that feature flags can change application behavior and support targeted rollout and rollback, but code must already exist in the deployed application. Source: https://docs.aws.amazon.com/appconfig/latest/userguide/what-is-appconfig.html. The workshop will decide whether </a:t>
            </a:r>
            <a:r>
              <a:rPr dirty="0" err="1"/>
              <a:t>AppConfig</a:t>
            </a:r>
            <a:r>
              <a:rPr dirty="0"/>
              <a:t> or the existing configuration mechanism best fits Aspire; it will not assume a new service purchase.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control model is aligned at a high level to the NIST AI Risk Management Framework functions Govern, Map, Measure and Manage. NIST treats governance as cross-cutting and emphasizes clear roles, documentation, human oversight, testing and ongoing monitoring. Source: https://airc.nist.gov/airmf-resources/airmf/5-sec-core/. This workshop creates an Aspire engineering draft for review, not a final corporate 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automation commitment uses a minimum of two stable journeys because one day includes environment setup, coding standards, evidence and handover. Three remains the target when prerequisites are ready. This avoids claiming a full regression suite from a one-day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Security and platform participants do not need to attend the full workshop. Their pre-approved inputs are enough unless a decision remains open. Production deployment stays outside this agenda.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rcRect l="3962" r="3962"/>
          <a:stretch>
            <a:fillRect/>
          </a:stretch>
        </p:blipFill>
        <p:spPr>
          <a:xfrm>
            <a:off x="0" y="0"/>
            <a:ext cx="523875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2BB6D09-6938-4DB6-B19A-96473202C947}"/>
              </a:ext>
            </a:extLst>
          </p:cNvPr>
          <p:cNvSpPr>
            <a:spLocks noGrp="1"/>
          </p:cNvSpPr>
          <p:nvPr/>
        </p:nvSpPr>
        <p:spPr>
          <a:xfrm>
            <a:off x="5238750" y="0"/>
            <a:ext cx="133350" cy="6858000"/>
          </a:xfrm>
          <a:prstGeom prst="rect">
            <a:avLst/>
          </a:prstGeom>
          <a:solidFill>
            <a:srgbClr val="D71920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01250" y="439235"/>
            <a:ext cx="1524000" cy="58838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C90AA72-C7AB-4802-AAE4-4720924CB3C6}"/>
              </a:ext>
            </a:extLst>
          </p:cNvPr>
          <p:cNvSpPr>
            <a:spLocks noGrp="1"/>
          </p:cNvSpPr>
          <p:nvPr/>
        </p:nvSpPr>
        <p:spPr>
          <a:xfrm>
            <a:off x="6048375" y="1657350"/>
            <a:ext cx="4572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350" b="1" i="0">
                <a:solidFill>
                  <a:srgbClr val="D71920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D71920"/>
                </a:solidFill>
                <a:latin typeface="Nimbus Sans"/>
                <a:ea typeface="Nimbus Sans"/>
                <a:cs typeface="Nimbus Sans"/>
              </a:rPr>
              <a:t>VIETNAM 2026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031A50-5B2C-4693-8C43-4E95117352DE}"/>
              </a:ext>
            </a:extLst>
          </p:cNvPr>
          <p:cNvSpPr>
            <a:spLocks noGrp="1"/>
          </p:cNvSpPr>
          <p:nvPr/>
        </p:nvSpPr>
        <p:spPr>
          <a:xfrm>
            <a:off x="6048375" y="2114550"/>
            <a:ext cx="5143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2000"/>
              </a:lnSpc>
              <a:buNone/>
              <a:defRPr sz="4350" b="1" i="0">
                <a:solidFill>
                  <a:srgbClr val="20282E"/>
                </a:solidFill>
                <a:latin typeface="Nimbus Sans"/>
                <a:ea typeface="Nimbus Sans"/>
                <a:cs typeface="Nimbus Sans"/>
              </a:defRPr>
            </a:pPr>
            <a:r>
              <a:rPr lang="en-SG" sz="4350" b="1" i="0" dirty="0">
                <a:solidFill>
                  <a:srgbClr val="20282E"/>
                </a:solidFill>
                <a:latin typeface="Nimbus Sans"/>
                <a:ea typeface="Nimbus Sans"/>
                <a:cs typeface="Nimbus Sans"/>
              </a:rPr>
              <a:t>Vietnam – Internal Aspire </a:t>
            </a:r>
            <a:endParaRPr sz="4350" b="1" i="0" dirty="0">
              <a:solidFill>
                <a:srgbClr val="20282E"/>
              </a:solidFill>
              <a:latin typeface="Nimbus Sans"/>
              <a:ea typeface="Nimbus Sans"/>
              <a:cs typeface="Nimbus Sans"/>
            </a:endParaRPr>
          </a:p>
          <a:p>
            <a:pPr algn="l">
              <a:lnSpc>
                <a:spcPct val="92000"/>
              </a:lnSpc>
              <a:buNone/>
              <a:defRPr sz="4350" b="1" i="0">
                <a:solidFill>
                  <a:srgbClr val="20282E"/>
                </a:solidFill>
                <a:latin typeface="Nimbus Sans"/>
                <a:ea typeface="Nimbus Sans"/>
                <a:cs typeface="Nimbus Sans"/>
              </a:defRPr>
            </a:pPr>
            <a:r>
              <a:rPr sz="4350" b="1" i="0" dirty="0">
                <a:solidFill>
                  <a:srgbClr val="20282E"/>
                </a:solidFill>
                <a:latin typeface="Nimbus Sans"/>
                <a:ea typeface="Nimbus Sans"/>
                <a:cs typeface="Nimbus Sans"/>
              </a:rPr>
              <a:t>Working Sessions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94AF27-B469-4DB7-BB19-D0B3A468224E}"/>
              </a:ext>
            </a:extLst>
          </p:cNvPr>
          <p:cNvSpPr>
            <a:spLocks noGrp="1"/>
          </p:cNvSpPr>
          <p:nvPr/>
        </p:nvSpPr>
        <p:spPr>
          <a:xfrm>
            <a:off x="6048375" y="3810000"/>
            <a:ext cx="1143000" cy="47625"/>
          </a:xfrm>
          <a:prstGeom prst="rect">
            <a:avLst/>
          </a:prstGeom>
          <a:solidFill>
            <a:srgbClr val="E9A923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D511AA-458C-418E-83F7-3FE2D5B96E6C}"/>
              </a:ext>
            </a:extLst>
          </p:cNvPr>
          <p:cNvSpPr>
            <a:spLocks noGrp="1"/>
          </p:cNvSpPr>
          <p:nvPr/>
        </p:nvSpPr>
        <p:spPr>
          <a:xfrm>
            <a:off x="6048375" y="4114800"/>
            <a:ext cx="504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800" b="0" i="0">
                <a:solidFill>
                  <a:srgbClr val="16384B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 i="0" dirty="0">
                <a:solidFill>
                  <a:srgbClr val="16384B"/>
                </a:solidFill>
                <a:latin typeface="Nimbus Sans"/>
                <a:ea typeface="Nimbus Sans"/>
                <a:cs typeface="Nimbus Sans"/>
              </a:rPr>
              <a:t>Focused internal sessions with Trung </a:t>
            </a:r>
            <a:r>
              <a:rPr lang="en-SG" dirty="0">
                <a:solidFill>
                  <a:srgbClr val="16384B"/>
                </a:solidFill>
                <a:latin typeface="Nimbus Sans"/>
                <a:ea typeface="Nimbus Sans"/>
                <a:cs typeface="Nimbus Sans"/>
              </a:rPr>
              <a:t>, Dahiya and </a:t>
            </a:r>
            <a:r>
              <a:rPr sz="1800" b="0" i="0" dirty="0">
                <a:solidFill>
                  <a:srgbClr val="16384B"/>
                </a:solidFill>
                <a:latin typeface="Nimbus Sans"/>
                <a:ea typeface="Nimbus Sans"/>
                <a:cs typeface="Nimbus Sans"/>
              </a:rPr>
              <a:t> Hoang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245659-E683-4DF1-BB76-860259F1722E}"/>
              </a:ext>
            </a:extLst>
          </p:cNvPr>
          <p:cNvSpPr>
            <a:spLocks noGrp="1"/>
          </p:cNvSpPr>
          <p:nvPr/>
        </p:nvSpPr>
        <p:spPr>
          <a:xfrm>
            <a:off x="6048375" y="493395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35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 dirty="0">
                <a:solidFill>
                  <a:srgbClr val="5E6870"/>
                </a:solidFill>
                <a:latin typeface="Nimbus Sans"/>
                <a:ea typeface="Nimbus Sans"/>
                <a:cs typeface="Nimbus Sans"/>
              </a:rPr>
              <a:t>Dates: TBC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11A0A5-91C0-4CEF-A8BB-EA5A8688355E}"/>
              </a:ext>
            </a:extLst>
          </p:cNvPr>
          <p:cNvSpPr>
            <a:spLocks noGrp="1"/>
          </p:cNvSpPr>
          <p:nvPr/>
        </p:nvSpPr>
        <p:spPr>
          <a:xfrm>
            <a:off x="6048375" y="563880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20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rPr>
              <a:t>Approval and detailed working plan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25FF412-B8D7-4608-B9D0-BCE42BFC32BA}"/>
              </a:ext>
            </a:extLst>
          </p:cNvPr>
          <p:cNvSpPr>
            <a:spLocks noGrp="1"/>
          </p:cNvSpPr>
          <p:nvPr/>
        </p:nvSpPr>
        <p:spPr>
          <a:xfrm>
            <a:off x="6048375" y="6429375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825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defRPr>
            </a:pPr>
            <a:r>
              <a:rPr sz="825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rPr>
              <a:t>CONFIDENTIAL &amp; PROPRIETARY</a:t>
            </a:r>
          </a:p>
        </p:txBody>
      </p:sp>
    </p:spTree>
    <p:extLst>
      <p:ext uri="{BB962C8B-B14F-4D97-AF65-F5344CB8AC3E}">
        <p14:creationId xmlns:p14="http://schemas.microsoft.com/office/powerpoint/2010/main" val="1568932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accent-2">
            <a:extLst>
              <a:ext uri="{FF2B5EF4-FFF2-40B4-BE49-F238E27FC236}">
                <a16:creationId xmlns:a16="http://schemas.microsoft.com/office/drawing/2014/main" id="{3D51D1DA-382C-42E2-91D6-037AB8E11C1C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76200" cy="514350"/>
          </a:xfrm>
          <a:prstGeom prst="rect">
            <a:avLst/>
          </a:prstGeom>
          <a:solidFill>
            <a:srgbClr val="D71920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" name="title-2">
            <a:extLst>
              <a:ext uri="{FF2B5EF4-FFF2-40B4-BE49-F238E27FC236}">
                <a16:creationId xmlns:a16="http://schemas.microsoft.com/office/drawing/2014/main" id="{7280DFA7-C23B-4711-A8BE-8CC7CF5370FA}"/>
              </a:ext>
            </a:extLst>
          </p:cNvPr>
          <p:cNvSpPr>
            <a:spLocks noGrp="1"/>
          </p:cNvSpPr>
          <p:nvPr/>
        </p:nvSpPr>
        <p:spPr>
          <a:xfrm>
            <a:off x="857250" y="400050"/>
            <a:ext cx="8667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3150" b="1" i="0">
                <a:solidFill>
                  <a:srgbClr val="20282E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 i="0">
                <a:solidFill>
                  <a:srgbClr val="20282E"/>
                </a:solidFill>
                <a:latin typeface="Nimbus Sans"/>
                <a:ea typeface="Nimbus Sans"/>
                <a:cs typeface="Nimbus Sans"/>
              </a:rPr>
              <a:t>Approval summary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65E519-7279-48D4-A45E-F2DD228B1A00}"/>
              </a:ext>
            </a:extLst>
          </p:cNvPr>
          <p:cNvSpPr>
            <a:spLocks noGrp="1"/>
          </p:cNvSpPr>
          <p:nvPr/>
        </p:nvSpPr>
        <p:spPr>
          <a:xfrm>
            <a:off x="876300" y="962025"/>
            <a:ext cx="885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35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rPr>
              <a:t>A three-day engineering track within the wider Vietnam visit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386310" y="333375"/>
            <a:ext cx="1134880" cy="4381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AE71FA3-CC5E-4EBA-80D7-8E605B5EAACC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19050"/>
          </a:xfrm>
          <a:prstGeom prst="rect">
            <a:avLst/>
          </a:prstGeom>
          <a:solidFill>
            <a:srgbClr val="D7DDE1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DE8342-6337-4348-863C-C6963C5ABF6C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181100" cy="38100"/>
          </a:xfrm>
          <a:prstGeom prst="rect">
            <a:avLst/>
          </a:prstGeom>
          <a:solidFill>
            <a:srgbClr val="D71920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8D8BFA-58A8-4597-A1AE-AD224FC46284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10972800" cy="9525"/>
          </a:xfrm>
          <a:prstGeom prst="rect">
            <a:avLst/>
          </a:prstGeom>
          <a:solidFill>
            <a:srgbClr val="D7DDE1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953D9A-F648-493C-8FD9-B4EEA44C2901}"/>
              </a:ext>
            </a:extLst>
          </p:cNvPr>
          <p:cNvSpPr>
            <a:spLocks noGrp="1"/>
          </p:cNvSpPr>
          <p:nvPr/>
        </p:nvSpPr>
        <p:spPr>
          <a:xfrm>
            <a:off x="609600" y="6562725"/>
            <a:ext cx="3143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825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defRPr>
            </a:pPr>
            <a:r>
              <a:rPr sz="825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rPr>
              <a:t>CONFIDENTIAL &amp; PROPRIETARY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266134-53DF-480A-A30C-E30EACEBB057}"/>
              </a:ext>
            </a:extLst>
          </p:cNvPr>
          <p:cNvSpPr>
            <a:spLocks noGrp="1"/>
          </p:cNvSpPr>
          <p:nvPr/>
        </p:nvSpPr>
        <p:spPr>
          <a:xfrm>
            <a:off x="11144250" y="6553200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90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defRPr>
            </a:pPr>
            <a:r>
              <a:rPr sz="90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rPr>
              <a:t>02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31A1F5-9A9F-4536-BB38-17D732853BED}"/>
              </a:ext>
            </a:extLst>
          </p:cNvPr>
          <p:cNvSpPr>
            <a:spLocks noGrp="1"/>
          </p:cNvSpPr>
          <p:nvPr/>
        </p:nvSpPr>
        <p:spPr>
          <a:xfrm>
            <a:off x="723900" y="1676400"/>
            <a:ext cx="16192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7800" b="1" i="0">
                <a:solidFill>
                  <a:srgbClr val="D71920"/>
                </a:solidFill>
                <a:latin typeface="Nimbus Sans"/>
                <a:ea typeface="Nimbus Sans"/>
                <a:cs typeface="Nimbus Sans"/>
              </a:defRPr>
            </a:pPr>
            <a:r>
              <a:rPr sz="7800" b="1" i="0">
                <a:solidFill>
                  <a:srgbClr val="D71920"/>
                </a:solidFill>
                <a:latin typeface="Nimbus Sans"/>
                <a:ea typeface="Nimbus Sans"/>
                <a:cs typeface="Nimbus Sans"/>
              </a:rPr>
              <a:t>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6C71C5-AE29-4E70-852F-78768BB3CB2C}"/>
              </a:ext>
            </a:extLst>
          </p:cNvPr>
          <p:cNvSpPr>
            <a:spLocks noGrp="1"/>
          </p:cNvSpPr>
          <p:nvPr/>
        </p:nvSpPr>
        <p:spPr>
          <a:xfrm>
            <a:off x="762000" y="2819400"/>
            <a:ext cx="3429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2250" b="1" i="0">
                <a:solidFill>
                  <a:srgbClr val="16384B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 i="0">
                <a:solidFill>
                  <a:srgbClr val="16384B"/>
                </a:solidFill>
                <a:latin typeface="Nimbus Sans"/>
                <a:ea typeface="Nimbus Sans"/>
                <a:cs typeface="Nimbus Sans"/>
              </a:rPr>
              <a:t>focused engineering</a:t>
            </a:r>
          </a:p>
          <a:p>
            <a:pPr algn="l">
              <a:lnSpc>
                <a:spcPct val="95000"/>
              </a:lnSpc>
              <a:buNone/>
              <a:defRPr sz="2250" b="1" i="0">
                <a:solidFill>
                  <a:srgbClr val="16384B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 i="0">
                <a:solidFill>
                  <a:srgbClr val="16384B"/>
                </a:solidFill>
                <a:latin typeface="Nimbus Sans"/>
                <a:ea typeface="Nimbus Sans"/>
                <a:cs typeface="Nimbus Sans"/>
              </a:rPr>
              <a:t>working days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90B04D-B2C8-49EB-BA87-6CB78A911E46}"/>
              </a:ext>
            </a:extLst>
          </p:cNvPr>
          <p:cNvSpPr>
            <a:spLocks noGrp="1"/>
          </p:cNvSpPr>
          <p:nvPr/>
        </p:nvSpPr>
        <p:spPr>
          <a:xfrm>
            <a:off x="762000" y="3876675"/>
            <a:ext cx="3476625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rPr>
              <a:t>The sessions are limited to the internal engineering owners and end each day with a usable artifact.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CB14A8-E27C-45C4-92FE-814251B1C9D1}"/>
              </a:ext>
            </a:extLst>
          </p:cNvPr>
          <p:cNvSpPr>
            <a:spLocks noGrp="1"/>
          </p:cNvSpPr>
          <p:nvPr/>
        </p:nvSpPr>
        <p:spPr>
          <a:xfrm>
            <a:off x="4810125" y="1609725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125" b="1" i="0">
                <a:solidFill>
                  <a:srgbClr val="0E6B78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0E6B78"/>
                </a:solidFill>
                <a:latin typeface="Nimbus Sans"/>
                <a:ea typeface="Nimbus Sans"/>
                <a:cs typeface="Nimbus Sans"/>
              </a:rPr>
              <a:t>EXPECTED OUTCOMES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158A67E-4887-4AD4-9F15-53B126096766}"/>
              </a:ext>
            </a:extLst>
          </p:cNvPr>
          <p:cNvSpPr>
            <a:spLocks noGrp="1"/>
          </p:cNvSpPr>
          <p:nvPr/>
        </p:nvSpPr>
        <p:spPr>
          <a:xfrm>
            <a:off x="4810125" y="2085975"/>
            <a:ext cx="66675" cy="666750"/>
          </a:xfrm>
          <a:prstGeom prst="rect">
            <a:avLst/>
          </a:prstGeom>
          <a:solidFill>
            <a:srgbClr val="D71920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02303E-6EFD-4BED-A950-991D4AEEDCE0}"/>
              </a:ext>
            </a:extLst>
          </p:cNvPr>
          <p:cNvSpPr>
            <a:spLocks noGrp="1"/>
          </p:cNvSpPr>
          <p:nvPr/>
        </p:nvSpPr>
        <p:spPr>
          <a:xfrm>
            <a:off x="5067300" y="2047875"/>
            <a:ext cx="571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800" b="1" i="0">
                <a:solidFill>
                  <a:srgbClr val="20282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 i="0">
                <a:solidFill>
                  <a:srgbClr val="20282E"/>
                </a:solidFill>
                <a:latin typeface="Nimbus Sans"/>
                <a:ea typeface="Nimbus Sans"/>
                <a:cs typeface="Nimbus Sans"/>
              </a:rPr>
              <a:t>QA automation baseline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66A9E0-B06D-474A-A3E2-B720C47FBF25}"/>
              </a:ext>
            </a:extLst>
          </p:cNvPr>
          <p:cNvSpPr>
            <a:spLocks noGrp="1"/>
          </p:cNvSpPr>
          <p:nvPr/>
        </p:nvSpPr>
        <p:spPr>
          <a:xfrm>
            <a:off x="5067300" y="2390775"/>
            <a:ext cx="595312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50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rPr>
              <a:t>Runnable Playwright web tests, evidence output and a mobile automation decision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81FFD2E-0603-4A7E-A615-A87744D78CEF}"/>
              </a:ext>
            </a:extLst>
          </p:cNvPr>
          <p:cNvSpPr>
            <a:spLocks noGrp="1"/>
          </p:cNvSpPr>
          <p:nvPr/>
        </p:nvSpPr>
        <p:spPr>
          <a:xfrm>
            <a:off x="4810125" y="3152775"/>
            <a:ext cx="66675" cy="666750"/>
          </a:xfrm>
          <a:prstGeom prst="rect">
            <a:avLst/>
          </a:prstGeom>
          <a:solidFill>
            <a:srgbClr val="E9A923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90F2F5-4909-493C-9AFA-28497C55D1B2}"/>
              </a:ext>
            </a:extLst>
          </p:cNvPr>
          <p:cNvSpPr>
            <a:spLocks noGrp="1"/>
          </p:cNvSpPr>
          <p:nvPr/>
        </p:nvSpPr>
        <p:spPr>
          <a:xfrm>
            <a:off x="5067300" y="3114675"/>
            <a:ext cx="571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800" b="1" i="0">
                <a:solidFill>
                  <a:srgbClr val="20282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 i="0">
                <a:solidFill>
                  <a:srgbClr val="20282E"/>
                </a:solidFill>
                <a:latin typeface="Nimbus Sans"/>
                <a:ea typeface="Nimbus Sans"/>
                <a:cs typeface="Nimbus Sans"/>
              </a:rPr>
              <a:t>RDP selective rollout design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BA2E27D-0537-4667-B6CD-7E4419891433}"/>
              </a:ext>
            </a:extLst>
          </p:cNvPr>
          <p:cNvSpPr>
            <a:spLocks noGrp="1"/>
          </p:cNvSpPr>
          <p:nvPr/>
        </p:nvSpPr>
        <p:spPr>
          <a:xfrm>
            <a:off x="5067300" y="3457575"/>
            <a:ext cx="595312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50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rPr>
              <a:t>Version, deployment, configuration, migration and rollback controls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ACD67C3-C55B-4270-AD55-689AF7B60EE4}"/>
              </a:ext>
            </a:extLst>
          </p:cNvPr>
          <p:cNvSpPr>
            <a:spLocks noGrp="1"/>
          </p:cNvSpPr>
          <p:nvPr/>
        </p:nvSpPr>
        <p:spPr>
          <a:xfrm>
            <a:off x="4810125" y="4219575"/>
            <a:ext cx="66675" cy="666750"/>
          </a:xfrm>
          <a:prstGeom prst="rect">
            <a:avLst/>
          </a:prstGeom>
          <a:solidFill>
            <a:srgbClr val="D71920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7FB263D-0D7E-4447-B676-265D9A5DE2FC}"/>
              </a:ext>
            </a:extLst>
          </p:cNvPr>
          <p:cNvSpPr>
            <a:spLocks noGrp="1"/>
          </p:cNvSpPr>
          <p:nvPr/>
        </p:nvSpPr>
        <p:spPr>
          <a:xfrm>
            <a:off x="5067300" y="4181475"/>
            <a:ext cx="571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800" b="1" i="0">
                <a:solidFill>
                  <a:srgbClr val="20282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 i="0">
                <a:solidFill>
                  <a:srgbClr val="20282E"/>
                </a:solidFill>
                <a:latin typeface="Nimbus Sans"/>
                <a:ea typeface="Nimbus Sans"/>
                <a:cs typeface="Nimbus Sans"/>
              </a:rPr>
              <a:t>Engineering AI governance draft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DA5C918-0E45-423E-8318-67CF279F9181}"/>
              </a:ext>
            </a:extLst>
          </p:cNvPr>
          <p:cNvSpPr>
            <a:spLocks noGrp="1"/>
          </p:cNvSpPr>
          <p:nvPr/>
        </p:nvSpPr>
        <p:spPr>
          <a:xfrm>
            <a:off x="5067300" y="4524375"/>
            <a:ext cx="595312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50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rPr>
              <a:t>A review-ready control model and a low-risk Jira reporting pilot charter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1D2E09B-E685-4CC3-8E45-68C765CC1F69}"/>
              </a:ext>
            </a:extLst>
          </p:cNvPr>
          <p:cNvSpPr>
            <a:spLocks noGrp="1"/>
          </p:cNvSpPr>
          <p:nvPr/>
        </p:nvSpPr>
        <p:spPr>
          <a:xfrm>
            <a:off x="762000" y="5429250"/>
            <a:ext cx="10287000" cy="628650"/>
          </a:xfrm>
          <a:prstGeom prst="roundRect">
            <a:avLst>
              <a:gd name="adj" fmla="val 15152"/>
            </a:avLst>
          </a:prstGeom>
          <a:solidFill>
            <a:srgbClr val="FFF6DE"/>
          </a:solidFill>
          <a:ln w="9525">
            <a:solidFill>
              <a:srgbClr val="E9A923"/>
            </a:solidFill>
            <a:prstDash val="solid"/>
          </a:ln>
        </p:spPr>
        <p:txBody>
          <a:bodyPr wrap="square" lIns="171450" tIns="114300" rIns="171450" bIns="11430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725" b="1" i="0">
                <a:solidFill>
                  <a:srgbClr val="16384B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 i="0" dirty="0">
                <a:solidFill>
                  <a:srgbClr val="16384B"/>
                </a:solidFill>
                <a:latin typeface="Nimbus Sans"/>
                <a:ea typeface="Nimbus Sans"/>
                <a:cs typeface="Nimbus Sans"/>
              </a:rPr>
              <a:t>Approval requested: </a:t>
            </a:r>
            <a:r>
              <a:rPr lang="en-SG" sz="1725" b="1" i="0" dirty="0">
                <a:solidFill>
                  <a:srgbClr val="16384B"/>
                </a:solidFill>
                <a:latin typeface="Nimbus Sans"/>
                <a:ea typeface="Nimbus Sans"/>
                <a:cs typeface="Nimbus Sans"/>
              </a:rPr>
              <a:t>Participation of Dom and Vimukthi along side with 3 internal resource  </a:t>
            </a:r>
            <a:r>
              <a:rPr lang="en-SG" sz="1725" b="1" i="0" dirty="0" err="1">
                <a:solidFill>
                  <a:srgbClr val="16384B"/>
                </a:solidFill>
                <a:latin typeface="Nimbus Sans"/>
                <a:ea typeface="Nimbus Sans"/>
                <a:cs typeface="Nimbus Sans"/>
              </a:rPr>
              <a:t>trung</a:t>
            </a:r>
            <a:r>
              <a:rPr lang="en-SG" sz="1725" b="1" i="0" dirty="0">
                <a:solidFill>
                  <a:srgbClr val="16384B"/>
                </a:solidFill>
                <a:latin typeface="Nimbus Sans"/>
                <a:ea typeface="Nimbus Sans"/>
                <a:cs typeface="Nimbus Sans"/>
              </a:rPr>
              <a:t> . Honag and Dahlia</a:t>
            </a:r>
            <a:endParaRPr sz="1725" b="1" i="0" dirty="0">
              <a:solidFill>
                <a:srgbClr val="16384B"/>
              </a:solidFill>
              <a:latin typeface="Nimbus Sans"/>
              <a:ea typeface="Nimbus Sans"/>
              <a:cs typeface="Nimbus Sans"/>
            </a:endParaRPr>
          </a:p>
        </p:txBody>
      </p:sp>
    </p:spTree>
    <p:extLst>
      <p:ext uri="{BB962C8B-B14F-4D97-AF65-F5344CB8AC3E}">
        <p14:creationId xmlns:p14="http://schemas.microsoft.com/office/powerpoint/2010/main" val="317316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ccent-3">
            <a:extLst>
              <a:ext uri="{FF2B5EF4-FFF2-40B4-BE49-F238E27FC236}">
                <a16:creationId xmlns:a16="http://schemas.microsoft.com/office/drawing/2014/main" id="{902CDB81-E6BA-40CB-95B5-B4DF5A444BF0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76200" cy="514350"/>
          </a:xfrm>
          <a:prstGeom prst="rect">
            <a:avLst/>
          </a:prstGeom>
          <a:solidFill>
            <a:srgbClr val="D71920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" name="title-3">
            <a:extLst>
              <a:ext uri="{FF2B5EF4-FFF2-40B4-BE49-F238E27FC236}">
                <a16:creationId xmlns:a16="http://schemas.microsoft.com/office/drawing/2014/main" id="{FF489B55-F105-492D-AEAE-21F1381AAB16}"/>
              </a:ext>
            </a:extLst>
          </p:cNvPr>
          <p:cNvSpPr>
            <a:spLocks noGrp="1"/>
          </p:cNvSpPr>
          <p:nvPr/>
        </p:nvSpPr>
        <p:spPr>
          <a:xfrm>
            <a:off x="857250" y="400050"/>
            <a:ext cx="8667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3150" b="1" i="0">
                <a:solidFill>
                  <a:srgbClr val="20282E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 i="0">
                <a:solidFill>
                  <a:srgbClr val="20282E"/>
                </a:solidFill>
                <a:latin typeface="Nimbus Sans"/>
                <a:ea typeface="Nimbus Sans"/>
                <a:cs typeface="Nimbus Sans"/>
              </a:rPr>
              <a:t>How this differs from the 2025 workshop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B7E60B-A65A-4AF9-9D57-BC4D1875F524}"/>
              </a:ext>
            </a:extLst>
          </p:cNvPr>
          <p:cNvSpPr>
            <a:spLocks noGrp="1"/>
          </p:cNvSpPr>
          <p:nvPr/>
        </p:nvSpPr>
        <p:spPr>
          <a:xfrm>
            <a:off x="876300" y="962025"/>
            <a:ext cx="885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35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rPr>
              <a:t>The proposed format is narrower, hands-on and output based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386310" y="333375"/>
            <a:ext cx="1134880" cy="4381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5256886-9051-4514-9084-3E4BEA74818C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19050"/>
          </a:xfrm>
          <a:prstGeom prst="rect">
            <a:avLst/>
          </a:prstGeom>
          <a:solidFill>
            <a:srgbClr val="D7DDE1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3ADB24-F521-4A2A-AE38-4D2BEA7BAED7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181100" cy="38100"/>
          </a:xfrm>
          <a:prstGeom prst="rect">
            <a:avLst/>
          </a:prstGeom>
          <a:solidFill>
            <a:srgbClr val="D71920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36E57C-A73E-4FF6-8C63-4D16BEA68A34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10972800" cy="9525"/>
          </a:xfrm>
          <a:prstGeom prst="rect">
            <a:avLst/>
          </a:prstGeom>
          <a:solidFill>
            <a:srgbClr val="D7DDE1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21D22E-30F7-4ED8-815A-4011227827BE}"/>
              </a:ext>
            </a:extLst>
          </p:cNvPr>
          <p:cNvSpPr>
            <a:spLocks noGrp="1"/>
          </p:cNvSpPr>
          <p:nvPr/>
        </p:nvSpPr>
        <p:spPr>
          <a:xfrm>
            <a:off x="609600" y="6562725"/>
            <a:ext cx="3143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825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defRPr>
            </a:pPr>
            <a:r>
              <a:rPr sz="825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rPr>
              <a:t>CONFIDENTIAL &amp; PROPRIETARY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B3B61F-51F3-4ED9-8032-77EA71DC2E3C}"/>
              </a:ext>
            </a:extLst>
          </p:cNvPr>
          <p:cNvSpPr>
            <a:spLocks noGrp="1"/>
          </p:cNvSpPr>
          <p:nvPr/>
        </p:nvSpPr>
        <p:spPr>
          <a:xfrm>
            <a:off x="11144250" y="6553200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90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defRPr>
            </a:pPr>
            <a:r>
              <a:rPr sz="90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rPr>
              <a:t>03</a:t>
            </a:r>
          </a:p>
        </p:txBody>
      </p:sp>
      <p:graphicFrame>
        <p:nvGraphicFramePr>
          <p:cNvPr id="20" name="Table 19"/>
          <p:cNvGraphicFramePr/>
          <p:nvPr>
            <p:extLst>
              <p:ext uri="{D42A27DB-BD31-4B8C-83A1-F6EECF244321}">
                <p14:modId xmlns:p14="http://schemas.microsoft.com/office/powerpoint/2010/main" val="2982840112"/>
              </p:ext>
            </p:extLst>
          </p:nvPr>
        </p:nvGraphicFramePr>
        <p:xfrm>
          <a:off x="609600" y="1638300"/>
          <a:ext cx="10972800" cy="4179570"/>
        </p:xfrm>
        <a:graphic>
          <a:graphicData uri="http://schemas.openxmlformats.org/drawingml/2006/table">
            <a:tbl>
              <a:tblPr/>
              <a:tblGrid>
                <a:gridCol w="11633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15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266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26654">
                  <a:extLst>
                    <a:ext uri="{9D8B030D-6E8A-4147-A177-3AD203B41FA5}">
                      <a16:colId xmlns:a16="http://schemas.microsoft.com/office/drawing/2014/main" val="288005057"/>
                    </a:ext>
                  </a:extLst>
                </a:gridCol>
                <a:gridCol w="29646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6384B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Dimension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6384B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2025 workshop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50" b="1" dirty="0">
                          <a:solidFill>
                            <a:srgbClr val="16384B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2026 engineering track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350" b="1" dirty="0">
                          <a:solidFill>
                            <a:srgbClr val="16384B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2026 BA track</a:t>
                      </a:r>
                    </a:p>
                    <a:p>
                      <a:endParaRPr sz="1350" b="1" dirty="0">
                        <a:solidFill>
                          <a:srgbClr val="16384B"/>
                        </a:solidFill>
                        <a:latin typeface="Nimbus Sans"/>
                        <a:ea typeface="Nimbus Sans"/>
                        <a:cs typeface="Nimbus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6384B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Reason for the change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533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Broad platform review across RDP, Benefits, CMS, integrations and roadmap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Three technical outcomes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275" b="0" dirty="0" err="1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Traning</a:t>
                      </a:r>
                      <a:r>
                        <a:rPr lang="en-SG" sz="1275" b="0" dirty="0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 of </a:t>
                      </a:r>
                      <a:r>
                        <a:rPr lang="en-SG" sz="1275" b="0" dirty="0" err="1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Dahliya</a:t>
                      </a:r>
                      <a:r>
                        <a:rPr lang="en-SG" sz="1275" b="0" dirty="0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 , Knows every impact areas across platform , RDP</a:t>
                      </a:r>
                      <a:endParaRPr sz="1275" b="0" dirty="0">
                        <a:solidFill>
                          <a:srgbClr val="20282E"/>
                        </a:solidFill>
                        <a:latin typeface="Nimbus Sans"/>
                        <a:ea typeface="Nimbus Sans"/>
                        <a:cs typeface="Nimbus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Protect delivery time and close decisions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533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Participants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Larger Aspire and CMC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Vimukthi, Trung and Hoang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275" b="0" dirty="0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Dom and </a:t>
                      </a:r>
                      <a:r>
                        <a:rPr lang="en-SG" sz="1275" b="0" dirty="0" err="1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Dahliya</a:t>
                      </a:r>
                      <a:endParaRPr sz="1275" b="0" dirty="0">
                        <a:solidFill>
                          <a:srgbClr val="20282E"/>
                        </a:solidFill>
                        <a:latin typeface="Nimbus Sans"/>
                        <a:ea typeface="Nimbus Sans"/>
                        <a:cs typeface="Nimbus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Use the smallest group that owns the code paths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533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Demos, reviews and roadmap discussion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Pairing, configuration and architecture working sessions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275" b="0" dirty="0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Training sessions</a:t>
                      </a:r>
                      <a:endParaRPr sz="1275" b="0" dirty="0">
                        <a:solidFill>
                          <a:srgbClr val="20282E"/>
                        </a:solidFill>
                        <a:latin typeface="Nimbus Sans"/>
                        <a:ea typeface="Nimbus Sans"/>
                        <a:cs typeface="Nimbus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Leave with working artifacts rather than meeting 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533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Outputs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Action items across many workstreams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Automation baseline, rollout design and AI governance draft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275" b="0" dirty="0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Reverse KT documents</a:t>
                      </a:r>
                      <a:endParaRPr sz="1275" b="0" dirty="0">
                        <a:solidFill>
                          <a:srgbClr val="20282E"/>
                        </a:solidFill>
                        <a:latin typeface="Nimbus Sans"/>
                        <a:ea typeface="Nimbus Sans"/>
                        <a:cs typeface="Nimbus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Give each day a clear completion 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5330">
                <a:tc>
                  <a:txBody>
                    <a:bodyPr/>
                    <a:lstStyle/>
                    <a:p>
                      <a:r>
                        <a:rPr sz="1275" b="1" dirty="0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BA</a:t>
                      </a:r>
                      <a:r>
                        <a:rPr lang="en-SG" sz="1275" b="1" dirty="0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/Eng</a:t>
                      </a:r>
                      <a:r>
                        <a:rPr sz="1275" b="1" dirty="0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 relationship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Business and technical topics mixed across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 b="0" dirty="0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Dominique and Dahlia keep a separate </a:t>
                      </a:r>
                      <a:r>
                        <a:rPr lang="en-SG" sz="1275" b="0" dirty="0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</a:t>
                      </a:r>
                      <a:r>
                        <a:rPr sz="1275" b="0" dirty="0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-day BA schedule</a:t>
                      </a:r>
                      <a:r>
                        <a:rPr lang="en-SG" sz="1275" b="0" dirty="0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, 1 Day combined schedule</a:t>
                      </a:r>
                      <a:endParaRPr sz="1275" b="0" dirty="0">
                        <a:solidFill>
                          <a:srgbClr val="20282E"/>
                        </a:solidFill>
                        <a:latin typeface="Nimbus Sans"/>
                        <a:ea typeface="Nimbus Sans"/>
                        <a:cs typeface="Nimbus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275" b="0" dirty="0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Eng Relation ship – Combine day to sort out the dependent items</a:t>
                      </a:r>
                      <a:endParaRPr sz="1275" b="0" dirty="0">
                        <a:solidFill>
                          <a:srgbClr val="20282E"/>
                        </a:solidFill>
                        <a:latin typeface="Nimbus Sans"/>
                        <a:ea typeface="Nimbus Sans"/>
                        <a:cs typeface="Nimbus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 b="0" dirty="0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Avoid duplicated sessions. Align only on shared dependencies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6185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accent-4">
            <a:extLst>
              <a:ext uri="{FF2B5EF4-FFF2-40B4-BE49-F238E27FC236}">
                <a16:creationId xmlns:a16="http://schemas.microsoft.com/office/drawing/2014/main" id="{817F4725-F01F-460D-AAF4-55D304C432D2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76200" cy="514350"/>
          </a:xfrm>
          <a:prstGeom prst="rect">
            <a:avLst/>
          </a:prstGeom>
          <a:solidFill>
            <a:srgbClr val="D71920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" name="title-4">
            <a:extLst>
              <a:ext uri="{FF2B5EF4-FFF2-40B4-BE49-F238E27FC236}">
                <a16:creationId xmlns:a16="http://schemas.microsoft.com/office/drawing/2014/main" id="{3FBCFBB2-094B-458F-A4F9-04C77C531166}"/>
              </a:ext>
            </a:extLst>
          </p:cNvPr>
          <p:cNvSpPr>
            <a:spLocks noGrp="1"/>
          </p:cNvSpPr>
          <p:nvPr/>
        </p:nvSpPr>
        <p:spPr>
          <a:xfrm>
            <a:off x="857250" y="400050"/>
            <a:ext cx="8667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3150" b="1" i="0">
                <a:solidFill>
                  <a:srgbClr val="20282E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 i="0">
                <a:solidFill>
                  <a:srgbClr val="20282E"/>
                </a:solidFill>
                <a:latin typeface="Nimbus Sans"/>
                <a:ea typeface="Nimbus Sans"/>
                <a:cs typeface="Nimbus Sans"/>
              </a:rPr>
              <a:t>Participants and scope boundary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9EC63C-1D42-4CD9-8520-AB5E42151596}"/>
              </a:ext>
            </a:extLst>
          </p:cNvPr>
          <p:cNvSpPr>
            <a:spLocks noGrp="1"/>
          </p:cNvSpPr>
          <p:nvPr/>
        </p:nvSpPr>
        <p:spPr>
          <a:xfrm>
            <a:off x="876300" y="962025"/>
            <a:ext cx="885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35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rPr>
              <a:t>Two parallel tracks share only the dependencies that need joint decisions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386310" y="333375"/>
            <a:ext cx="1134880" cy="4381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657D48C-14C8-491A-8B44-5540B3525996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19050"/>
          </a:xfrm>
          <a:prstGeom prst="rect">
            <a:avLst/>
          </a:prstGeom>
          <a:solidFill>
            <a:srgbClr val="D7DDE1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EB20D4-14D3-436B-B6EA-3B4AFA49FCC8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181100" cy="38100"/>
          </a:xfrm>
          <a:prstGeom prst="rect">
            <a:avLst/>
          </a:prstGeom>
          <a:solidFill>
            <a:srgbClr val="D71920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BE2630-82C8-42FB-B8B7-720F78B5C349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10972800" cy="9525"/>
          </a:xfrm>
          <a:prstGeom prst="rect">
            <a:avLst/>
          </a:prstGeom>
          <a:solidFill>
            <a:srgbClr val="D7DDE1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FC598D-238A-4E6E-8E1F-2513F78406AB}"/>
              </a:ext>
            </a:extLst>
          </p:cNvPr>
          <p:cNvSpPr>
            <a:spLocks noGrp="1"/>
          </p:cNvSpPr>
          <p:nvPr/>
        </p:nvSpPr>
        <p:spPr>
          <a:xfrm>
            <a:off x="609600" y="6562725"/>
            <a:ext cx="3143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825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defRPr>
            </a:pPr>
            <a:r>
              <a:rPr sz="825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rPr>
              <a:t>CONFIDENTIAL &amp; PROPRIETARY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AE1DCA-5C3C-4E52-91F3-EB44AF3FC5FF}"/>
              </a:ext>
            </a:extLst>
          </p:cNvPr>
          <p:cNvSpPr>
            <a:spLocks noGrp="1"/>
          </p:cNvSpPr>
          <p:nvPr/>
        </p:nvSpPr>
        <p:spPr>
          <a:xfrm>
            <a:off x="11144250" y="6553200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90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defRPr>
            </a:pPr>
            <a:r>
              <a:rPr sz="90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rPr>
              <a:t>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6660A1-EE89-4B32-9CE9-8935C26F93AB}"/>
              </a:ext>
            </a:extLst>
          </p:cNvPr>
          <p:cNvSpPr>
            <a:spLocks noGrp="1"/>
          </p:cNvSpPr>
          <p:nvPr/>
        </p:nvSpPr>
        <p:spPr>
          <a:xfrm>
            <a:off x="762000" y="16573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125" b="1" i="0">
                <a:solidFill>
                  <a:srgbClr val="D71920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D71920"/>
                </a:solidFill>
                <a:latin typeface="Nimbus Sans"/>
                <a:ea typeface="Nimbus Sans"/>
                <a:cs typeface="Nimbus Sans"/>
              </a:rPr>
              <a:t>ENGINEERING WORKING TRACK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1C444CC-4039-4B53-9579-6AB7030B7197}"/>
              </a:ext>
            </a:extLst>
          </p:cNvPr>
          <p:cNvSpPr>
            <a:spLocks noGrp="1"/>
          </p:cNvSpPr>
          <p:nvPr/>
        </p:nvSpPr>
        <p:spPr>
          <a:xfrm>
            <a:off x="762000" y="1981200"/>
            <a:ext cx="10668000" cy="1676400"/>
          </a:xfrm>
          <a:prstGeom prst="roundRect">
            <a:avLst>
              <a:gd name="adj" fmla="val 6818"/>
            </a:avLst>
          </a:prstGeom>
          <a:solidFill>
            <a:srgbClr val="EAF3F5"/>
          </a:solidFill>
          <a:ln w="9525">
            <a:solidFill>
              <a:srgbClr val="0E6B7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3AA95F-7798-4A8E-9156-5BAA44278381}"/>
              </a:ext>
            </a:extLst>
          </p:cNvPr>
          <p:cNvSpPr>
            <a:spLocks noGrp="1"/>
          </p:cNvSpPr>
          <p:nvPr/>
        </p:nvSpPr>
        <p:spPr>
          <a:xfrm>
            <a:off x="1066800" y="22098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950" b="1" i="0">
                <a:solidFill>
                  <a:srgbClr val="16384B"/>
                </a:solidFill>
                <a:latin typeface="Nimbus Sans"/>
                <a:ea typeface="Nimbus Sans"/>
                <a:cs typeface="Nimbus Sans"/>
              </a:defRPr>
            </a:pPr>
            <a:r>
              <a:rPr sz="1950" b="1" i="0">
                <a:solidFill>
                  <a:srgbClr val="16384B"/>
                </a:solidFill>
                <a:latin typeface="Nimbus Sans"/>
                <a:ea typeface="Nimbus Sans"/>
                <a:cs typeface="Nimbus Sans"/>
              </a:rPr>
              <a:t>Vimukthi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6D89C7-122E-48AF-BC59-501A3F33FC83}"/>
              </a:ext>
            </a:extLst>
          </p:cNvPr>
          <p:cNvSpPr>
            <a:spLocks noGrp="1"/>
          </p:cNvSpPr>
          <p:nvPr/>
        </p:nvSpPr>
        <p:spPr>
          <a:xfrm>
            <a:off x="1066800" y="260985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0E6B78"/>
                </a:solidFill>
                <a:latin typeface="Nimbus Sans"/>
                <a:ea typeface="Nimbus Sans"/>
                <a:cs typeface="Nimbus Sans"/>
              </a:defRPr>
            </a:pPr>
            <a:r>
              <a:rPr lang="en-SG" sz="1275" b="1" dirty="0">
                <a:solidFill>
                  <a:srgbClr val="0E6B78"/>
                </a:solidFill>
                <a:latin typeface="Nimbus Sans"/>
                <a:ea typeface="Nimbus Sans"/>
                <a:cs typeface="Nimbus Sans"/>
              </a:rPr>
              <a:t>Work shop Engineering</a:t>
            </a:r>
            <a:r>
              <a:rPr sz="1275" b="1" i="0" dirty="0">
                <a:solidFill>
                  <a:srgbClr val="0E6B78"/>
                </a:solidFill>
                <a:latin typeface="Nimbus Sans"/>
                <a:ea typeface="Nimbus Sans"/>
                <a:cs typeface="Nimbus Sans"/>
              </a:rPr>
              <a:t> owner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B544FE-93FE-4608-99CB-7F7FB6185750}"/>
              </a:ext>
            </a:extLst>
          </p:cNvPr>
          <p:cNvSpPr>
            <a:spLocks noGrp="1"/>
          </p:cNvSpPr>
          <p:nvPr/>
        </p:nvSpPr>
        <p:spPr>
          <a:xfrm>
            <a:off x="1066800" y="2943225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3000"/>
              </a:lnSpc>
              <a:buNone/>
              <a:defRPr sz="135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rPr>
              <a:t>Architecture decisions, AI governance draft and closure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FB2D5D-20E4-47C8-9555-CE32600DC651}"/>
              </a:ext>
            </a:extLst>
          </p:cNvPr>
          <p:cNvSpPr>
            <a:spLocks noGrp="1"/>
          </p:cNvSpPr>
          <p:nvPr/>
        </p:nvSpPr>
        <p:spPr>
          <a:xfrm>
            <a:off x="4286250" y="2209800"/>
            <a:ext cx="9525" cy="1219200"/>
          </a:xfrm>
          <a:prstGeom prst="rect">
            <a:avLst/>
          </a:prstGeom>
          <a:solidFill>
            <a:srgbClr val="D7DDE1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AA52AC3-A7E6-4FBC-BF0C-66B735D8D811}"/>
              </a:ext>
            </a:extLst>
          </p:cNvPr>
          <p:cNvSpPr>
            <a:spLocks noGrp="1"/>
          </p:cNvSpPr>
          <p:nvPr/>
        </p:nvSpPr>
        <p:spPr>
          <a:xfrm>
            <a:off x="4495800" y="22098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950" b="1" i="0">
                <a:solidFill>
                  <a:srgbClr val="16384B"/>
                </a:solidFill>
                <a:latin typeface="Nimbus Sans"/>
                <a:ea typeface="Nimbus Sans"/>
                <a:cs typeface="Nimbus Sans"/>
              </a:defRPr>
            </a:pPr>
            <a:r>
              <a:rPr sz="1950" b="1" i="0">
                <a:solidFill>
                  <a:srgbClr val="16384B"/>
                </a:solidFill>
                <a:latin typeface="Nimbus Sans"/>
                <a:ea typeface="Nimbus Sans"/>
                <a:cs typeface="Nimbus Sans"/>
              </a:rPr>
              <a:t>Trung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D4FBC67-9106-4C9C-BD6E-C2BC010D52DF}"/>
              </a:ext>
            </a:extLst>
          </p:cNvPr>
          <p:cNvSpPr>
            <a:spLocks noGrp="1"/>
          </p:cNvSpPr>
          <p:nvPr/>
        </p:nvSpPr>
        <p:spPr>
          <a:xfrm>
            <a:off x="4495800" y="260985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0E6B78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0E6B78"/>
                </a:solidFill>
                <a:latin typeface="Nimbus Sans"/>
                <a:ea typeface="Nimbus Sans"/>
                <a:cs typeface="Nimbus Sans"/>
              </a:rPr>
              <a:t>Full-stack owner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2329EA-5308-43CA-9EB3-233C6ADF3E07}"/>
              </a:ext>
            </a:extLst>
          </p:cNvPr>
          <p:cNvSpPr>
            <a:spLocks noGrp="1"/>
          </p:cNvSpPr>
          <p:nvPr/>
        </p:nvSpPr>
        <p:spPr>
          <a:xfrm>
            <a:off x="4495800" y="2943225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3000"/>
              </a:lnSpc>
              <a:buNone/>
              <a:defRPr sz="135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rPr>
              <a:t>RDP selective rollout design and pilot implementation details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EC52B4-767F-4789-9D63-96B953BC452A}"/>
              </a:ext>
            </a:extLst>
          </p:cNvPr>
          <p:cNvSpPr>
            <a:spLocks noGrp="1"/>
          </p:cNvSpPr>
          <p:nvPr/>
        </p:nvSpPr>
        <p:spPr>
          <a:xfrm>
            <a:off x="7715250" y="2209800"/>
            <a:ext cx="9525" cy="1219200"/>
          </a:xfrm>
          <a:prstGeom prst="rect">
            <a:avLst/>
          </a:prstGeom>
          <a:solidFill>
            <a:srgbClr val="D7DDE1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C6FFE1C-2B53-43F7-B392-D79A05B65BB3}"/>
              </a:ext>
            </a:extLst>
          </p:cNvPr>
          <p:cNvSpPr>
            <a:spLocks noGrp="1"/>
          </p:cNvSpPr>
          <p:nvPr/>
        </p:nvSpPr>
        <p:spPr>
          <a:xfrm>
            <a:off x="7924800" y="22098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950" b="1" i="0">
                <a:solidFill>
                  <a:srgbClr val="16384B"/>
                </a:solidFill>
                <a:latin typeface="Nimbus Sans"/>
                <a:ea typeface="Nimbus Sans"/>
                <a:cs typeface="Nimbus Sans"/>
              </a:defRPr>
            </a:pPr>
            <a:r>
              <a:rPr sz="1950" b="1" i="0">
                <a:solidFill>
                  <a:srgbClr val="16384B"/>
                </a:solidFill>
                <a:latin typeface="Nimbus Sans"/>
                <a:ea typeface="Nimbus Sans"/>
                <a:cs typeface="Nimbus Sans"/>
              </a:rPr>
              <a:t>Hoang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E50A1E3-1F30-4768-8AD4-F0F7C31B06E7}"/>
              </a:ext>
            </a:extLst>
          </p:cNvPr>
          <p:cNvSpPr>
            <a:spLocks noGrp="1"/>
          </p:cNvSpPr>
          <p:nvPr/>
        </p:nvSpPr>
        <p:spPr>
          <a:xfrm>
            <a:off x="7924800" y="260985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0E6B78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0E6B78"/>
                </a:solidFill>
                <a:latin typeface="Nimbus Sans"/>
                <a:ea typeface="Nimbus Sans"/>
                <a:cs typeface="Nimbus Sans"/>
              </a:rPr>
              <a:t>Mobile / engineering owner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F759212-D18E-4568-AD6B-E66066E5D7DC}"/>
              </a:ext>
            </a:extLst>
          </p:cNvPr>
          <p:cNvSpPr>
            <a:spLocks noGrp="1"/>
          </p:cNvSpPr>
          <p:nvPr/>
        </p:nvSpPr>
        <p:spPr>
          <a:xfrm>
            <a:off x="7924800" y="2943225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3000"/>
              </a:lnSpc>
              <a:buNone/>
              <a:defRPr sz="135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rPr>
              <a:t>QA automation baseline and mobile tool-fit decision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957C179-9AF2-4512-80A8-F8E04117113A}"/>
              </a:ext>
            </a:extLst>
          </p:cNvPr>
          <p:cNvSpPr>
            <a:spLocks noGrp="1"/>
          </p:cNvSpPr>
          <p:nvPr/>
        </p:nvSpPr>
        <p:spPr>
          <a:xfrm>
            <a:off x="762000" y="4048125"/>
            <a:ext cx="3333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125" b="1" i="0">
                <a:solidFill>
                  <a:srgbClr val="5E6870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5E6870"/>
                </a:solidFill>
                <a:latin typeface="Nimbus Sans"/>
                <a:ea typeface="Nimbus Sans"/>
                <a:cs typeface="Nimbus Sans"/>
              </a:rPr>
              <a:t>SEPARATE BA PROGRAMME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489BE41-FB3E-4E02-8BFF-51EDD64C6387}"/>
              </a:ext>
            </a:extLst>
          </p:cNvPr>
          <p:cNvSpPr>
            <a:spLocks noGrp="1"/>
          </p:cNvSpPr>
          <p:nvPr/>
        </p:nvSpPr>
        <p:spPr>
          <a:xfrm>
            <a:off x="762000" y="4371975"/>
            <a:ext cx="10668000" cy="1114425"/>
          </a:xfrm>
          <a:prstGeom prst="roundRect">
            <a:avLst>
              <a:gd name="adj" fmla="val 10256"/>
            </a:avLst>
          </a:prstGeom>
          <a:solidFill>
            <a:srgbClr val="F4F6F7"/>
          </a:solidFill>
          <a:ln w="9525">
            <a:solidFill>
              <a:srgbClr val="D7DDE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4C7046B-3215-4C47-AFB0-9858C1F8F0F1}"/>
              </a:ext>
            </a:extLst>
          </p:cNvPr>
          <p:cNvSpPr>
            <a:spLocks noGrp="1"/>
          </p:cNvSpPr>
          <p:nvPr/>
        </p:nvSpPr>
        <p:spPr>
          <a:xfrm>
            <a:off x="1047750" y="4572000"/>
            <a:ext cx="3989832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875" b="1" i="0">
                <a:solidFill>
                  <a:srgbClr val="20282E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 i="0" dirty="0">
                <a:solidFill>
                  <a:srgbClr val="20282E"/>
                </a:solidFill>
                <a:latin typeface="Nimbus Sans"/>
                <a:ea typeface="Nimbus Sans"/>
                <a:cs typeface="Nimbus Sans"/>
              </a:rPr>
              <a:t>Dominique</a:t>
            </a:r>
            <a:r>
              <a:rPr lang="en-SG" sz="1875" b="1" i="0" dirty="0">
                <a:solidFill>
                  <a:srgbClr val="20282E"/>
                </a:solidFill>
                <a:latin typeface="Nimbus Sans"/>
                <a:ea typeface="Nimbus Sans"/>
                <a:cs typeface="Nimbus Sans"/>
              </a:rPr>
              <a:t> (Workshop business owner )</a:t>
            </a:r>
            <a:r>
              <a:rPr sz="1875" b="1" i="0" dirty="0">
                <a:solidFill>
                  <a:srgbClr val="20282E"/>
                </a:solidFill>
                <a:latin typeface="Nimbus Sans"/>
                <a:ea typeface="Nimbus Sans"/>
                <a:cs typeface="Nimbus Sans"/>
              </a:rPr>
              <a:t> + Dahlia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07629BD-EB3C-459C-972A-607ABC06AEBC}"/>
              </a:ext>
            </a:extLst>
          </p:cNvPr>
          <p:cNvSpPr>
            <a:spLocks noGrp="1"/>
          </p:cNvSpPr>
          <p:nvPr/>
        </p:nvSpPr>
        <p:spPr>
          <a:xfrm>
            <a:off x="928688" y="5172075"/>
            <a:ext cx="46196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35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 dirty="0">
                <a:solidFill>
                  <a:srgbClr val="5E6870"/>
                </a:solidFill>
                <a:latin typeface="Nimbus Sans"/>
                <a:ea typeface="Nimbus Sans"/>
                <a:cs typeface="Nimbus Sans"/>
              </a:rPr>
              <a:t>Own the five-day BA schedule and business requirements sessions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A863CD-20D1-4646-9DE7-58AA9AA6B964}"/>
              </a:ext>
            </a:extLst>
          </p:cNvPr>
          <p:cNvSpPr>
            <a:spLocks noGrp="1"/>
          </p:cNvSpPr>
          <p:nvPr/>
        </p:nvSpPr>
        <p:spPr>
          <a:xfrm>
            <a:off x="6048375" y="4552950"/>
            <a:ext cx="19050" cy="742950"/>
          </a:xfrm>
          <a:prstGeom prst="rect">
            <a:avLst/>
          </a:prstGeom>
          <a:solidFill>
            <a:srgbClr val="E9A923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DD84488-2003-4CC7-AACA-78025FB3DF90}"/>
              </a:ext>
            </a:extLst>
          </p:cNvPr>
          <p:cNvSpPr>
            <a:spLocks noGrp="1"/>
          </p:cNvSpPr>
          <p:nvPr/>
        </p:nvSpPr>
        <p:spPr>
          <a:xfrm>
            <a:off x="6381750" y="45720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575" b="1" i="0">
                <a:solidFill>
                  <a:srgbClr val="D71920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 i="0">
                <a:solidFill>
                  <a:srgbClr val="D71920"/>
                </a:solidFill>
                <a:latin typeface="Nimbus Sans"/>
                <a:ea typeface="Nimbus Sans"/>
                <a:cs typeface="Nimbus Sans"/>
              </a:rPr>
              <a:t>Engineering interlock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A90F10F-46F5-4934-A3B9-7AE9085A7A7E}"/>
              </a:ext>
            </a:extLst>
          </p:cNvPr>
          <p:cNvSpPr>
            <a:spLocks noGrp="1"/>
          </p:cNvSpPr>
          <p:nvPr/>
        </p:nvSpPr>
        <p:spPr>
          <a:xfrm>
            <a:off x="6381750" y="4933950"/>
            <a:ext cx="45243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3000"/>
              </a:lnSpc>
              <a:buNone/>
              <a:defRPr sz="135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rPr>
              <a:t>One short Day 1 dependency checkpoint, plus final playback only if a BA decision affects the technical outputs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9CA8D23-4F97-4287-989D-C52112BD67CF}"/>
              </a:ext>
            </a:extLst>
          </p:cNvPr>
          <p:cNvSpPr>
            <a:spLocks noGrp="1"/>
          </p:cNvSpPr>
          <p:nvPr/>
        </p:nvSpPr>
        <p:spPr>
          <a:xfrm>
            <a:off x="762000" y="5800725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350" b="0" i="1">
                <a:solidFill>
                  <a:srgbClr val="5E6870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1">
                <a:solidFill>
                  <a:srgbClr val="5E6870"/>
                </a:solidFill>
                <a:latin typeface="Nimbus Sans"/>
                <a:ea typeface="Nimbus Sans"/>
                <a:cs typeface="Nimbus Sans"/>
              </a:rPr>
              <a:t>No broader workshop attendee group is planned for the core engineering sessions.</a:t>
            </a:r>
          </a:p>
        </p:txBody>
      </p:sp>
    </p:spTree>
    <p:extLst>
      <p:ext uri="{BB962C8B-B14F-4D97-AF65-F5344CB8AC3E}">
        <p14:creationId xmlns:p14="http://schemas.microsoft.com/office/powerpoint/2010/main" val="116342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ccent-5">
            <a:extLst>
              <a:ext uri="{FF2B5EF4-FFF2-40B4-BE49-F238E27FC236}">
                <a16:creationId xmlns:a16="http://schemas.microsoft.com/office/drawing/2014/main" id="{3D0A3EBD-CB11-4CD0-987E-9CE891ED47A8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76200" cy="514350"/>
          </a:xfrm>
          <a:prstGeom prst="rect">
            <a:avLst/>
          </a:prstGeom>
          <a:solidFill>
            <a:srgbClr val="D71920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" name="title-5">
            <a:extLst>
              <a:ext uri="{FF2B5EF4-FFF2-40B4-BE49-F238E27FC236}">
                <a16:creationId xmlns:a16="http://schemas.microsoft.com/office/drawing/2014/main" id="{989C9672-37D4-4415-BBFF-3DBFD9110A34}"/>
              </a:ext>
            </a:extLst>
          </p:cNvPr>
          <p:cNvSpPr>
            <a:spLocks noGrp="1"/>
          </p:cNvSpPr>
          <p:nvPr/>
        </p:nvSpPr>
        <p:spPr>
          <a:xfrm>
            <a:off x="857250" y="400050"/>
            <a:ext cx="8667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3150" b="1" i="0">
                <a:solidFill>
                  <a:srgbClr val="20282E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 i="0">
                <a:solidFill>
                  <a:srgbClr val="20282E"/>
                </a:solidFill>
                <a:latin typeface="Nimbus Sans"/>
                <a:ea typeface="Nimbus Sans"/>
                <a:cs typeface="Nimbus Sans"/>
              </a:rPr>
              <a:t>Three-day engineering plan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5B9AF8-00F3-4D1D-ADA4-CB16002C816E}"/>
              </a:ext>
            </a:extLst>
          </p:cNvPr>
          <p:cNvSpPr>
            <a:spLocks noGrp="1"/>
          </p:cNvSpPr>
          <p:nvPr/>
        </p:nvSpPr>
        <p:spPr>
          <a:xfrm>
            <a:off x="876300" y="962025"/>
            <a:ext cx="885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35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rPr>
              <a:t>Dates will align to the approved Vietnam itinerary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386310" y="333375"/>
            <a:ext cx="1134880" cy="4381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7D52247-042A-47C6-8EB7-99325B02B7A7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19050"/>
          </a:xfrm>
          <a:prstGeom prst="rect">
            <a:avLst/>
          </a:prstGeom>
          <a:solidFill>
            <a:srgbClr val="D7DDE1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9D7018-6CBB-46D4-88D8-AB35E36F9869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181100" cy="38100"/>
          </a:xfrm>
          <a:prstGeom prst="rect">
            <a:avLst/>
          </a:prstGeom>
          <a:solidFill>
            <a:srgbClr val="D71920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273CE6-1F14-4883-983A-8E6D455A068B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10972800" cy="9525"/>
          </a:xfrm>
          <a:prstGeom prst="rect">
            <a:avLst/>
          </a:prstGeom>
          <a:solidFill>
            <a:srgbClr val="D7DDE1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305F3D-D4BF-48ED-8D2B-2089A042050E}"/>
              </a:ext>
            </a:extLst>
          </p:cNvPr>
          <p:cNvSpPr>
            <a:spLocks noGrp="1"/>
          </p:cNvSpPr>
          <p:nvPr/>
        </p:nvSpPr>
        <p:spPr>
          <a:xfrm>
            <a:off x="609600" y="6562725"/>
            <a:ext cx="3143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825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defRPr>
            </a:pPr>
            <a:r>
              <a:rPr sz="825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rPr>
              <a:t>CONFIDENTIAL &amp; PROPRIETARY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B6E66C-D9EF-4743-BF81-872CAB158987}"/>
              </a:ext>
            </a:extLst>
          </p:cNvPr>
          <p:cNvSpPr>
            <a:spLocks noGrp="1"/>
          </p:cNvSpPr>
          <p:nvPr/>
        </p:nvSpPr>
        <p:spPr>
          <a:xfrm>
            <a:off x="11144250" y="6553200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90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defRPr>
            </a:pPr>
            <a:r>
              <a:rPr sz="90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rPr>
              <a:t>05</a:t>
            </a:r>
          </a:p>
        </p:txBody>
      </p:sp>
      <p:graphicFrame>
        <p:nvGraphicFramePr>
          <p:cNvPr id="21" name="Table 20"/>
          <p:cNvGraphicFramePr/>
          <p:nvPr/>
        </p:nvGraphicFramePr>
        <p:xfrm>
          <a:off x="609600" y="1714500"/>
          <a:ext cx="10972800" cy="3429954"/>
        </p:xfrm>
        <a:graphic>
          <a:graphicData uri="http://schemas.openxmlformats.org/drawingml/2006/table">
            <a:tbl>
              <a:tblPr/>
              <a:tblGrid>
                <a:gridCol w="1095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0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2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3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6384B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6384B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Working 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6384B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Participants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6384B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End-of-day artifacts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8218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Day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Combined engineering alignment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Vimukthi
Trung
Hoang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Agreed scope, dependency map, access check and prioritized working backlog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8218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Day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QA automation working 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Vimukthi
Hoang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Runnable web automation baseline, evidence output and mobile automation decision note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8218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Day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Full-stack architecture and AI governance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Vimukthi
Trung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RDP rollout ADR and runbook, AI governance draft and Jira reporting pilot charter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8C6246A-85B0-48B9-A160-3ED03B564403}"/>
              </a:ext>
            </a:extLst>
          </p:cNvPr>
          <p:cNvSpPr>
            <a:spLocks noGrp="1"/>
          </p:cNvSpPr>
          <p:nvPr/>
        </p:nvSpPr>
        <p:spPr>
          <a:xfrm>
            <a:off x="762000" y="5476875"/>
            <a:ext cx="10572750" cy="590550"/>
          </a:xfrm>
          <a:prstGeom prst="roundRect">
            <a:avLst>
              <a:gd name="adj" fmla="val 16129"/>
            </a:avLst>
          </a:prstGeom>
          <a:solidFill>
            <a:srgbClr val="F4F6F7"/>
          </a:solidFill>
          <a:ln w="9525">
            <a:solidFill>
              <a:srgbClr val="D7DDE1"/>
            </a:solidFill>
            <a:prstDash val="solid"/>
          </a:ln>
        </p:spPr>
        <p:txBody>
          <a:bodyPr wrap="square" lIns="152400" tIns="95250" rIns="152400" bIns="9525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575" b="0" i="0">
                <a:solidFill>
                  <a:srgbClr val="16384B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 i="0">
                <a:solidFill>
                  <a:srgbClr val="16384B"/>
                </a:solidFill>
                <a:latin typeface="Nimbus Sans"/>
                <a:ea typeface="Nimbus Sans"/>
                <a:cs typeface="Nimbus Sans"/>
              </a:rPr>
              <a:t>Dominique and Dahlia continue their separate five-day BA schedule. The two tracks use one dependency checkpoint and avoid duplicate workshop blocks.</a:t>
            </a:r>
          </a:p>
        </p:txBody>
      </p:sp>
    </p:spTree>
    <p:extLst>
      <p:ext uri="{BB962C8B-B14F-4D97-AF65-F5344CB8AC3E}">
        <p14:creationId xmlns:p14="http://schemas.microsoft.com/office/powerpoint/2010/main" val="444915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accent-6">
            <a:extLst>
              <a:ext uri="{FF2B5EF4-FFF2-40B4-BE49-F238E27FC236}">
                <a16:creationId xmlns:a16="http://schemas.microsoft.com/office/drawing/2014/main" id="{7AB048D8-68DC-4C98-903F-9A7D1EED348E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76200" cy="514350"/>
          </a:xfrm>
          <a:prstGeom prst="rect">
            <a:avLst/>
          </a:prstGeom>
          <a:solidFill>
            <a:srgbClr val="D71920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" name="title-6">
            <a:extLst>
              <a:ext uri="{FF2B5EF4-FFF2-40B4-BE49-F238E27FC236}">
                <a16:creationId xmlns:a16="http://schemas.microsoft.com/office/drawing/2014/main" id="{2B1F2D35-B255-4852-ABF0-87C5536541A2}"/>
              </a:ext>
            </a:extLst>
          </p:cNvPr>
          <p:cNvSpPr>
            <a:spLocks noGrp="1"/>
          </p:cNvSpPr>
          <p:nvPr/>
        </p:nvSpPr>
        <p:spPr>
          <a:xfrm>
            <a:off x="857250" y="400050"/>
            <a:ext cx="8667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3150" b="1" i="0">
                <a:solidFill>
                  <a:srgbClr val="20282E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 i="0" dirty="0">
                <a:solidFill>
                  <a:srgbClr val="20282E"/>
                </a:solidFill>
                <a:latin typeface="Nimbus Sans"/>
                <a:ea typeface="Nimbus Sans"/>
                <a:cs typeface="Nimbus Sans"/>
              </a:rPr>
              <a:t>Day 1: combined engineering</a:t>
            </a:r>
            <a:r>
              <a:rPr lang="en-SG" sz="3150" b="1" i="0" dirty="0">
                <a:solidFill>
                  <a:srgbClr val="20282E"/>
                </a:solidFill>
                <a:latin typeface="Nimbus Sans"/>
                <a:ea typeface="Nimbus Sans"/>
                <a:cs typeface="Nimbus Sans"/>
              </a:rPr>
              <a:t>/business</a:t>
            </a:r>
            <a:r>
              <a:rPr sz="3150" b="1" i="0" dirty="0">
                <a:solidFill>
                  <a:srgbClr val="20282E"/>
                </a:solidFill>
                <a:latin typeface="Nimbus Sans"/>
                <a:ea typeface="Nimbus Sans"/>
                <a:cs typeface="Nimbus Sans"/>
              </a:rPr>
              <a:t> alignment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1AFACE-EA76-4C25-BF44-ABB5D6F753CF}"/>
              </a:ext>
            </a:extLst>
          </p:cNvPr>
          <p:cNvSpPr>
            <a:spLocks noGrp="1"/>
          </p:cNvSpPr>
          <p:nvPr/>
        </p:nvSpPr>
        <p:spPr>
          <a:xfrm>
            <a:off x="876300" y="962025"/>
            <a:ext cx="885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35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rPr>
              <a:t>Close scope and access questions before the two specialist working days</a:t>
            </a: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386310" y="333375"/>
            <a:ext cx="1134880" cy="4381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145BE70-74E7-4A0F-B76F-EC49E023A2AA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19050"/>
          </a:xfrm>
          <a:prstGeom prst="rect">
            <a:avLst/>
          </a:prstGeom>
          <a:solidFill>
            <a:srgbClr val="D7DDE1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9C28AD-A634-4380-AF66-A6398263DCC0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181100" cy="38100"/>
          </a:xfrm>
          <a:prstGeom prst="rect">
            <a:avLst/>
          </a:prstGeom>
          <a:solidFill>
            <a:srgbClr val="D71920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83D90A-6CCE-4F8F-BD20-834DA28ED17D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10972800" cy="9525"/>
          </a:xfrm>
          <a:prstGeom prst="rect">
            <a:avLst/>
          </a:prstGeom>
          <a:solidFill>
            <a:srgbClr val="D7DDE1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EDF028-D38E-497A-B825-BA3B6FDFED79}"/>
              </a:ext>
            </a:extLst>
          </p:cNvPr>
          <p:cNvSpPr>
            <a:spLocks noGrp="1"/>
          </p:cNvSpPr>
          <p:nvPr/>
        </p:nvSpPr>
        <p:spPr>
          <a:xfrm>
            <a:off x="609600" y="6562725"/>
            <a:ext cx="3143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825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defRPr>
            </a:pPr>
            <a:r>
              <a:rPr sz="825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rPr>
              <a:t>CONFIDENTIAL &amp; PROPRIETARY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0CA81D-26B5-4CF6-A882-D8E4F8EAF62A}"/>
              </a:ext>
            </a:extLst>
          </p:cNvPr>
          <p:cNvSpPr>
            <a:spLocks noGrp="1"/>
          </p:cNvSpPr>
          <p:nvPr/>
        </p:nvSpPr>
        <p:spPr>
          <a:xfrm>
            <a:off x="11144250" y="6553200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90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defRPr>
            </a:pPr>
            <a:r>
              <a:rPr sz="90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rPr>
              <a:t>06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D0C6A7-6EEE-42EB-AA89-FEC5FAB8AC89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125" b="1" i="0">
                <a:solidFill>
                  <a:srgbClr val="0E6B78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0E6B78"/>
                </a:solidFill>
                <a:latin typeface="Nimbus Sans"/>
                <a:ea typeface="Nimbus Sans"/>
                <a:cs typeface="Nimbus Sans"/>
              </a:rPr>
              <a:t>WORKING BLOCKS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CD55A9-ECDF-49D9-81B0-296F2883D6D0}"/>
              </a:ext>
            </a:extLst>
          </p:cNvPr>
          <p:cNvSpPr>
            <a:spLocks noGrp="1"/>
          </p:cNvSpPr>
          <p:nvPr/>
        </p:nvSpPr>
        <p:spPr>
          <a:xfrm>
            <a:off x="685800" y="2066925"/>
            <a:ext cx="1381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350" b="1" i="0">
                <a:solidFill>
                  <a:srgbClr val="D71920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D71920"/>
                </a:solidFill>
                <a:latin typeface="Nimbus Sans"/>
                <a:ea typeface="Nimbus Sans"/>
                <a:cs typeface="Nimbus Sans"/>
              </a:rPr>
              <a:t>09:00–09:30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E90FB7-6745-4696-A7EF-C8CF3194E1F6}"/>
              </a:ext>
            </a:extLst>
          </p:cNvPr>
          <p:cNvSpPr>
            <a:spLocks noGrp="1"/>
          </p:cNvSpPr>
          <p:nvPr/>
        </p:nvSpPr>
        <p:spPr>
          <a:xfrm>
            <a:off x="2190750" y="2028825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500" b="1" i="0">
                <a:solidFill>
                  <a:srgbClr val="20282E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 i="0">
                <a:solidFill>
                  <a:srgbClr val="20282E"/>
                </a:solidFill>
                <a:latin typeface="Nimbus Sans"/>
                <a:ea typeface="Nimbus Sans"/>
                <a:cs typeface="Nimbus Sans"/>
              </a:rPr>
              <a:t>Objectives and boundaries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41144F-674B-4719-B0EE-C087EAF66F13}"/>
              </a:ext>
            </a:extLst>
          </p:cNvPr>
          <p:cNvSpPr>
            <a:spLocks noGrp="1"/>
          </p:cNvSpPr>
          <p:nvPr/>
        </p:nvSpPr>
        <p:spPr>
          <a:xfrm>
            <a:off x="2190750" y="2314575"/>
            <a:ext cx="333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rPr>
              <a:t>Confirm outcomes and non-goals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A6D4C0F-4EB0-4174-B347-277A78A5C309}"/>
              </a:ext>
            </a:extLst>
          </p:cNvPr>
          <p:cNvSpPr>
            <a:spLocks noGrp="1"/>
          </p:cNvSpPr>
          <p:nvPr/>
        </p:nvSpPr>
        <p:spPr>
          <a:xfrm>
            <a:off x="685800" y="2686050"/>
            <a:ext cx="4857750" cy="9525"/>
          </a:xfrm>
          <a:prstGeom prst="rect">
            <a:avLst/>
          </a:prstGeom>
          <a:solidFill>
            <a:srgbClr val="D7DDE1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C7DF4DF-C505-423B-A4F2-EBFD6BB58020}"/>
              </a:ext>
            </a:extLst>
          </p:cNvPr>
          <p:cNvSpPr>
            <a:spLocks noGrp="1"/>
          </p:cNvSpPr>
          <p:nvPr/>
        </p:nvSpPr>
        <p:spPr>
          <a:xfrm>
            <a:off x="685800" y="2847975"/>
            <a:ext cx="1381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350" b="1" i="0">
                <a:solidFill>
                  <a:srgbClr val="D71920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D71920"/>
                </a:solidFill>
                <a:latin typeface="Nimbus Sans"/>
                <a:ea typeface="Nimbus Sans"/>
                <a:cs typeface="Nimbus Sans"/>
              </a:rPr>
              <a:t>09:30–11:00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423A06-2AB0-425A-9B0C-07C1C06FB561}"/>
              </a:ext>
            </a:extLst>
          </p:cNvPr>
          <p:cNvSpPr>
            <a:spLocks noGrp="1"/>
          </p:cNvSpPr>
          <p:nvPr/>
        </p:nvSpPr>
        <p:spPr>
          <a:xfrm>
            <a:off x="2190750" y="2809875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500" b="1" i="0">
                <a:solidFill>
                  <a:srgbClr val="20282E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 i="0">
                <a:solidFill>
                  <a:srgbClr val="20282E"/>
                </a:solidFill>
                <a:latin typeface="Nimbus Sans"/>
                <a:ea typeface="Nimbus Sans"/>
                <a:cs typeface="Nimbus Sans"/>
              </a:rPr>
              <a:t>Current-state walkthrough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D184CE-EB58-46FD-9884-84B1E576A8AB}"/>
              </a:ext>
            </a:extLst>
          </p:cNvPr>
          <p:cNvSpPr>
            <a:spLocks noGrp="1"/>
          </p:cNvSpPr>
          <p:nvPr/>
        </p:nvSpPr>
        <p:spPr>
          <a:xfrm>
            <a:off x="2190750" y="3095625"/>
            <a:ext cx="333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rPr>
              <a:t>RDP release path, test gaps and active code lines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410F23-D213-4A15-A594-07BD4FEB8D62}"/>
              </a:ext>
            </a:extLst>
          </p:cNvPr>
          <p:cNvSpPr>
            <a:spLocks noGrp="1"/>
          </p:cNvSpPr>
          <p:nvPr/>
        </p:nvSpPr>
        <p:spPr>
          <a:xfrm>
            <a:off x="685800" y="3467100"/>
            <a:ext cx="4857750" cy="9525"/>
          </a:xfrm>
          <a:prstGeom prst="rect">
            <a:avLst/>
          </a:prstGeom>
          <a:solidFill>
            <a:srgbClr val="D7DDE1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C42B85D-ECEC-4454-ADB9-B3AAA10B2035}"/>
              </a:ext>
            </a:extLst>
          </p:cNvPr>
          <p:cNvSpPr>
            <a:spLocks noGrp="1"/>
          </p:cNvSpPr>
          <p:nvPr/>
        </p:nvSpPr>
        <p:spPr>
          <a:xfrm>
            <a:off x="685800" y="3629025"/>
            <a:ext cx="1381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350" b="1" i="0">
                <a:solidFill>
                  <a:srgbClr val="D71920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D71920"/>
                </a:solidFill>
                <a:latin typeface="Nimbus Sans"/>
                <a:ea typeface="Nimbus Sans"/>
                <a:cs typeface="Nimbus Sans"/>
              </a:rPr>
              <a:t>11:15–12:30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8F32253-1648-4EFB-AC86-53C2528B4355}"/>
              </a:ext>
            </a:extLst>
          </p:cNvPr>
          <p:cNvSpPr>
            <a:spLocks noGrp="1"/>
          </p:cNvSpPr>
          <p:nvPr/>
        </p:nvSpPr>
        <p:spPr>
          <a:xfrm>
            <a:off x="2190750" y="3590925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500" b="1" i="0">
                <a:solidFill>
                  <a:srgbClr val="20282E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 i="0">
                <a:solidFill>
                  <a:srgbClr val="20282E"/>
                </a:solidFill>
                <a:latin typeface="Nimbus Sans"/>
                <a:ea typeface="Nimbus Sans"/>
                <a:cs typeface="Nimbus Sans"/>
              </a:rPr>
              <a:t>Dependencies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107AC2B-289D-40BE-A43B-36E2A9E14673}"/>
              </a:ext>
            </a:extLst>
          </p:cNvPr>
          <p:cNvSpPr>
            <a:spLocks noGrp="1"/>
          </p:cNvSpPr>
          <p:nvPr/>
        </p:nvSpPr>
        <p:spPr>
          <a:xfrm>
            <a:off x="2190750" y="3876675"/>
            <a:ext cx="333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rPr>
              <a:t>Environment, data, access and BA interlock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EDC9B3F-5061-423A-92A8-0ACD7429C7A7}"/>
              </a:ext>
            </a:extLst>
          </p:cNvPr>
          <p:cNvSpPr>
            <a:spLocks noGrp="1"/>
          </p:cNvSpPr>
          <p:nvPr/>
        </p:nvSpPr>
        <p:spPr>
          <a:xfrm>
            <a:off x="685800" y="4248150"/>
            <a:ext cx="4857750" cy="9525"/>
          </a:xfrm>
          <a:prstGeom prst="rect">
            <a:avLst/>
          </a:prstGeom>
          <a:solidFill>
            <a:srgbClr val="D7DDE1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7B60107-DBE0-4E15-B67B-1C10AF57F8B9}"/>
              </a:ext>
            </a:extLst>
          </p:cNvPr>
          <p:cNvSpPr>
            <a:spLocks noGrp="1"/>
          </p:cNvSpPr>
          <p:nvPr/>
        </p:nvSpPr>
        <p:spPr>
          <a:xfrm>
            <a:off x="685800" y="4410075"/>
            <a:ext cx="1381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350" b="1" i="0">
                <a:solidFill>
                  <a:srgbClr val="D71920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D71920"/>
                </a:solidFill>
                <a:latin typeface="Nimbus Sans"/>
                <a:ea typeface="Nimbus Sans"/>
                <a:cs typeface="Nimbus Sans"/>
              </a:rPr>
              <a:t>13:30–15:30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ACBD19B-2CEE-4856-ABF3-F527684A8B2F}"/>
              </a:ext>
            </a:extLst>
          </p:cNvPr>
          <p:cNvSpPr>
            <a:spLocks noGrp="1"/>
          </p:cNvSpPr>
          <p:nvPr/>
        </p:nvSpPr>
        <p:spPr>
          <a:xfrm>
            <a:off x="2190750" y="4371975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500" b="1" i="0">
                <a:solidFill>
                  <a:srgbClr val="20282E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 i="0">
                <a:solidFill>
                  <a:srgbClr val="20282E"/>
                </a:solidFill>
                <a:latin typeface="Nimbus Sans"/>
                <a:ea typeface="Nimbus Sans"/>
                <a:cs typeface="Nimbus Sans"/>
              </a:rPr>
              <a:t>Priority and example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CAFEBF-A9EF-405A-9EA9-BE27E4B8F9DE}"/>
              </a:ext>
            </a:extLst>
          </p:cNvPr>
          <p:cNvSpPr>
            <a:spLocks noGrp="1"/>
          </p:cNvSpPr>
          <p:nvPr/>
        </p:nvSpPr>
        <p:spPr>
          <a:xfrm>
            <a:off x="2190750" y="4657725"/>
            <a:ext cx="333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rPr>
              <a:t>Web smoke journeys and rollout example feature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2F01F95-5AC7-4F89-9B09-3D0E46BE4296}"/>
              </a:ext>
            </a:extLst>
          </p:cNvPr>
          <p:cNvSpPr>
            <a:spLocks noGrp="1"/>
          </p:cNvSpPr>
          <p:nvPr/>
        </p:nvSpPr>
        <p:spPr>
          <a:xfrm>
            <a:off x="685800" y="5029200"/>
            <a:ext cx="4857750" cy="9525"/>
          </a:xfrm>
          <a:prstGeom prst="rect">
            <a:avLst/>
          </a:prstGeom>
          <a:solidFill>
            <a:srgbClr val="D7DDE1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1B62FFF-A6AC-4508-B6EE-D881861470A6}"/>
              </a:ext>
            </a:extLst>
          </p:cNvPr>
          <p:cNvSpPr>
            <a:spLocks noGrp="1"/>
          </p:cNvSpPr>
          <p:nvPr/>
        </p:nvSpPr>
        <p:spPr>
          <a:xfrm>
            <a:off x="685800" y="5191125"/>
            <a:ext cx="1381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350" b="1" i="0">
                <a:solidFill>
                  <a:srgbClr val="D71920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D71920"/>
                </a:solidFill>
                <a:latin typeface="Nimbus Sans"/>
                <a:ea typeface="Nimbus Sans"/>
                <a:cs typeface="Nimbus Sans"/>
              </a:rPr>
              <a:t>15:45–17:00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6787DC5-1A0D-40CE-8273-729CAC6A4876}"/>
              </a:ext>
            </a:extLst>
          </p:cNvPr>
          <p:cNvSpPr>
            <a:spLocks noGrp="1"/>
          </p:cNvSpPr>
          <p:nvPr/>
        </p:nvSpPr>
        <p:spPr>
          <a:xfrm>
            <a:off x="2190750" y="5153025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500" b="1" i="0">
                <a:solidFill>
                  <a:srgbClr val="20282E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 i="0">
                <a:solidFill>
                  <a:srgbClr val="20282E"/>
                </a:solidFill>
                <a:latin typeface="Nimbus Sans"/>
                <a:ea typeface="Nimbus Sans"/>
                <a:cs typeface="Nimbus Sans"/>
              </a:rPr>
              <a:t>Readiness and action lock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39074C7-75EB-49BF-87B9-C74DC8FECC16}"/>
              </a:ext>
            </a:extLst>
          </p:cNvPr>
          <p:cNvSpPr>
            <a:spLocks noGrp="1"/>
          </p:cNvSpPr>
          <p:nvPr/>
        </p:nvSpPr>
        <p:spPr>
          <a:xfrm>
            <a:off x="2190750" y="5438775"/>
            <a:ext cx="333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rPr>
              <a:t>Owners, blockers and Day 2/3 inputs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45DFCBB-ECB4-4304-A527-84A732F01A0A}"/>
              </a:ext>
            </a:extLst>
          </p:cNvPr>
          <p:cNvSpPr>
            <a:spLocks noGrp="1"/>
          </p:cNvSpPr>
          <p:nvPr/>
        </p:nvSpPr>
        <p:spPr>
          <a:xfrm>
            <a:off x="5924550" y="1790700"/>
            <a:ext cx="19050" cy="3905250"/>
          </a:xfrm>
          <a:prstGeom prst="rect">
            <a:avLst/>
          </a:prstGeom>
          <a:solidFill>
            <a:srgbClr val="E9A923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CE86831-BBE3-4B47-8202-312973388C53}"/>
              </a:ext>
            </a:extLst>
          </p:cNvPr>
          <p:cNvSpPr>
            <a:spLocks noGrp="1"/>
          </p:cNvSpPr>
          <p:nvPr/>
        </p:nvSpPr>
        <p:spPr>
          <a:xfrm>
            <a:off x="6305550" y="163830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125" b="1" i="0">
                <a:solidFill>
                  <a:srgbClr val="D71920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D71920"/>
                </a:solidFill>
                <a:latin typeface="Nimbus Sans"/>
                <a:ea typeface="Nimbus Sans"/>
                <a:cs typeface="Nimbus Sans"/>
              </a:rPr>
              <a:t>DECISIONS TO CLOSE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C6612CB-4483-4A3A-AAAB-7788D10BA8BA}"/>
              </a:ext>
            </a:extLst>
          </p:cNvPr>
          <p:cNvSpPr>
            <a:spLocks noGrp="1"/>
          </p:cNvSpPr>
          <p:nvPr/>
        </p:nvSpPr>
        <p:spPr>
          <a:xfrm>
            <a:off x="6305550" y="2038350"/>
            <a:ext cx="4762500" cy="2647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/>
          <a:p>
            <a:pPr marL="228600" indent="-114300">
              <a:lnSpc>
                <a:spcPct val="104000"/>
              </a:lnSpc>
              <a:spcAft>
                <a:spcPts val="1000"/>
              </a:spcAft>
              <a:buNone/>
              <a:defRPr sz="1500">
                <a:solidFill>
                  <a:srgbClr val="20282E"/>
                </a:solidFill>
                <a:latin typeface="Nimbus Sans"/>
                <a:ea typeface="Nimbus Sans"/>
                <a:cs typeface="Nimbus Sans"/>
              </a:defRPr>
            </a:pPr>
            <a:r>
              <a:rPr sz="1500">
                <a:solidFill>
                  <a:srgbClr val="20282E"/>
                </a:solidFill>
                <a:latin typeface="Nimbus Sans"/>
                <a:ea typeface="Nimbus Sans"/>
                <a:cs typeface="Nimbus Sans"/>
              </a:rPr>
              <a:t>Which RDP web journeys form the first stable smoke suite</a:t>
            </a:r>
          </a:p>
          <a:p>
            <a:pPr marL="228600" indent="-114300">
              <a:lnSpc>
                <a:spcPct val="104000"/>
              </a:lnSpc>
              <a:spcAft>
                <a:spcPts val="1000"/>
              </a:spcAft>
              <a:buNone/>
              <a:defRPr sz="1500">
                <a:solidFill>
                  <a:srgbClr val="20282E"/>
                </a:solidFill>
                <a:latin typeface="Nimbus Sans"/>
                <a:ea typeface="Nimbus Sans"/>
                <a:cs typeface="Nimbus Sans"/>
              </a:defRPr>
            </a:pPr>
            <a:r>
              <a:rPr sz="1500">
                <a:solidFill>
                  <a:srgbClr val="20282E"/>
                </a:solidFill>
                <a:latin typeface="Nimbus Sans"/>
                <a:ea typeface="Nimbus Sans"/>
                <a:cs typeface="Nimbus Sans"/>
              </a:rPr>
              <a:t>Which feature and client profiles will prove selective rollout</a:t>
            </a:r>
          </a:p>
          <a:p>
            <a:pPr marL="228600" indent="-114300">
              <a:lnSpc>
                <a:spcPct val="104000"/>
              </a:lnSpc>
              <a:spcAft>
                <a:spcPts val="1000"/>
              </a:spcAft>
              <a:buNone/>
              <a:defRPr sz="1500">
                <a:solidFill>
                  <a:srgbClr val="20282E"/>
                </a:solidFill>
                <a:latin typeface="Nimbus Sans"/>
                <a:ea typeface="Nimbus Sans"/>
                <a:cs typeface="Nimbus Sans"/>
              </a:defRPr>
            </a:pPr>
            <a:r>
              <a:rPr sz="1500">
                <a:solidFill>
                  <a:srgbClr val="20282E"/>
                </a:solidFill>
                <a:latin typeface="Nimbus Sans"/>
                <a:ea typeface="Nimbus Sans"/>
                <a:cs typeface="Nimbus Sans"/>
              </a:rPr>
              <a:t>Which code lines are shared, forked or require compatibility work</a:t>
            </a:r>
          </a:p>
          <a:p>
            <a:pPr marL="228600" indent="-114300">
              <a:lnSpc>
                <a:spcPct val="104000"/>
              </a:lnSpc>
              <a:spcAft>
                <a:spcPts val="1000"/>
              </a:spcAft>
              <a:buNone/>
              <a:defRPr sz="1500">
                <a:solidFill>
                  <a:srgbClr val="20282E"/>
                </a:solidFill>
                <a:latin typeface="Nimbus Sans"/>
                <a:ea typeface="Nimbus Sans"/>
                <a:cs typeface="Nimbus Sans"/>
              </a:defRPr>
            </a:pPr>
            <a:r>
              <a:rPr sz="1500">
                <a:solidFill>
                  <a:srgbClr val="20282E"/>
                </a:solidFill>
                <a:latin typeface="Nimbus Sans"/>
                <a:ea typeface="Nimbus Sans"/>
                <a:cs typeface="Nimbus Sans"/>
              </a:rPr>
              <a:t>Which non-production access and test data are available</a:t>
            </a:r>
          </a:p>
          <a:p>
            <a:pPr marL="228600" indent="-114300">
              <a:lnSpc>
                <a:spcPct val="104000"/>
              </a:lnSpc>
              <a:spcAft>
                <a:spcPts val="1000"/>
              </a:spcAft>
              <a:buNone/>
              <a:defRPr sz="1500">
                <a:solidFill>
                  <a:srgbClr val="20282E"/>
                </a:solidFill>
                <a:latin typeface="Nimbus Sans"/>
                <a:ea typeface="Nimbus Sans"/>
                <a:cs typeface="Nimbus Sans"/>
              </a:defRPr>
            </a:pPr>
            <a:r>
              <a:rPr sz="1500">
                <a:solidFill>
                  <a:srgbClr val="20282E"/>
                </a:solidFill>
                <a:latin typeface="Nimbus Sans"/>
                <a:ea typeface="Nimbus Sans"/>
                <a:cs typeface="Nimbus Sans"/>
              </a:rPr>
              <a:t>Which BA decisions affect the technical work, and who owns them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726B541-5B41-446E-AC95-E268BC948866}"/>
              </a:ext>
            </a:extLst>
          </p:cNvPr>
          <p:cNvSpPr>
            <a:spLocks noGrp="1"/>
          </p:cNvSpPr>
          <p:nvPr/>
        </p:nvSpPr>
        <p:spPr>
          <a:xfrm>
            <a:off x="6305550" y="4905375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500" b="1" i="0">
                <a:solidFill>
                  <a:srgbClr val="16384B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 i="0">
                <a:solidFill>
                  <a:srgbClr val="16384B"/>
                </a:solidFill>
                <a:latin typeface="Nimbus Sans"/>
                <a:ea typeface="Nimbus Sans"/>
                <a:cs typeface="Nimbus Sans"/>
              </a:rPr>
              <a:t>Day 1 exit condition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D7D73A0-C83E-45E7-8A59-7EB4B43995D5}"/>
              </a:ext>
            </a:extLst>
          </p:cNvPr>
          <p:cNvSpPr>
            <a:spLocks noGrp="1"/>
          </p:cNvSpPr>
          <p:nvPr/>
        </p:nvSpPr>
        <p:spPr>
          <a:xfrm>
            <a:off x="6305550" y="5267325"/>
            <a:ext cx="476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575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rPr>
              <a:t>Both specialist days can start without waiting for an avoidable access, scope or ownership decision.</a:t>
            </a:r>
          </a:p>
        </p:txBody>
      </p:sp>
    </p:spTree>
    <p:extLst>
      <p:ext uri="{BB962C8B-B14F-4D97-AF65-F5344CB8AC3E}">
        <p14:creationId xmlns:p14="http://schemas.microsoft.com/office/powerpoint/2010/main" val="1468102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accent-7">
            <a:extLst>
              <a:ext uri="{FF2B5EF4-FFF2-40B4-BE49-F238E27FC236}">
                <a16:creationId xmlns:a16="http://schemas.microsoft.com/office/drawing/2014/main" id="{21990104-93AE-43CC-829C-A72410844E73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76200" cy="514350"/>
          </a:xfrm>
          <a:prstGeom prst="rect">
            <a:avLst/>
          </a:prstGeom>
          <a:solidFill>
            <a:srgbClr val="D71920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" name="title-7">
            <a:extLst>
              <a:ext uri="{FF2B5EF4-FFF2-40B4-BE49-F238E27FC236}">
                <a16:creationId xmlns:a16="http://schemas.microsoft.com/office/drawing/2014/main" id="{4CB52CCB-741F-4F38-A997-200A04058947}"/>
              </a:ext>
            </a:extLst>
          </p:cNvPr>
          <p:cNvSpPr>
            <a:spLocks noGrp="1"/>
          </p:cNvSpPr>
          <p:nvPr/>
        </p:nvSpPr>
        <p:spPr>
          <a:xfrm>
            <a:off x="857250" y="400050"/>
            <a:ext cx="8667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3150" b="1" i="0">
                <a:solidFill>
                  <a:srgbClr val="20282E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 i="0" dirty="0">
                <a:solidFill>
                  <a:srgbClr val="20282E"/>
                </a:solidFill>
                <a:latin typeface="Nimbus Sans"/>
                <a:ea typeface="Nimbus Sans"/>
                <a:cs typeface="Nimbus Sans"/>
              </a:rPr>
              <a:t>Day 2: QA automation</a:t>
            </a:r>
            <a:r>
              <a:rPr lang="en-SG" sz="3150" b="1" i="0" dirty="0">
                <a:solidFill>
                  <a:srgbClr val="20282E"/>
                </a:solidFill>
                <a:latin typeface="Nimbus Sans"/>
                <a:ea typeface="Nimbus Sans"/>
                <a:cs typeface="Nimbus Sans"/>
              </a:rPr>
              <a:t>  / Unit Automation</a:t>
            </a:r>
            <a:r>
              <a:rPr sz="3150" b="1" i="0" dirty="0">
                <a:solidFill>
                  <a:srgbClr val="20282E"/>
                </a:solidFill>
                <a:latin typeface="Nimbus Sans"/>
                <a:ea typeface="Nimbus Sans"/>
                <a:cs typeface="Nimbus Sans"/>
              </a:rPr>
              <a:t> working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3F4A46-3BD7-4510-ACEE-67D68CDAAE36}"/>
              </a:ext>
            </a:extLst>
          </p:cNvPr>
          <p:cNvSpPr>
            <a:spLocks noGrp="1"/>
          </p:cNvSpPr>
          <p:nvPr/>
        </p:nvSpPr>
        <p:spPr>
          <a:xfrm>
            <a:off x="876300" y="962025"/>
            <a:ext cx="885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35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rPr>
              <a:t>A working web baseline with clear boundaries for native mobile automation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386310" y="333375"/>
            <a:ext cx="1134880" cy="4381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FDE2A09-E329-49C6-9C5B-678F03119AD7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19050"/>
          </a:xfrm>
          <a:prstGeom prst="rect">
            <a:avLst/>
          </a:prstGeom>
          <a:solidFill>
            <a:srgbClr val="D7DDE1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474AF9-4C9E-422B-9449-9FC100A87D1E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181100" cy="38100"/>
          </a:xfrm>
          <a:prstGeom prst="rect">
            <a:avLst/>
          </a:prstGeom>
          <a:solidFill>
            <a:srgbClr val="D71920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3FA03A-D490-49C2-9698-5ABED5E926BB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10972800" cy="9525"/>
          </a:xfrm>
          <a:prstGeom prst="rect">
            <a:avLst/>
          </a:prstGeom>
          <a:solidFill>
            <a:srgbClr val="D7DDE1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B5598C-3597-43B7-B88E-E45528761193}"/>
              </a:ext>
            </a:extLst>
          </p:cNvPr>
          <p:cNvSpPr>
            <a:spLocks noGrp="1"/>
          </p:cNvSpPr>
          <p:nvPr/>
        </p:nvSpPr>
        <p:spPr>
          <a:xfrm>
            <a:off x="609600" y="6562725"/>
            <a:ext cx="3143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825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defRPr>
            </a:pPr>
            <a:r>
              <a:rPr sz="825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rPr>
              <a:t>CONFIDENTIAL &amp; PROPRIETARY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CF8774-DB7A-4A0C-B1C1-6FE2324A605B}"/>
              </a:ext>
            </a:extLst>
          </p:cNvPr>
          <p:cNvSpPr>
            <a:spLocks noGrp="1"/>
          </p:cNvSpPr>
          <p:nvPr/>
        </p:nvSpPr>
        <p:spPr>
          <a:xfrm>
            <a:off x="11144250" y="6553200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90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defRPr>
            </a:pPr>
            <a:r>
              <a:rPr sz="90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rPr>
              <a:t>07</a:t>
            </a:r>
          </a:p>
        </p:txBody>
      </p:sp>
      <p:sp>
        <p:nvSpPr>
          <p:cNvPr id="10" name="qa-flow-1">
            <a:extLst>
              <a:ext uri="{FF2B5EF4-FFF2-40B4-BE49-F238E27FC236}">
                <a16:creationId xmlns:a16="http://schemas.microsoft.com/office/drawing/2014/main" id="{594845EB-7665-49E3-9F8D-368C85636088}"/>
              </a:ext>
            </a:extLst>
          </p:cNvPr>
          <p:cNvSpPr>
            <a:spLocks noGrp="1"/>
          </p:cNvSpPr>
          <p:nvPr/>
        </p:nvSpPr>
        <p:spPr>
          <a:xfrm>
            <a:off x="609600" y="1771650"/>
            <a:ext cx="1809750" cy="781050"/>
          </a:xfrm>
          <a:prstGeom prst="roundRect">
            <a:avLst>
              <a:gd name="adj" fmla="val 14634"/>
            </a:avLst>
          </a:prstGeom>
          <a:solidFill>
            <a:srgbClr val="EAF3F5"/>
          </a:solidFill>
          <a:ln w="9525">
            <a:solidFill>
              <a:srgbClr val="0E6B78"/>
            </a:solidFill>
            <a:prstDash val="solid"/>
          </a:ln>
        </p:spPr>
        <p:txBody>
          <a:bodyPr wrap="square" lIns="76200" tIns="76200" rIns="76200" bIns="76200" anchor="ctr">
            <a:normAutofit/>
          </a:bodyPr>
          <a:lstStyle/>
          <a:p>
            <a:pPr algn="ctr">
              <a:defRPr sz="1500" b="1">
                <a:solidFill>
                  <a:srgbClr val="20282E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20282E"/>
                </a:solidFill>
                <a:latin typeface="Nimbus Sans"/>
                <a:ea typeface="Nimbus Sans"/>
                <a:cs typeface="Nimbus Sans"/>
              </a:rPr>
              <a:t>Select stable</a:t>
            </a:r>
          </a:p>
          <a:p>
            <a:pPr algn="ctr">
              <a:defRPr sz="1500" b="1">
                <a:solidFill>
                  <a:srgbClr val="20282E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20282E"/>
                </a:solidFill>
                <a:latin typeface="Nimbus Sans"/>
                <a:ea typeface="Nimbus Sans"/>
                <a:cs typeface="Nimbus Sans"/>
              </a:rPr>
              <a:t>journeys</a:t>
            </a:r>
          </a:p>
        </p:txBody>
      </p:sp>
      <p:sp>
        <p:nvSpPr>
          <p:cNvPr id="11" name="qa-flow-2">
            <a:extLst>
              <a:ext uri="{FF2B5EF4-FFF2-40B4-BE49-F238E27FC236}">
                <a16:creationId xmlns:a16="http://schemas.microsoft.com/office/drawing/2014/main" id="{97C505C7-0A94-497D-A8A8-6221D4209750}"/>
              </a:ext>
            </a:extLst>
          </p:cNvPr>
          <p:cNvSpPr>
            <a:spLocks noGrp="1"/>
          </p:cNvSpPr>
          <p:nvPr/>
        </p:nvSpPr>
        <p:spPr>
          <a:xfrm>
            <a:off x="2800350" y="1771650"/>
            <a:ext cx="1809750" cy="781050"/>
          </a:xfrm>
          <a:prstGeom prst="roundRect">
            <a:avLst>
              <a:gd name="adj" fmla="val 14634"/>
            </a:avLst>
          </a:prstGeom>
          <a:solidFill>
            <a:srgbClr val="FCEBEC"/>
          </a:solidFill>
          <a:ln w="9525">
            <a:solidFill>
              <a:srgbClr val="D71920"/>
            </a:solidFill>
            <a:prstDash val="solid"/>
          </a:ln>
        </p:spPr>
        <p:txBody>
          <a:bodyPr wrap="square" lIns="76200" tIns="76200" rIns="76200" bIns="76200" anchor="ctr">
            <a:normAutofit/>
          </a:bodyPr>
          <a:lstStyle/>
          <a:p>
            <a:pPr algn="ctr">
              <a:defRPr sz="1500" b="1">
                <a:solidFill>
                  <a:srgbClr val="20282E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20282E"/>
                </a:solidFill>
                <a:latin typeface="Nimbus Sans"/>
                <a:ea typeface="Nimbus Sans"/>
                <a:cs typeface="Nimbus Sans"/>
              </a:rPr>
              <a:t>Scaffold in</a:t>
            </a:r>
          </a:p>
          <a:p>
            <a:pPr algn="ctr">
              <a:defRPr sz="1500" b="1">
                <a:solidFill>
                  <a:srgbClr val="20282E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20282E"/>
                </a:solidFill>
                <a:latin typeface="Nimbus Sans"/>
                <a:ea typeface="Nimbus Sans"/>
                <a:cs typeface="Nimbus Sans"/>
              </a:rPr>
              <a:t>Playwright</a:t>
            </a:r>
          </a:p>
        </p:txBody>
      </p:sp>
      <p:sp>
        <p:nvSpPr>
          <p:cNvPr id="12" name="qa-flow-3">
            <a:extLst>
              <a:ext uri="{FF2B5EF4-FFF2-40B4-BE49-F238E27FC236}">
                <a16:creationId xmlns:a16="http://schemas.microsoft.com/office/drawing/2014/main" id="{DEA461A7-87E7-4570-9763-169DA6BC60ED}"/>
              </a:ext>
            </a:extLst>
          </p:cNvPr>
          <p:cNvSpPr>
            <a:spLocks noGrp="1"/>
          </p:cNvSpPr>
          <p:nvPr/>
        </p:nvSpPr>
        <p:spPr>
          <a:xfrm>
            <a:off x="4991100" y="1771650"/>
            <a:ext cx="1809750" cy="781050"/>
          </a:xfrm>
          <a:prstGeom prst="roundRect">
            <a:avLst>
              <a:gd name="adj" fmla="val 14634"/>
            </a:avLst>
          </a:prstGeom>
          <a:solidFill>
            <a:srgbClr val="EAF3F5"/>
          </a:solidFill>
          <a:ln w="9525">
            <a:solidFill>
              <a:srgbClr val="0E6B78"/>
            </a:solidFill>
            <a:prstDash val="solid"/>
          </a:ln>
        </p:spPr>
        <p:txBody>
          <a:bodyPr wrap="square" lIns="76200" tIns="76200" rIns="76200" bIns="76200" anchor="ctr">
            <a:normAutofit/>
          </a:bodyPr>
          <a:lstStyle/>
          <a:p>
            <a:pPr algn="ctr">
              <a:defRPr sz="1500" b="1">
                <a:solidFill>
                  <a:srgbClr val="20282E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20282E"/>
                </a:solidFill>
                <a:latin typeface="Nimbus Sans"/>
                <a:ea typeface="Nimbus Sans"/>
                <a:cs typeface="Nimbus Sans"/>
              </a:rPr>
              <a:t>Review and</a:t>
            </a:r>
          </a:p>
          <a:p>
            <a:pPr algn="ctr">
              <a:defRPr sz="1500" b="1">
                <a:solidFill>
                  <a:srgbClr val="20282E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20282E"/>
                </a:solidFill>
                <a:latin typeface="Nimbus Sans"/>
                <a:ea typeface="Nimbus Sans"/>
                <a:cs typeface="Nimbus Sans"/>
              </a:rPr>
              <a:t>stabilize</a:t>
            </a:r>
          </a:p>
        </p:txBody>
      </p:sp>
      <p:sp>
        <p:nvSpPr>
          <p:cNvPr id="13" name="qa-flow-4">
            <a:extLst>
              <a:ext uri="{FF2B5EF4-FFF2-40B4-BE49-F238E27FC236}">
                <a16:creationId xmlns:a16="http://schemas.microsoft.com/office/drawing/2014/main" id="{98CF6214-9A51-4FA7-9805-AA5DD75D8DC7}"/>
              </a:ext>
            </a:extLst>
          </p:cNvPr>
          <p:cNvSpPr>
            <a:spLocks noGrp="1"/>
          </p:cNvSpPr>
          <p:nvPr/>
        </p:nvSpPr>
        <p:spPr>
          <a:xfrm>
            <a:off x="7181850" y="1771650"/>
            <a:ext cx="1809750" cy="781050"/>
          </a:xfrm>
          <a:prstGeom prst="roundRect">
            <a:avLst>
              <a:gd name="adj" fmla="val 14634"/>
            </a:avLst>
          </a:prstGeom>
          <a:solidFill>
            <a:srgbClr val="EAF3F5"/>
          </a:solidFill>
          <a:ln w="9525">
            <a:solidFill>
              <a:srgbClr val="0E6B78"/>
            </a:solidFill>
            <a:prstDash val="solid"/>
          </a:ln>
        </p:spPr>
        <p:txBody>
          <a:bodyPr wrap="square" lIns="76200" tIns="76200" rIns="76200" bIns="76200" anchor="ctr">
            <a:normAutofit/>
          </a:bodyPr>
          <a:lstStyle/>
          <a:p>
            <a:pPr algn="ctr">
              <a:defRPr sz="1500" b="1">
                <a:solidFill>
                  <a:srgbClr val="20282E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20282E"/>
                </a:solidFill>
                <a:latin typeface="Nimbus Sans"/>
                <a:ea typeface="Nimbus Sans"/>
                <a:cs typeface="Nimbus Sans"/>
              </a:rPr>
              <a:t>Run locally</a:t>
            </a:r>
          </a:p>
          <a:p>
            <a:pPr algn="ctr">
              <a:defRPr sz="1500" b="1">
                <a:solidFill>
                  <a:srgbClr val="20282E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20282E"/>
                </a:solidFill>
                <a:latin typeface="Nimbus Sans"/>
                <a:ea typeface="Nimbus Sans"/>
                <a:cs typeface="Nimbus Sans"/>
              </a:rPr>
              <a:t>and in CI</a:t>
            </a:r>
          </a:p>
        </p:txBody>
      </p:sp>
      <p:sp>
        <p:nvSpPr>
          <p:cNvPr id="14" name="qa-flow-5">
            <a:extLst>
              <a:ext uri="{FF2B5EF4-FFF2-40B4-BE49-F238E27FC236}">
                <a16:creationId xmlns:a16="http://schemas.microsoft.com/office/drawing/2014/main" id="{C7BDBD0B-B3CE-4273-96D3-E1317A245FD1}"/>
              </a:ext>
            </a:extLst>
          </p:cNvPr>
          <p:cNvSpPr>
            <a:spLocks noGrp="1"/>
          </p:cNvSpPr>
          <p:nvPr/>
        </p:nvSpPr>
        <p:spPr>
          <a:xfrm>
            <a:off x="9372600" y="1771650"/>
            <a:ext cx="1809750" cy="781050"/>
          </a:xfrm>
          <a:prstGeom prst="roundRect">
            <a:avLst>
              <a:gd name="adj" fmla="val 14634"/>
            </a:avLst>
          </a:prstGeom>
          <a:solidFill>
            <a:srgbClr val="EAF3F5"/>
          </a:solidFill>
          <a:ln w="9525">
            <a:solidFill>
              <a:srgbClr val="0E6B78"/>
            </a:solidFill>
            <a:prstDash val="solid"/>
          </a:ln>
        </p:spPr>
        <p:txBody>
          <a:bodyPr wrap="square" lIns="76200" tIns="76200" rIns="76200" bIns="76200" anchor="ctr">
            <a:normAutofit/>
          </a:bodyPr>
          <a:lstStyle/>
          <a:p>
            <a:pPr algn="ctr">
              <a:defRPr sz="1500" b="1">
                <a:solidFill>
                  <a:srgbClr val="20282E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20282E"/>
                </a:solidFill>
                <a:latin typeface="Nimbus Sans"/>
                <a:ea typeface="Nimbus Sans"/>
                <a:cs typeface="Nimbus Sans"/>
              </a:rPr>
              <a:t>Capture evidence</a:t>
            </a:r>
          </a:p>
          <a:p>
            <a:pPr algn="ctr">
              <a:defRPr sz="1500" b="1">
                <a:solidFill>
                  <a:srgbClr val="20282E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20282E"/>
                </a:solidFill>
                <a:latin typeface="Nimbus Sans"/>
                <a:ea typeface="Nimbus Sans"/>
                <a:cs typeface="Nimbus Sans"/>
              </a:rPr>
              <a:t>and backlog</a:t>
            </a:r>
          </a:p>
        </p:txBody>
      </p:sp>
      <p:cxnSp>
        <p:nvCxnSpPr>
          <p:cNvPr id="42" name="Straight Arrow Connector 41"/>
          <p:cNvCxnSpPr>
            <a:stCxn id="10" idx="3"/>
            <a:endCxn id="11" idx="1"/>
          </p:cNvCxnSpPr>
          <p:nvPr/>
        </p:nvCxnSpPr>
        <p:spPr>
          <a:xfrm>
            <a:off x="2419350" y="2162175"/>
            <a:ext cx="381000" cy="0"/>
          </a:xfrm>
          <a:prstGeom prst="straightConnector1">
            <a:avLst/>
          </a:prstGeom>
          <a:ln w="19050">
            <a:solidFill>
              <a:srgbClr val="A9B2B8"/>
            </a:solidFill>
            <a:prstDash val="solid"/>
            <a:tailEnd type="triangle" w="sm" len="sm"/>
          </a:ln>
        </p:spPr>
      </p:cxnSp>
      <p:cxnSp>
        <p:nvCxnSpPr>
          <p:cNvPr id="43" name="Straight Arrow Connector 42"/>
          <p:cNvCxnSpPr>
            <a:stCxn id="11" idx="3"/>
            <a:endCxn id="12" idx="1"/>
          </p:cNvCxnSpPr>
          <p:nvPr/>
        </p:nvCxnSpPr>
        <p:spPr>
          <a:xfrm>
            <a:off x="4610100" y="2162175"/>
            <a:ext cx="381000" cy="0"/>
          </a:xfrm>
          <a:prstGeom prst="straightConnector1">
            <a:avLst/>
          </a:prstGeom>
          <a:ln w="19050">
            <a:solidFill>
              <a:srgbClr val="A9B2B8"/>
            </a:solidFill>
            <a:prstDash val="solid"/>
            <a:tailEnd type="triangle" w="sm" len="sm"/>
          </a:ln>
        </p:spPr>
      </p:cxnSp>
      <p:cxnSp>
        <p:nvCxnSpPr>
          <p:cNvPr id="44" name="Straight Arrow Connector 43"/>
          <p:cNvCxnSpPr>
            <a:stCxn id="12" idx="3"/>
            <a:endCxn id="13" idx="1"/>
          </p:cNvCxnSpPr>
          <p:nvPr/>
        </p:nvCxnSpPr>
        <p:spPr>
          <a:xfrm>
            <a:off x="6800850" y="2162175"/>
            <a:ext cx="381000" cy="0"/>
          </a:xfrm>
          <a:prstGeom prst="straightConnector1">
            <a:avLst/>
          </a:prstGeom>
          <a:ln w="19050">
            <a:solidFill>
              <a:srgbClr val="A9B2B8"/>
            </a:solidFill>
            <a:prstDash val="solid"/>
            <a:tailEnd type="triangle" w="sm" len="sm"/>
          </a:ln>
        </p:spPr>
      </p:cxnSp>
      <p:cxnSp>
        <p:nvCxnSpPr>
          <p:cNvPr id="45" name="Straight Arrow Connector 44"/>
          <p:cNvCxnSpPr>
            <a:stCxn id="13" idx="3"/>
            <a:endCxn id="14" idx="1"/>
          </p:cNvCxnSpPr>
          <p:nvPr/>
        </p:nvCxnSpPr>
        <p:spPr>
          <a:xfrm>
            <a:off x="8991600" y="2162175"/>
            <a:ext cx="381000" cy="0"/>
          </a:xfrm>
          <a:prstGeom prst="straightConnector1">
            <a:avLst/>
          </a:prstGeom>
          <a:ln w="19050">
            <a:solidFill>
              <a:srgbClr val="A9B2B8"/>
            </a:solidFill>
            <a:prstDash val="solid"/>
            <a:tailEnd type="triangle" w="sm" len="sm"/>
          </a:ln>
        </p:spPr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AC30E6A3-9267-4679-A49F-66BE86F9933B}"/>
              </a:ext>
            </a:extLst>
          </p:cNvPr>
          <p:cNvSpPr>
            <a:spLocks noGrp="1"/>
          </p:cNvSpPr>
          <p:nvPr/>
        </p:nvSpPr>
        <p:spPr>
          <a:xfrm>
            <a:off x="685800" y="306705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125" b="1" i="0">
                <a:solidFill>
                  <a:srgbClr val="0E6B78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0E6B78"/>
                </a:solidFill>
                <a:latin typeface="Nimbus Sans"/>
                <a:ea typeface="Nimbus Sans"/>
                <a:cs typeface="Nimbus Sans"/>
              </a:rPr>
              <a:t>DAY 2 TARGET OUTPUTS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A2CDD60-7D0A-40CA-80A4-7B79EDD4863C}"/>
              </a:ext>
            </a:extLst>
          </p:cNvPr>
          <p:cNvSpPr>
            <a:spLocks noGrp="1"/>
          </p:cNvSpPr>
          <p:nvPr/>
        </p:nvSpPr>
        <p:spPr>
          <a:xfrm>
            <a:off x="685800" y="3448050"/>
            <a:ext cx="5143500" cy="2152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/>
          <a:p>
            <a:pPr marL="228600" indent="-114300">
              <a:lnSpc>
                <a:spcPct val="104000"/>
              </a:lnSpc>
              <a:spcAft>
                <a:spcPts val="900"/>
              </a:spcAft>
              <a:buNone/>
              <a:defRPr sz="1500">
                <a:solidFill>
                  <a:srgbClr val="20282E"/>
                </a:solidFill>
                <a:latin typeface="Nimbus Sans"/>
                <a:ea typeface="Nimbus Sans"/>
                <a:cs typeface="Nimbus Sans"/>
              </a:defRPr>
            </a:pPr>
            <a:r>
              <a:rPr sz="1500">
                <a:solidFill>
                  <a:srgbClr val="20282E"/>
                </a:solidFill>
                <a:latin typeface="Nimbus Sans"/>
                <a:ea typeface="Nimbus Sans"/>
                <a:cs typeface="Nimbus Sans"/>
              </a:rPr>
              <a:t>Minimum two stable RDP web smoke journeys. Target three if the environment is ready</a:t>
            </a:r>
          </a:p>
          <a:p>
            <a:pPr marL="228600" indent="-114300">
              <a:lnSpc>
                <a:spcPct val="104000"/>
              </a:lnSpc>
              <a:spcAft>
                <a:spcPts val="900"/>
              </a:spcAft>
              <a:buNone/>
              <a:defRPr sz="1500">
                <a:solidFill>
                  <a:srgbClr val="20282E"/>
                </a:solidFill>
                <a:latin typeface="Nimbus Sans"/>
                <a:ea typeface="Nimbus Sans"/>
                <a:cs typeface="Nimbus Sans"/>
              </a:defRPr>
            </a:pPr>
            <a:r>
              <a:rPr sz="1500">
                <a:solidFill>
                  <a:srgbClr val="20282E"/>
                </a:solidFill>
                <a:latin typeface="Nimbus Sans"/>
                <a:ea typeface="Nimbus Sans"/>
                <a:cs typeface="Nimbus Sans"/>
              </a:rPr>
              <a:t>Reusable fixtures, selectors and test-data approach</a:t>
            </a:r>
          </a:p>
          <a:p>
            <a:pPr marL="228600" indent="-114300">
              <a:lnSpc>
                <a:spcPct val="104000"/>
              </a:lnSpc>
              <a:spcAft>
                <a:spcPts val="900"/>
              </a:spcAft>
              <a:buNone/>
              <a:defRPr sz="1500">
                <a:solidFill>
                  <a:srgbClr val="20282E"/>
                </a:solidFill>
                <a:latin typeface="Nimbus Sans"/>
                <a:ea typeface="Nimbus Sans"/>
                <a:cs typeface="Nimbus Sans"/>
              </a:defRPr>
            </a:pPr>
            <a:r>
              <a:rPr sz="1500">
                <a:solidFill>
                  <a:srgbClr val="20282E"/>
                </a:solidFill>
                <a:latin typeface="Nimbus Sans"/>
                <a:ea typeface="Nimbus Sans"/>
                <a:cs typeface="Nimbus Sans"/>
              </a:rPr>
              <a:t>HTML report plus trace or screenshot evidence</a:t>
            </a:r>
          </a:p>
          <a:p>
            <a:pPr marL="228600" indent="-114300">
              <a:lnSpc>
                <a:spcPct val="104000"/>
              </a:lnSpc>
              <a:spcAft>
                <a:spcPts val="900"/>
              </a:spcAft>
              <a:buNone/>
              <a:defRPr sz="1500">
                <a:solidFill>
                  <a:srgbClr val="20282E"/>
                </a:solidFill>
                <a:latin typeface="Nimbus Sans"/>
                <a:ea typeface="Nimbus Sans"/>
                <a:cs typeface="Nimbus Sans"/>
              </a:defRPr>
            </a:pPr>
            <a:r>
              <a:rPr sz="1500">
                <a:solidFill>
                  <a:srgbClr val="20282E"/>
                </a:solidFill>
                <a:latin typeface="Nimbus Sans"/>
                <a:ea typeface="Nimbus Sans"/>
                <a:cs typeface="Nimbus Sans"/>
              </a:rPr>
              <a:t>CI execution proof, or a review-ready pipeline change if access is blocked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DB9914F-2C7D-4294-9666-7406C33AF6A1}"/>
              </a:ext>
            </a:extLst>
          </p:cNvPr>
          <p:cNvSpPr>
            <a:spLocks noGrp="1"/>
          </p:cNvSpPr>
          <p:nvPr/>
        </p:nvSpPr>
        <p:spPr>
          <a:xfrm>
            <a:off x="6191250" y="3067050"/>
            <a:ext cx="19050" cy="2705100"/>
          </a:xfrm>
          <a:prstGeom prst="rect">
            <a:avLst/>
          </a:prstGeom>
          <a:solidFill>
            <a:srgbClr val="E9A923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6727D4C-8FEE-4902-94C6-3A0F9390B737}"/>
              </a:ext>
            </a:extLst>
          </p:cNvPr>
          <p:cNvSpPr>
            <a:spLocks noGrp="1"/>
          </p:cNvSpPr>
          <p:nvPr/>
        </p:nvSpPr>
        <p:spPr>
          <a:xfrm>
            <a:off x="6543675" y="30670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125" b="1" i="0">
                <a:solidFill>
                  <a:srgbClr val="D71920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D71920"/>
                </a:solidFill>
                <a:latin typeface="Nimbus Sans"/>
                <a:ea typeface="Nimbus Sans"/>
                <a:cs typeface="Nimbus Sans"/>
              </a:rPr>
              <a:t>TOOL BOUNDARY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80ACF63-1472-4E03-A312-B2C2DA911D82}"/>
              </a:ext>
            </a:extLst>
          </p:cNvPr>
          <p:cNvSpPr>
            <a:spLocks noGrp="1"/>
          </p:cNvSpPr>
          <p:nvPr/>
        </p:nvSpPr>
        <p:spPr>
          <a:xfrm>
            <a:off x="6543675" y="3438525"/>
            <a:ext cx="1762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650" b="1" i="0">
                <a:solidFill>
                  <a:srgbClr val="20282E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20282E"/>
                </a:solidFill>
                <a:latin typeface="Nimbus Sans"/>
                <a:ea typeface="Nimbus Sans"/>
                <a:cs typeface="Nimbus Sans"/>
              </a:rPr>
              <a:t>Playwright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BB79AC2-D7DC-46EF-9A22-E36C6C9FF618}"/>
              </a:ext>
            </a:extLst>
          </p:cNvPr>
          <p:cNvSpPr>
            <a:spLocks noGrp="1"/>
          </p:cNvSpPr>
          <p:nvPr/>
        </p:nvSpPr>
        <p:spPr>
          <a:xfrm>
            <a:off x="6543675" y="3781425"/>
            <a:ext cx="4572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35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rPr>
              <a:t>RDP web, responsive browser coverage and mobile-browser emulation. Android Chrome and WebView support remains experimental.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958D0F8-37F0-43BF-8594-4C8FC830A493}"/>
              </a:ext>
            </a:extLst>
          </p:cNvPr>
          <p:cNvSpPr>
            <a:spLocks noGrp="1"/>
          </p:cNvSpPr>
          <p:nvPr/>
        </p:nvSpPr>
        <p:spPr>
          <a:xfrm>
            <a:off x="6543675" y="46482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650" b="1" i="0">
                <a:solidFill>
                  <a:srgbClr val="20282E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20282E"/>
                </a:solidFill>
                <a:latin typeface="Nimbus Sans"/>
                <a:ea typeface="Nimbus Sans"/>
                <a:cs typeface="Nimbus Sans"/>
              </a:rPr>
              <a:t>Native RSA mobile app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7A58BFA-EA50-4A5D-A8E0-3A83E53A8842}"/>
              </a:ext>
            </a:extLst>
          </p:cNvPr>
          <p:cNvSpPr>
            <a:spLocks noGrp="1"/>
          </p:cNvSpPr>
          <p:nvPr/>
        </p:nvSpPr>
        <p:spPr>
          <a:xfrm>
            <a:off x="6543675" y="4991100"/>
            <a:ext cx="447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35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rPr>
              <a:t>Record a separate framework decision based on the app technology and required device coverage.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5FB35DC-FAD2-475E-95D8-DE7DD04D0281}"/>
              </a:ext>
            </a:extLst>
          </p:cNvPr>
          <p:cNvSpPr>
            <a:spLocks noGrp="1"/>
          </p:cNvSpPr>
          <p:nvPr/>
        </p:nvSpPr>
        <p:spPr>
          <a:xfrm>
            <a:off x="685800" y="5876925"/>
            <a:ext cx="1028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350" b="1" i="0">
                <a:solidFill>
                  <a:srgbClr val="16384B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16384B"/>
                </a:solidFill>
                <a:latin typeface="Nimbus Sans"/>
                <a:ea typeface="Nimbus Sans"/>
                <a:cs typeface="Nimbus Sans"/>
              </a:rPr>
              <a:t>AI-assisted authoring uses an approved tool only. No client data, secrets or unreviewed generated code enter the test suite.</a:t>
            </a:r>
          </a:p>
        </p:txBody>
      </p:sp>
    </p:spTree>
    <p:extLst>
      <p:ext uri="{BB962C8B-B14F-4D97-AF65-F5344CB8AC3E}">
        <p14:creationId xmlns:p14="http://schemas.microsoft.com/office/powerpoint/2010/main" val="718077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accent-8">
            <a:extLst>
              <a:ext uri="{FF2B5EF4-FFF2-40B4-BE49-F238E27FC236}">
                <a16:creationId xmlns:a16="http://schemas.microsoft.com/office/drawing/2014/main" id="{78150CF0-901E-4112-B023-B0B407A6D5BA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76200" cy="514350"/>
          </a:xfrm>
          <a:prstGeom prst="rect">
            <a:avLst/>
          </a:prstGeom>
          <a:solidFill>
            <a:srgbClr val="D71920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" name="title-8">
            <a:extLst>
              <a:ext uri="{FF2B5EF4-FFF2-40B4-BE49-F238E27FC236}">
                <a16:creationId xmlns:a16="http://schemas.microsoft.com/office/drawing/2014/main" id="{4086ED36-48AF-4719-B447-D71464DA6537}"/>
              </a:ext>
            </a:extLst>
          </p:cNvPr>
          <p:cNvSpPr>
            <a:spLocks noGrp="1"/>
          </p:cNvSpPr>
          <p:nvPr/>
        </p:nvSpPr>
        <p:spPr>
          <a:xfrm>
            <a:off x="857250" y="400050"/>
            <a:ext cx="8667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3150" b="1" i="0">
                <a:solidFill>
                  <a:srgbClr val="20282E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 i="0">
                <a:solidFill>
                  <a:srgbClr val="20282E"/>
                </a:solidFill>
                <a:latin typeface="Nimbus Sans"/>
                <a:ea typeface="Nimbus Sans"/>
                <a:cs typeface="Nimbus Sans"/>
              </a:rPr>
              <a:t>Day 3: RDP selective rollout architecture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154CA9-EF65-493E-974C-6248A9CF2EBD}"/>
              </a:ext>
            </a:extLst>
          </p:cNvPr>
          <p:cNvSpPr>
            <a:spLocks noGrp="1"/>
          </p:cNvSpPr>
          <p:nvPr/>
        </p:nvSpPr>
        <p:spPr>
          <a:xfrm>
            <a:off x="876300" y="962025"/>
            <a:ext cx="885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35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rPr>
              <a:t>Separate code delivery from per-client activation and operational control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386310" y="333375"/>
            <a:ext cx="1134880" cy="4381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EAE55BE-6C38-43B1-AE45-A8C0AC9CD48A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19050"/>
          </a:xfrm>
          <a:prstGeom prst="rect">
            <a:avLst/>
          </a:prstGeom>
          <a:solidFill>
            <a:srgbClr val="D7DDE1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280C68-1DFB-4EA0-A8E7-490A14C90F5A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181100" cy="38100"/>
          </a:xfrm>
          <a:prstGeom prst="rect">
            <a:avLst/>
          </a:prstGeom>
          <a:solidFill>
            <a:srgbClr val="D71920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7D14FF-9126-4964-96DB-C3BAD07EB803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10972800" cy="9525"/>
          </a:xfrm>
          <a:prstGeom prst="rect">
            <a:avLst/>
          </a:prstGeom>
          <a:solidFill>
            <a:srgbClr val="D7DDE1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D6C33D-EB06-4E16-B6AA-944A676115EF}"/>
              </a:ext>
            </a:extLst>
          </p:cNvPr>
          <p:cNvSpPr>
            <a:spLocks noGrp="1"/>
          </p:cNvSpPr>
          <p:nvPr/>
        </p:nvSpPr>
        <p:spPr>
          <a:xfrm>
            <a:off x="609600" y="6562725"/>
            <a:ext cx="3143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825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defRPr>
            </a:pPr>
            <a:r>
              <a:rPr sz="825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rPr>
              <a:t>CONFIDENTIAL &amp; PROPRIETARY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38A10C-CA84-4043-B296-D9B86290682F}"/>
              </a:ext>
            </a:extLst>
          </p:cNvPr>
          <p:cNvSpPr>
            <a:spLocks noGrp="1"/>
          </p:cNvSpPr>
          <p:nvPr/>
        </p:nvSpPr>
        <p:spPr>
          <a:xfrm>
            <a:off x="11144250" y="6553200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90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defRPr>
            </a:pPr>
            <a:r>
              <a:rPr sz="90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rPr>
              <a:t>08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6F14E7-6DD3-419B-8AF9-16CAC442C46A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125" b="1" i="0">
                <a:solidFill>
                  <a:srgbClr val="0E6B78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0E6B78"/>
                </a:solidFill>
                <a:latin typeface="Nimbus Sans"/>
                <a:ea typeface="Nimbus Sans"/>
                <a:cs typeface="Nimbus Sans"/>
              </a:rPr>
              <a:t>RELEASE PATH</a:t>
            </a:r>
          </a:p>
        </p:txBody>
      </p:sp>
      <p:sp>
        <p:nvSpPr>
          <p:cNvPr id="11" name="rdp-shared-code">
            <a:extLst>
              <a:ext uri="{FF2B5EF4-FFF2-40B4-BE49-F238E27FC236}">
                <a16:creationId xmlns:a16="http://schemas.microsoft.com/office/drawing/2014/main" id="{8020C24E-2EAF-475F-A993-71937B18F7C5}"/>
              </a:ext>
            </a:extLst>
          </p:cNvPr>
          <p:cNvSpPr>
            <a:spLocks noGrp="1"/>
          </p:cNvSpPr>
          <p:nvPr/>
        </p:nvSpPr>
        <p:spPr>
          <a:xfrm>
            <a:off x="685800" y="1962150"/>
            <a:ext cx="2000250" cy="723900"/>
          </a:xfrm>
          <a:prstGeom prst="roundRect">
            <a:avLst>
              <a:gd name="adj" fmla="val 15789"/>
            </a:avLst>
          </a:prstGeom>
          <a:solidFill>
            <a:srgbClr val="EAF3F5"/>
          </a:solidFill>
          <a:ln w="9525">
            <a:solidFill>
              <a:srgbClr val="0E6B78"/>
            </a:solidFill>
            <a:prstDash val="solid"/>
          </a:ln>
        </p:spPr>
        <p:txBody>
          <a:bodyPr wrap="square" lIns="76200" tIns="76200" rIns="76200" bIns="76200" anchor="ctr">
            <a:normAutofit/>
          </a:bodyPr>
          <a:lstStyle/>
          <a:p>
            <a:pPr algn="ctr">
              <a:defRPr sz="1500" b="1">
                <a:solidFill>
                  <a:srgbClr val="20282E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20282E"/>
                </a:solidFill>
                <a:latin typeface="Nimbus Sans"/>
                <a:ea typeface="Nimbus Sans"/>
                <a:cs typeface="Nimbus Sans"/>
              </a:rPr>
              <a:t>Shared base</a:t>
            </a:r>
          </a:p>
          <a:p>
            <a:pPr algn="ctr">
              <a:defRPr sz="1500" b="1">
                <a:solidFill>
                  <a:srgbClr val="20282E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20282E"/>
                </a:solidFill>
                <a:latin typeface="Nimbus Sans"/>
                <a:ea typeface="Nimbus Sans"/>
                <a:cs typeface="Nimbus Sans"/>
              </a:rPr>
              <a:t>code</a:t>
            </a:r>
          </a:p>
        </p:txBody>
      </p:sp>
      <p:sp>
        <p:nvSpPr>
          <p:cNvPr id="12" name="rdp-image">
            <a:extLst>
              <a:ext uri="{FF2B5EF4-FFF2-40B4-BE49-F238E27FC236}">
                <a16:creationId xmlns:a16="http://schemas.microsoft.com/office/drawing/2014/main" id="{FD9D8142-B98C-4B90-B473-EE43A6ADE4AC}"/>
              </a:ext>
            </a:extLst>
          </p:cNvPr>
          <p:cNvSpPr>
            <a:spLocks noGrp="1"/>
          </p:cNvSpPr>
          <p:nvPr/>
        </p:nvSpPr>
        <p:spPr>
          <a:xfrm>
            <a:off x="3333750" y="1962150"/>
            <a:ext cx="2190750" cy="723900"/>
          </a:xfrm>
          <a:prstGeom prst="roundRect">
            <a:avLst>
              <a:gd name="adj" fmla="val 15789"/>
            </a:avLst>
          </a:prstGeom>
          <a:solidFill>
            <a:srgbClr val="FFF6DE"/>
          </a:solidFill>
          <a:ln w="9525">
            <a:solidFill>
              <a:srgbClr val="E9A923"/>
            </a:solidFill>
            <a:prstDash val="solid"/>
          </a:ln>
        </p:spPr>
        <p:txBody>
          <a:bodyPr wrap="square" lIns="76200" tIns="76200" rIns="76200" bIns="76200" anchor="ctr">
            <a:normAutofit/>
          </a:bodyPr>
          <a:lstStyle/>
          <a:p>
            <a:pPr algn="ctr">
              <a:defRPr sz="1500" b="1">
                <a:solidFill>
                  <a:srgbClr val="20282E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20282E"/>
                </a:solidFill>
                <a:latin typeface="Nimbus Sans"/>
                <a:ea typeface="Nimbus Sans"/>
                <a:cs typeface="Nimbus Sans"/>
              </a:rPr>
              <a:t>Immutable image</a:t>
            </a:r>
          </a:p>
          <a:p>
            <a:pPr algn="ctr">
              <a:defRPr sz="1500" b="1">
                <a:solidFill>
                  <a:srgbClr val="20282E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20282E"/>
                </a:solidFill>
                <a:latin typeface="Nimbus Sans"/>
                <a:ea typeface="Nimbus Sans"/>
                <a:cs typeface="Nimbus Sans"/>
              </a:rPr>
              <a:t>+ release manifest</a:t>
            </a:r>
          </a:p>
        </p:txBody>
      </p:sp>
      <p:sp>
        <p:nvSpPr>
          <p:cNvPr id="13" name="rdp-deploy">
            <a:extLst>
              <a:ext uri="{FF2B5EF4-FFF2-40B4-BE49-F238E27FC236}">
                <a16:creationId xmlns:a16="http://schemas.microsoft.com/office/drawing/2014/main" id="{BB7DE73E-A595-405D-996D-27CAAFB4CCAE}"/>
              </a:ext>
            </a:extLst>
          </p:cNvPr>
          <p:cNvSpPr>
            <a:spLocks noGrp="1"/>
          </p:cNvSpPr>
          <p:nvPr/>
        </p:nvSpPr>
        <p:spPr>
          <a:xfrm>
            <a:off x="6172200" y="1962150"/>
            <a:ext cx="2190750" cy="723900"/>
          </a:xfrm>
          <a:prstGeom prst="roundRect">
            <a:avLst>
              <a:gd name="adj" fmla="val 15789"/>
            </a:avLst>
          </a:prstGeom>
          <a:solidFill>
            <a:srgbClr val="EAF3F5"/>
          </a:solidFill>
          <a:ln w="9525">
            <a:solidFill>
              <a:srgbClr val="0E6B78"/>
            </a:solidFill>
            <a:prstDash val="solid"/>
          </a:ln>
        </p:spPr>
        <p:txBody>
          <a:bodyPr wrap="square" lIns="76200" tIns="76200" rIns="76200" bIns="76200" anchor="ctr">
            <a:normAutofit/>
          </a:bodyPr>
          <a:lstStyle/>
          <a:p>
            <a:pPr algn="ctr">
              <a:defRPr sz="1500" b="1">
                <a:solidFill>
                  <a:srgbClr val="20282E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20282E"/>
                </a:solidFill>
                <a:latin typeface="Nimbus Sans"/>
                <a:ea typeface="Nimbus Sans"/>
                <a:cs typeface="Nimbus Sans"/>
              </a:rPr>
              <a:t>Deploy to selected</a:t>
            </a:r>
          </a:p>
          <a:p>
            <a:pPr algn="ctr">
              <a:defRPr sz="1500" b="1">
                <a:solidFill>
                  <a:srgbClr val="20282E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20282E"/>
                </a:solidFill>
                <a:latin typeface="Nimbus Sans"/>
                <a:ea typeface="Nimbus Sans"/>
                <a:cs typeface="Nimbus Sans"/>
              </a:rPr>
              <a:t>ECS services</a:t>
            </a:r>
          </a:p>
        </p:txBody>
      </p:sp>
      <p:sp>
        <p:nvSpPr>
          <p:cNvPr id="14" name="rdp-ready">
            <a:extLst>
              <a:ext uri="{FF2B5EF4-FFF2-40B4-BE49-F238E27FC236}">
                <a16:creationId xmlns:a16="http://schemas.microsoft.com/office/drawing/2014/main" id="{69F9CA9D-4144-4255-9E01-C2665928E730}"/>
              </a:ext>
            </a:extLst>
          </p:cNvPr>
          <p:cNvSpPr>
            <a:spLocks noGrp="1"/>
          </p:cNvSpPr>
          <p:nvPr/>
        </p:nvSpPr>
        <p:spPr>
          <a:xfrm>
            <a:off x="9010650" y="1962150"/>
            <a:ext cx="2343150" cy="723900"/>
          </a:xfrm>
          <a:prstGeom prst="roundRect">
            <a:avLst>
              <a:gd name="adj" fmla="val 15789"/>
            </a:avLst>
          </a:prstGeom>
          <a:solidFill>
            <a:srgbClr val="FCEBEC"/>
          </a:solidFill>
          <a:ln w="9525">
            <a:solidFill>
              <a:srgbClr val="D71920"/>
            </a:solidFill>
            <a:prstDash val="solid"/>
          </a:ln>
        </p:spPr>
        <p:txBody>
          <a:bodyPr wrap="square" lIns="76200" tIns="76200" rIns="76200" bIns="76200" anchor="ctr">
            <a:normAutofit/>
          </a:bodyPr>
          <a:lstStyle/>
          <a:p>
            <a:pPr algn="ctr">
              <a:defRPr sz="1500" b="1">
                <a:solidFill>
                  <a:srgbClr val="20282E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20282E"/>
                </a:solidFill>
                <a:latin typeface="Nimbus Sans"/>
                <a:ea typeface="Nimbus Sans"/>
                <a:cs typeface="Nimbus Sans"/>
              </a:rPr>
              <a:t>Version + migration</a:t>
            </a:r>
          </a:p>
          <a:p>
            <a:pPr algn="ctr">
              <a:defRPr sz="1500" b="1">
                <a:solidFill>
                  <a:srgbClr val="20282E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20282E"/>
                </a:solidFill>
                <a:latin typeface="Nimbus Sans"/>
                <a:ea typeface="Nimbus Sans"/>
                <a:cs typeface="Nimbus Sans"/>
              </a:rPr>
              <a:t>compatibility check</a:t>
            </a:r>
          </a:p>
        </p:txBody>
      </p:sp>
      <p:cxnSp>
        <p:nvCxnSpPr>
          <p:cNvPr id="42" name="Straight Arrow Connector 41"/>
          <p:cNvCxnSpPr>
            <a:stCxn id="11" idx="3"/>
            <a:endCxn id="12" idx="1"/>
          </p:cNvCxnSpPr>
          <p:nvPr/>
        </p:nvCxnSpPr>
        <p:spPr>
          <a:xfrm>
            <a:off x="2686050" y="2324100"/>
            <a:ext cx="647700" cy="0"/>
          </a:xfrm>
          <a:prstGeom prst="straightConnector1">
            <a:avLst/>
          </a:prstGeom>
          <a:ln w="19050">
            <a:solidFill>
              <a:srgbClr val="A9B2B8"/>
            </a:solidFill>
            <a:prstDash val="solid"/>
            <a:tailEnd type="triangle" w="sm" len="sm"/>
          </a:ln>
        </p:spPr>
      </p:cxnSp>
      <p:cxnSp>
        <p:nvCxnSpPr>
          <p:cNvPr id="43" name="Straight Arrow Connector 42"/>
          <p:cNvCxnSpPr>
            <a:stCxn id="12" idx="3"/>
            <a:endCxn id="13" idx="1"/>
          </p:cNvCxnSpPr>
          <p:nvPr/>
        </p:nvCxnSpPr>
        <p:spPr>
          <a:xfrm>
            <a:off x="5524500" y="2324100"/>
            <a:ext cx="647700" cy="0"/>
          </a:xfrm>
          <a:prstGeom prst="straightConnector1">
            <a:avLst/>
          </a:prstGeom>
          <a:ln w="19050">
            <a:solidFill>
              <a:srgbClr val="A9B2B8"/>
            </a:solidFill>
            <a:prstDash val="solid"/>
            <a:tailEnd type="triangle" w="sm" len="sm"/>
          </a:ln>
        </p:spPr>
      </p:cxnSp>
      <p:cxnSp>
        <p:nvCxnSpPr>
          <p:cNvPr id="44" name="Straight Arrow Connector 43"/>
          <p:cNvCxnSpPr>
            <a:stCxn id="13" idx="3"/>
            <a:endCxn id="14" idx="1"/>
          </p:cNvCxnSpPr>
          <p:nvPr/>
        </p:nvCxnSpPr>
        <p:spPr>
          <a:xfrm>
            <a:off x="8362950" y="2324100"/>
            <a:ext cx="647700" cy="0"/>
          </a:xfrm>
          <a:prstGeom prst="straightConnector1">
            <a:avLst/>
          </a:prstGeom>
          <a:ln w="19050">
            <a:solidFill>
              <a:srgbClr val="A9B2B8"/>
            </a:solidFill>
            <a:prstDash val="solid"/>
            <a:tailEnd type="triangle" w="sm" len="sm"/>
          </a:ln>
        </p:spPr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7D23A1A6-7334-4F02-B473-81F44314696B}"/>
              </a:ext>
            </a:extLst>
          </p:cNvPr>
          <p:cNvSpPr>
            <a:spLocks noGrp="1"/>
          </p:cNvSpPr>
          <p:nvPr/>
        </p:nvSpPr>
        <p:spPr>
          <a:xfrm>
            <a:off x="685800" y="3238500"/>
            <a:ext cx="2952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125" b="1" i="0">
                <a:solidFill>
                  <a:srgbClr val="D71920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D71920"/>
                </a:solidFill>
                <a:latin typeface="Nimbus Sans"/>
                <a:ea typeface="Nimbus Sans"/>
                <a:cs typeface="Nimbus Sans"/>
              </a:rPr>
              <a:t>ACTIVATION AND CONTROL</a:t>
            </a:r>
          </a:p>
        </p:txBody>
      </p:sp>
      <p:sp>
        <p:nvSpPr>
          <p:cNvPr id="19" name="rdp-registry">
            <a:extLst>
              <a:ext uri="{FF2B5EF4-FFF2-40B4-BE49-F238E27FC236}">
                <a16:creationId xmlns:a16="http://schemas.microsoft.com/office/drawing/2014/main" id="{65818475-C64A-4762-A40E-C2034221DAB7}"/>
              </a:ext>
            </a:extLst>
          </p:cNvPr>
          <p:cNvSpPr>
            <a:spLocks noGrp="1"/>
          </p:cNvSpPr>
          <p:nvPr/>
        </p:nvSpPr>
        <p:spPr>
          <a:xfrm>
            <a:off x="1381125" y="3600450"/>
            <a:ext cx="2619375" cy="800100"/>
          </a:xfrm>
          <a:prstGeom prst="roundRect">
            <a:avLst>
              <a:gd name="adj" fmla="val 14286"/>
            </a:avLst>
          </a:prstGeom>
          <a:solidFill>
            <a:srgbClr val="F4F6F7"/>
          </a:solidFill>
          <a:ln w="9525">
            <a:solidFill>
              <a:srgbClr val="A9B2B8"/>
            </a:solidFill>
            <a:prstDash val="solid"/>
          </a:ln>
        </p:spPr>
        <p:txBody>
          <a:bodyPr wrap="square" lIns="76200" tIns="76200" rIns="76200" bIns="76200" anchor="ctr">
            <a:normAutofit fontScale="94090"/>
          </a:bodyPr>
          <a:lstStyle/>
          <a:p>
            <a:pPr algn="ctr">
              <a:defRPr sz="1350" b="1">
                <a:solidFill>
                  <a:srgbClr val="20282E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20282E"/>
                </a:solidFill>
                <a:latin typeface="Nimbus Sans"/>
                <a:ea typeface="Nimbus Sans"/>
                <a:cs typeface="Nimbus Sans"/>
              </a:rPr>
              <a:t>Client capability registry</a:t>
            </a:r>
          </a:p>
          <a:p>
            <a:pPr algn="ctr">
              <a:defRPr sz="1350" b="1">
                <a:solidFill>
                  <a:srgbClr val="20282E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20282E"/>
                </a:solidFill>
                <a:latin typeface="Nimbus Sans"/>
                <a:ea typeface="Nimbus Sans"/>
                <a:cs typeface="Nimbus Sans"/>
              </a:rPr>
              <a:t>version, code line, prerequisites</a:t>
            </a:r>
          </a:p>
        </p:txBody>
      </p:sp>
      <p:sp>
        <p:nvSpPr>
          <p:cNvPr id="20" name="rdp-flags">
            <a:extLst>
              <a:ext uri="{FF2B5EF4-FFF2-40B4-BE49-F238E27FC236}">
                <a16:creationId xmlns:a16="http://schemas.microsoft.com/office/drawing/2014/main" id="{B4EB978D-A5FD-4A1F-878E-261D021D7B03}"/>
              </a:ext>
            </a:extLst>
          </p:cNvPr>
          <p:cNvSpPr>
            <a:spLocks noGrp="1"/>
          </p:cNvSpPr>
          <p:nvPr/>
        </p:nvSpPr>
        <p:spPr>
          <a:xfrm>
            <a:off x="4791075" y="3600450"/>
            <a:ext cx="2619375" cy="800100"/>
          </a:xfrm>
          <a:prstGeom prst="roundRect">
            <a:avLst>
              <a:gd name="adj" fmla="val 14286"/>
            </a:avLst>
          </a:prstGeom>
          <a:solidFill>
            <a:srgbClr val="FCEBEC"/>
          </a:solidFill>
          <a:ln w="9525">
            <a:solidFill>
              <a:srgbClr val="D71920"/>
            </a:solidFill>
            <a:prstDash val="solid"/>
          </a:ln>
        </p:spPr>
        <p:txBody>
          <a:bodyPr wrap="square" lIns="76200" tIns="76200" rIns="76200" bIns="76200" anchor="ctr">
            <a:normAutofit/>
          </a:bodyPr>
          <a:lstStyle/>
          <a:p>
            <a:pPr algn="ctr">
              <a:defRPr sz="1500" b="1">
                <a:solidFill>
                  <a:srgbClr val="20282E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20282E"/>
                </a:solidFill>
                <a:latin typeface="Nimbus Sans"/>
                <a:ea typeface="Nimbus Sans"/>
                <a:cs typeface="Nimbus Sans"/>
              </a:rPr>
              <a:t>Per-client feature</a:t>
            </a:r>
          </a:p>
          <a:p>
            <a:pPr algn="ctr">
              <a:defRPr sz="1500" b="1">
                <a:solidFill>
                  <a:srgbClr val="20282E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20282E"/>
                </a:solidFill>
                <a:latin typeface="Nimbus Sans"/>
                <a:ea typeface="Nimbus Sans"/>
                <a:cs typeface="Nimbus Sans"/>
              </a:rPr>
              <a:t>configuration / flags</a:t>
            </a:r>
          </a:p>
        </p:txBody>
      </p:sp>
      <p:sp>
        <p:nvSpPr>
          <p:cNvPr id="21" name="rdp-observe">
            <a:extLst>
              <a:ext uri="{FF2B5EF4-FFF2-40B4-BE49-F238E27FC236}">
                <a16:creationId xmlns:a16="http://schemas.microsoft.com/office/drawing/2014/main" id="{5C625D4D-6F8C-4936-B301-F99E49A0B613}"/>
              </a:ext>
            </a:extLst>
          </p:cNvPr>
          <p:cNvSpPr>
            <a:spLocks noGrp="1"/>
          </p:cNvSpPr>
          <p:nvPr/>
        </p:nvSpPr>
        <p:spPr>
          <a:xfrm>
            <a:off x="8201025" y="3600450"/>
            <a:ext cx="2619375" cy="800100"/>
          </a:xfrm>
          <a:prstGeom prst="roundRect">
            <a:avLst>
              <a:gd name="adj" fmla="val 14286"/>
            </a:avLst>
          </a:prstGeom>
          <a:solidFill>
            <a:srgbClr val="EAF3F5"/>
          </a:solidFill>
          <a:ln w="9525">
            <a:solidFill>
              <a:srgbClr val="0E6B78"/>
            </a:solidFill>
            <a:prstDash val="solid"/>
          </a:ln>
        </p:spPr>
        <p:txBody>
          <a:bodyPr wrap="square" lIns="76200" tIns="76200" rIns="76200" bIns="76200" anchor="ctr">
            <a:normAutofit/>
          </a:bodyPr>
          <a:lstStyle/>
          <a:p>
            <a:pPr algn="ctr">
              <a:defRPr sz="1350" b="1">
                <a:solidFill>
                  <a:srgbClr val="20282E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20282E"/>
                </a:solidFill>
                <a:latin typeface="Nimbus Sans"/>
                <a:ea typeface="Nimbus Sans"/>
                <a:cs typeface="Nimbus Sans"/>
              </a:rPr>
              <a:t>Client + feature metrics</a:t>
            </a:r>
          </a:p>
          <a:p>
            <a:pPr algn="ctr">
              <a:defRPr sz="1350" b="1">
                <a:solidFill>
                  <a:srgbClr val="20282E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20282E"/>
                </a:solidFill>
                <a:latin typeface="Nimbus Sans"/>
                <a:ea typeface="Nimbus Sans"/>
                <a:cs typeface="Nimbus Sans"/>
              </a:rPr>
              <a:t>disable or task rollback</a:t>
            </a:r>
          </a:p>
        </p:txBody>
      </p:sp>
      <p:cxnSp>
        <p:nvCxnSpPr>
          <p:cNvPr id="49" name="Straight Arrow Connector 48"/>
          <p:cNvCxnSpPr>
            <a:stCxn id="19" idx="3"/>
            <a:endCxn id="20" idx="1"/>
          </p:cNvCxnSpPr>
          <p:nvPr/>
        </p:nvCxnSpPr>
        <p:spPr>
          <a:xfrm>
            <a:off x="4000500" y="4000500"/>
            <a:ext cx="790575" cy="0"/>
          </a:xfrm>
          <a:prstGeom prst="straightConnector1">
            <a:avLst/>
          </a:prstGeom>
          <a:ln w="19050">
            <a:solidFill>
              <a:srgbClr val="A9B2B8"/>
            </a:solidFill>
            <a:prstDash val="solid"/>
            <a:tailEnd type="triangle" w="sm" len="sm"/>
          </a:ln>
        </p:spPr>
      </p:cxnSp>
      <p:cxnSp>
        <p:nvCxnSpPr>
          <p:cNvPr id="50" name="Straight Arrow Connector 49"/>
          <p:cNvCxnSpPr>
            <a:stCxn id="20" idx="3"/>
            <a:endCxn id="21" idx="1"/>
          </p:cNvCxnSpPr>
          <p:nvPr/>
        </p:nvCxnSpPr>
        <p:spPr>
          <a:xfrm>
            <a:off x="7410450" y="4000500"/>
            <a:ext cx="790575" cy="0"/>
          </a:xfrm>
          <a:prstGeom prst="straightConnector1">
            <a:avLst/>
          </a:prstGeom>
          <a:ln w="19050">
            <a:solidFill>
              <a:srgbClr val="A9B2B8"/>
            </a:solidFill>
            <a:prstDash val="solid"/>
            <a:tailEnd type="triangle" w="sm" len="sm"/>
          </a:ln>
        </p:spPr>
      </p:cxnSp>
      <p:cxnSp>
        <p:nvCxnSpPr>
          <p:cNvPr id="51" name="Connector: Elbow 50"/>
          <p:cNvCxnSpPr>
            <a:stCxn id="19" idx="0"/>
            <a:endCxn id="13" idx="2"/>
          </p:cNvCxnSpPr>
          <p:nvPr/>
        </p:nvCxnSpPr>
        <p:spPr>
          <a:xfrm flipV="1">
            <a:off x="2690813" y="2686050"/>
            <a:ext cx="4576763" cy="914400"/>
          </a:xfrm>
          <a:prstGeom prst="bentConnector4">
            <a:avLst>
              <a:gd name="adj1" fmla="val 0"/>
              <a:gd name="adj2" fmla="val 50000"/>
            </a:avLst>
          </a:prstGeom>
          <a:ln w="14288">
            <a:solidFill>
              <a:srgbClr val="A9B2B8"/>
            </a:solidFill>
            <a:prstDash val="dash"/>
            <a:tailEnd type="arrow" w="sm" len="sm"/>
          </a:ln>
        </p:spPr>
      </p:cxnSp>
      <p:cxnSp>
        <p:nvCxnSpPr>
          <p:cNvPr id="52" name="Connector: Elbow 51"/>
          <p:cNvCxnSpPr>
            <a:stCxn id="14" idx="2"/>
            <a:endCxn id="20" idx="0"/>
          </p:cNvCxnSpPr>
          <p:nvPr/>
        </p:nvCxnSpPr>
        <p:spPr>
          <a:xfrm flipH="1">
            <a:off x="6100763" y="2686050"/>
            <a:ext cx="4081463" cy="9144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D71920"/>
            </a:solidFill>
            <a:prstDash val="solid"/>
            <a:tailEnd type="triangle" w="sm" len="sm"/>
          </a:ln>
        </p:spPr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0B21CB5-BC6E-4FC9-AD28-F1375FD472CB}"/>
              </a:ext>
            </a:extLst>
          </p:cNvPr>
          <p:cNvSpPr>
            <a:spLocks noGrp="1"/>
          </p:cNvSpPr>
          <p:nvPr/>
        </p:nvSpPr>
        <p:spPr>
          <a:xfrm>
            <a:off x="857250" y="4857750"/>
            <a:ext cx="10477500" cy="628650"/>
          </a:xfrm>
          <a:prstGeom prst="roundRect">
            <a:avLst>
              <a:gd name="adj" fmla="val 15152"/>
            </a:avLst>
          </a:prstGeom>
          <a:solidFill>
            <a:srgbClr val="FCEBEC"/>
          </a:solidFill>
          <a:ln w="9525">
            <a:solidFill>
              <a:srgbClr val="D71920"/>
            </a:solidFill>
            <a:prstDash val="solid"/>
          </a:ln>
        </p:spPr>
        <p:txBody>
          <a:bodyPr wrap="square" lIns="152400" tIns="95250" rIns="152400" bIns="9525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725" b="1" i="0">
                <a:solidFill>
                  <a:srgbClr val="A8141A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 i="0">
                <a:solidFill>
                  <a:srgbClr val="A8141A"/>
                </a:solidFill>
                <a:latin typeface="Nimbus Sans"/>
                <a:ea typeface="Nimbus Sans"/>
                <a:cs typeface="Nimbus Sans"/>
              </a:rPr>
              <a:t>Feature flags activate code that already exists in the deployed version. A forked or custom site must receive compatible code before activation.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C9B746-9647-4526-8BCC-20C1FBA706B7}"/>
              </a:ext>
            </a:extLst>
          </p:cNvPr>
          <p:cNvSpPr>
            <a:spLocks noGrp="1"/>
          </p:cNvSpPr>
          <p:nvPr/>
        </p:nvSpPr>
        <p:spPr>
          <a:xfrm>
            <a:off x="857250" y="5724525"/>
            <a:ext cx="10382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425" b="0" i="0">
                <a:solidFill>
                  <a:srgbClr val="16384B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16384B"/>
                </a:solidFill>
                <a:latin typeface="Nimbus Sans"/>
                <a:ea typeface="Nimbus Sans"/>
                <a:cs typeface="Nimbus Sans"/>
              </a:rPr>
              <a:t>Workshop artifacts: client capability matrix, deployment manifest fields, backward-compatible migration rule, ADR and rollback runbook.</a:t>
            </a:r>
          </a:p>
        </p:txBody>
      </p:sp>
    </p:spTree>
    <p:extLst>
      <p:ext uri="{BB962C8B-B14F-4D97-AF65-F5344CB8AC3E}">
        <p14:creationId xmlns:p14="http://schemas.microsoft.com/office/powerpoint/2010/main" val="433340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accent-9">
            <a:extLst>
              <a:ext uri="{FF2B5EF4-FFF2-40B4-BE49-F238E27FC236}">
                <a16:creationId xmlns:a16="http://schemas.microsoft.com/office/drawing/2014/main" id="{EC848AD5-17EE-461F-92E5-4518308618BC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76200" cy="514350"/>
          </a:xfrm>
          <a:prstGeom prst="rect">
            <a:avLst/>
          </a:prstGeom>
          <a:solidFill>
            <a:srgbClr val="D71920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" name="title-9">
            <a:extLst>
              <a:ext uri="{FF2B5EF4-FFF2-40B4-BE49-F238E27FC236}">
                <a16:creationId xmlns:a16="http://schemas.microsoft.com/office/drawing/2014/main" id="{AE6F4F9B-2006-4F7D-8E50-8E23CEFF264D}"/>
              </a:ext>
            </a:extLst>
          </p:cNvPr>
          <p:cNvSpPr>
            <a:spLocks noGrp="1"/>
          </p:cNvSpPr>
          <p:nvPr/>
        </p:nvSpPr>
        <p:spPr>
          <a:xfrm>
            <a:off x="857250" y="400050"/>
            <a:ext cx="8667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3150" b="1" i="0">
                <a:solidFill>
                  <a:srgbClr val="20282E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 i="0">
                <a:solidFill>
                  <a:srgbClr val="20282E"/>
                </a:solidFill>
                <a:latin typeface="Nimbus Sans"/>
                <a:ea typeface="Nimbus Sans"/>
                <a:cs typeface="Nimbus Sans"/>
              </a:rPr>
              <a:t>Day 3: engineering AI governance package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0D7712-196A-4552-9542-64A82CD7C436}"/>
              </a:ext>
            </a:extLst>
          </p:cNvPr>
          <p:cNvSpPr>
            <a:spLocks noGrp="1"/>
          </p:cNvSpPr>
          <p:nvPr/>
        </p:nvSpPr>
        <p:spPr>
          <a:xfrm>
            <a:off x="876300" y="962025"/>
            <a:ext cx="885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35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rPr>
              <a:t>Progress the appraisal objective through a review-ready model and one low-risk pilot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386310" y="333375"/>
            <a:ext cx="1134880" cy="4381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CD97B0B-45D0-4785-8E8D-499E9BED6E02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19050"/>
          </a:xfrm>
          <a:prstGeom prst="rect">
            <a:avLst/>
          </a:prstGeom>
          <a:solidFill>
            <a:srgbClr val="D7DDE1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A03524-1E50-410E-933B-48ECFB66807F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181100" cy="38100"/>
          </a:xfrm>
          <a:prstGeom prst="rect">
            <a:avLst/>
          </a:prstGeom>
          <a:solidFill>
            <a:srgbClr val="D71920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A304C4-4BE1-4C70-88C8-E9AC20C7C3FF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10972800" cy="9525"/>
          </a:xfrm>
          <a:prstGeom prst="rect">
            <a:avLst/>
          </a:prstGeom>
          <a:solidFill>
            <a:srgbClr val="D7DDE1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C3BFFA-AF10-4AE8-8129-5C58B0BE7380}"/>
              </a:ext>
            </a:extLst>
          </p:cNvPr>
          <p:cNvSpPr>
            <a:spLocks noGrp="1"/>
          </p:cNvSpPr>
          <p:nvPr/>
        </p:nvSpPr>
        <p:spPr>
          <a:xfrm>
            <a:off x="609600" y="6562725"/>
            <a:ext cx="3143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825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defRPr>
            </a:pPr>
            <a:r>
              <a:rPr sz="825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rPr>
              <a:t>CONFIDENTIAL &amp; PROPRIETARY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49FE88-33DE-4B38-B441-2CCB26A7975A}"/>
              </a:ext>
            </a:extLst>
          </p:cNvPr>
          <p:cNvSpPr>
            <a:spLocks noGrp="1"/>
          </p:cNvSpPr>
          <p:nvPr/>
        </p:nvSpPr>
        <p:spPr>
          <a:xfrm>
            <a:off x="11144250" y="6553200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90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defRPr>
            </a:pPr>
            <a:r>
              <a:rPr sz="90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rPr>
              <a:t>09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A66CD15-318B-418A-AC23-2E9ACB6FA02B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685800"/>
          </a:xfrm>
          <a:prstGeom prst="roundRect">
            <a:avLst>
              <a:gd name="adj" fmla="val 13889"/>
            </a:avLst>
          </a:prstGeom>
          <a:solidFill>
            <a:srgbClr val="16384B"/>
          </a:solidFill>
          <a:ln w="9525">
            <a:solidFill>
              <a:srgbClr val="16384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B27936-8C23-495D-8806-3BC3EAAC6B93}"/>
              </a:ext>
            </a:extLst>
          </p:cNvPr>
          <p:cNvSpPr>
            <a:spLocks noGrp="1"/>
          </p:cNvSpPr>
          <p:nvPr/>
        </p:nvSpPr>
        <p:spPr>
          <a:xfrm>
            <a:off x="914400" y="19050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6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GOVERN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E7E2C9-BCE6-452C-9E83-792A1A3AC3B6}"/>
              </a:ext>
            </a:extLst>
          </p:cNvPr>
          <p:cNvSpPr>
            <a:spLocks noGrp="1"/>
          </p:cNvSpPr>
          <p:nvPr/>
        </p:nvSpPr>
        <p:spPr>
          <a:xfrm>
            <a:off x="2400300" y="1895475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500" b="0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Named owner, approved tools, data boundary, documented review and escalation route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BC6DCA-F7D6-448E-87C5-92846B534D4E}"/>
              </a:ext>
            </a:extLst>
          </p:cNvPr>
          <p:cNvSpPr>
            <a:spLocks noGrp="1"/>
          </p:cNvSpPr>
          <p:nvPr/>
        </p:nvSpPr>
        <p:spPr>
          <a:xfrm>
            <a:off x="685800" y="27432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800" b="1" i="0">
                <a:solidFill>
                  <a:srgbClr val="0E6B78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 i="0">
                <a:solidFill>
                  <a:srgbClr val="0E6B78"/>
                </a:solidFill>
                <a:latin typeface="Nimbus Sans"/>
                <a:ea typeface="Nimbus Sans"/>
                <a:cs typeface="Nimbus Sans"/>
              </a:rPr>
              <a:t>MAP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E5B4D0F-39F9-4847-9906-1E0F2EBE7EBC}"/>
              </a:ext>
            </a:extLst>
          </p:cNvPr>
          <p:cNvSpPr>
            <a:spLocks noGrp="1"/>
          </p:cNvSpPr>
          <p:nvPr/>
        </p:nvSpPr>
        <p:spPr>
          <a:xfrm>
            <a:off x="685800" y="3209925"/>
            <a:ext cx="314325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rPr>
              <a:t>Define the use case, intended users, inputs and limitations. Classify data before any prompt or model access.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643607-7B59-4725-9BD5-6DF0A5BA81FC}"/>
              </a:ext>
            </a:extLst>
          </p:cNvPr>
          <p:cNvSpPr>
            <a:spLocks noGrp="1"/>
          </p:cNvSpPr>
          <p:nvPr/>
        </p:nvSpPr>
        <p:spPr>
          <a:xfrm>
            <a:off x="4124325" y="2781300"/>
            <a:ext cx="9525" cy="1771650"/>
          </a:xfrm>
          <a:prstGeom prst="rect">
            <a:avLst/>
          </a:prstGeom>
          <a:solidFill>
            <a:srgbClr val="D7DDE1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0B0385-2FAB-4573-864C-230F6B2B0A24}"/>
              </a:ext>
            </a:extLst>
          </p:cNvPr>
          <p:cNvSpPr>
            <a:spLocks noGrp="1"/>
          </p:cNvSpPr>
          <p:nvPr/>
        </p:nvSpPr>
        <p:spPr>
          <a:xfrm>
            <a:off x="4295775" y="27432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800" b="1" i="0">
                <a:solidFill>
                  <a:srgbClr val="D7192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 i="0">
                <a:solidFill>
                  <a:srgbClr val="D71920"/>
                </a:solidFill>
                <a:latin typeface="Nimbus Sans"/>
                <a:ea typeface="Nimbus Sans"/>
                <a:cs typeface="Nimbus Sans"/>
              </a:rPr>
              <a:t>MEASURE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51EEB8-51DE-4325-B2CD-A87833AD48FF}"/>
              </a:ext>
            </a:extLst>
          </p:cNvPr>
          <p:cNvSpPr>
            <a:spLocks noGrp="1"/>
          </p:cNvSpPr>
          <p:nvPr/>
        </p:nvSpPr>
        <p:spPr>
          <a:xfrm>
            <a:off x="4295775" y="3209925"/>
            <a:ext cx="314325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rPr>
              <a:t>Set factual accuracy, traceability, time saved and human correction metrics. Keep source links and test evidence.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7DF7977-C9E3-4B9A-A45D-ABFAA76AE022}"/>
              </a:ext>
            </a:extLst>
          </p:cNvPr>
          <p:cNvSpPr>
            <a:spLocks noGrp="1"/>
          </p:cNvSpPr>
          <p:nvPr/>
        </p:nvSpPr>
        <p:spPr>
          <a:xfrm>
            <a:off x="7734300" y="2781300"/>
            <a:ext cx="9525" cy="1771650"/>
          </a:xfrm>
          <a:prstGeom prst="rect">
            <a:avLst/>
          </a:prstGeom>
          <a:solidFill>
            <a:srgbClr val="D7DDE1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4022287-6E14-41E2-A923-D1D5DFE78AA8}"/>
              </a:ext>
            </a:extLst>
          </p:cNvPr>
          <p:cNvSpPr>
            <a:spLocks noGrp="1"/>
          </p:cNvSpPr>
          <p:nvPr/>
        </p:nvSpPr>
        <p:spPr>
          <a:xfrm>
            <a:off x="7905750" y="27432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800" b="1" i="0">
                <a:solidFill>
                  <a:srgbClr val="0E6B78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 i="0">
                <a:solidFill>
                  <a:srgbClr val="0E6B78"/>
                </a:solidFill>
                <a:latin typeface="Nimbus Sans"/>
                <a:ea typeface="Nimbus Sans"/>
                <a:cs typeface="Nimbus Sans"/>
              </a:rPr>
              <a:t>MANAGE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F5032FB-6A03-40D4-B641-A9A31794E28F}"/>
              </a:ext>
            </a:extLst>
          </p:cNvPr>
          <p:cNvSpPr>
            <a:spLocks noGrp="1"/>
          </p:cNvSpPr>
          <p:nvPr/>
        </p:nvSpPr>
        <p:spPr>
          <a:xfrm>
            <a:off x="7905750" y="3209925"/>
            <a:ext cx="314325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rPr>
              <a:t>Approve, monitor, restrict or stop the pilot. Record incidents, tool changes and residual risk decisions.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3579E24-B07A-4E86-B8FD-50269B249066}"/>
              </a:ext>
            </a:extLst>
          </p:cNvPr>
          <p:cNvSpPr>
            <a:spLocks noGrp="1"/>
          </p:cNvSpPr>
          <p:nvPr/>
        </p:nvSpPr>
        <p:spPr>
          <a:xfrm>
            <a:off x="857250" y="48387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500" b="1" i="0">
                <a:solidFill>
                  <a:srgbClr val="D71920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 i="0">
                <a:solidFill>
                  <a:srgbClr val="D71920"/>
                </a:solidFill>
                <a:latin typeface="Nimbus Sans"/>
                <a:ea typeface="Nimbus Sans"/>
                <a:cs typeface="Nimbus Sans"/>
              </a:rPr>
              <a:t>Initial pilot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7A2EE4F-8243-4023-80EC-98FD587F66BB}"/>
              </a:ext>
            </a:extLst>
          </p:cNvPr>
          <p:cNvSpPr>
            <a:spLocks noGrp="1"/>
          </p:cNvSpPr>
          <p:nvPr/>
        </p:nvSpPr>
        <p:spPr>
          <a:xfrm>
            <a:off x="2381250" y="4810125"/>
            <a:ext cx="581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650" b="1" i="0">
                <a:solidFill>
                  <a:srgbClr val="20282E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20282E"/>
                </a:solidFill>
                <a:latin typeface="Nimbus Sans"/>
                <a:ea typeface="Nimbus Sans"/>
                <a:cs typeface="Nimbus Sans"/>
              </a:rPr>
              <a:t>Jira weekly engineering report draft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A9E7F90-F8C0-40BA-931C-62BC951FF08B}"/>
              </a:ext>
            </a:extLst>
          </p:cNvPr>
          <p:cNvSpPr>
            <a:spLocks noGrp="1"/>
          </p:cNvSpPr>
          <p:nvPr/>
        </p:nvSpPr>
        <p:spPr>
          <a:xfrm>
            <a:off x="857250" y="5257800"/>
            <a:ext cx="10191750" cy="476250"/>
          </a:xfrm>
          <a:prstGeom prst="roundRect">
            <a:avLst>
              <a:gd name="adj" fmla="val 16000"/>
            </a:avLst>
          </a:prstGeom>
          <a:solidFill>
            <a:srgbClr val="FFF6DE"/>
          </a:solidFill>
          <a:ln w="9525">
            <a:solidFill>
              <a:srgbClr val="E9A923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500" b="0" i="0">
                <a:solidFill>
                  <a:srgbClr val="16384B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 i="0">
                <a:solidFill>
                  <a:srgbClr val="16384B"/>
                </a:solidFill>
                <a:latin typeface="Nimbus Sans"/>
                <a:ea typeface="Nimbus Sans"/>
                <a:cs typeface="Nimbus Sans"/>
              </a:rPr>
              <a:t>Read-only input with traceable sources. Manager review before sharing. No autonomous Jira updates.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7211D31-4870-48F1-AE99-1DDA9029F7A2}"/>
              </a:ext>
            </a:extLst>
          </p:cNvPr>
          <p:cNvSpPr>
            <a:spLocks noGrp="1"/>
          </p:cNvSpPr>
          <p:nvPr/>
        </p:nvSpPr>
        <p:spPr>
          <a:xfrm>
            <a:off x="952500" y="5915025"/>
            <a:ext cx="1009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350" b="0" i="1">
                <a:solidFill>
                  <a:srgbClr val="5E6870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1">
                <a:solidFill>
                  <a:srgbClr val="5E6870"/>
                </a:solidFill>
                <a:latin typeface="Nimbus Sans"/>
                <a:ea typeface="Nimbus Sans"/>
                <a:cs typeface="Nimbus Sans"/>
              </a:rPr>
              <a:t>Workshop output is a draft for Security and Digital leadership review. It does not approve enterprise AI policy.</a:t>
            </a:r>
          </a:p>
        </p:txBody>
      </p:sp>
    </p:spTree>
    <p:extLst>
      <p:ext uri="{BB962C8B-B14F-4D97-AF65-F5344CB8AC3E}">
        <p14:creationId xmlns:p14="http://schemas.microsoft.com/office/powerpoint/2010/main" val="232253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ccent-10">
            <a:extLst>
              <a:ext uri="{FF2B5EF4-FFF2-40B4-BE49-F238E27FC236}">
                <a16:creationId xmlns:a16="http://schemas.microsoft.com/office/drawing/2014/main" id="{4B42A0C3-0B19-4CEF-AC88-5CF7001BA34A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76200" cy="514350"/>
          </a:xfrm>
          <a:prstGeom prst="rect">
            <a:avLst/>
          </a:prstGeom>
          <a:solidFill>
            <a:srgbClr val="D71920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" name="title-10">
            <a:extLst>
              <a:ext uri="{FF2B5EF4-FFF2-40B4-BE49-F238E27FC236}">
                <a16:creationId xmlns:a16="http://schemas.microsoft.com/office/drawing/2014/main" id="{953A617B-DCC7-4E44-A41A-554DECF21304}"/>
              </a:ext>
            </a:extLst>
          </p:cNvPr>
          <p:cNvSpPr>
            <a:spLocks noGrp="1"/>
          </p:cNvSpPr>
          <p:nvPr/>
        </p:nvSpPr>
        <p:spPr>
          <a:xfrm>
            <a:off x="857250" y="400050"/>
            <a:ext cx="8667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3150" b="1" i="0">
                <a:solidFill>
                  <a:srgbClr val="20282E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 i="0">
                <a:solidFill>
                  <a:srgbClr val="20282E"/>
                </a:solidFill>
                <a:latin typeface="Nimbus Sans"/>
                <a:ea typeface="Nimbus Sans"/>
                <a:cs typeface="Nimbus Sans"/>
              </a:rPr>
              <a:t>Outputs and acceptance criteria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D906D6-A9A0-4B05-9099-76426F8316D9}"/>
              </a:ext>
            </a:extLst>
          </p:cNvPr>
          <p:cNvSpPr>
            <a:spLocks noGrp="1"/>
          </p:cNvSpPr>
          <p:nvPr/>
        </p:nvSpPr>
        <p:spPr>
          <a:xfrm>
            <a:off x="876300" y="962025"/>
            <a:ext cx="885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35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rPr>
              <a:t>Each deliverable has an owner and an observable completion test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386310" y="333375"/>
            <a:ext cx="1134880" cy="4381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3427375-7835-4731-9F3C-A2CCE86DA02A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19050"/>
          </a:xfrm>
          <a:prstGeom prst="rect">
            <a:avLst/>
          </a:prstGeom>
          <a:solidFill>
            <a:srgbClr val="D7DDE1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AF707-D2B5-491F-88E5-13FDE5FDBBD0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181100" cy="38100"/>
          </a:xfrm>
          <a:prstGeom prst="rect">
            <a:avLst/>
          </a:prstGeom>
          <a:solidFill>
            <a:srgbClr val="D71920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C0B768-C175-4731-8B8B-764920CA5EF0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10972800" cy="9525"/>
          </a:xfrm>
          <a:prstGeom prst="rect">
            <a:avLst/>
          </a:prstGeom>
          <a:solidFill>
            <a:srgbClr val="D7DDE1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79E017-C81F-4F35-A3E1-1B3135C7B910}"/>
              </a:ext>
            </a:extLst>
          </p:cNvPr>
          <p:cNvSpPr>
            <a:spLocks noGrp="1"/>
          </p:cNvSpPr>
          <p:nvPr/>
        </p:nvSpPr>
        <p:spPr>
          <a:xfrm>
            <a:off x="609600" y="6562725"/>
            <a:ext cx="3143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825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defRPr>
            </a:pPr>
            <a:r>
              <a:rPr sz="825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rPr>
              <a:t>CONFIDENTIAL &amp; PROPRIETARY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FC8E0A-B924-467D-8048-32B80955098E}"/>
              </a:ext>
            </a:extLst>
          </p:cNvPr>
          <p:cNvSpPr>
            <a:spLocks noGrp="1"/>
          </p:cNvSpPr>
          <p:nvPr/>
        </p:nvSpPr>
        <p:spPr>
          <a:xfrm>
            <a:off x="11144250" y="6553200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90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defRPr>
            </a:pPr>
            <a:r>
              <a:rPr sz="90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rPr>
              <a:t>10</a:t>
            </a:r>
          </a:p>
        </p:txBody>
      </p:sp>
      <p:graphicFrame>
        <p:nvGraphicFramePr>
          <p:cNvPr id="20" name="Table 19"/>
          <p:cNvGraphicFramePr/>
          <p:nvPr>
            <p:extLst>
              <p:ext uri="{D42A27DB-BD31-4B8C-83A1-F6EECF244321}">
                <p14:modId xmlns:p14="http://schemas.microsoft.com/office/powerpoint/2010/main" val="4125021456"/>
              </p:ext>
            </p:extLst>
          </p:nvPr>
        </p:nvGraphicFramePr>
        <p:xfrm>
          <a:off x="609600" y="1581150"/>
          <a:ext cx="10972800" cy="4675124"/>
        </p:xfrm>
        <a:graphic>
          <a:graphicData uri="http://schemas.openxmlformats.org/drawingml/2006/table">
            <a:tbl>
              <a:tblPr/>
              <a:tblGrid>
                <a:gridCol w="233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29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6384B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6384B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6384B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Acceptance criteria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238" b="1" dirty="0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Web automation baseline</a:t>
                      </a:r>
                      <a:r>
                        <a:rPr lang="en-SG" sz="1238" b="1" dirty="0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 /Unit Test across data processor, RSA , whole application , Pipeline application</a:t>
                      </a:r>
                      <a:endParaRPr sz="1238" b="1" dirty="0">
                        <a:solidFill>
                          <a:srgbClr val="20282E"/>
                        </a:solidFill>
                        <a:latin typeface="Nimbus Sans"/>
                        <a:ea typeface="Nimbus Sans"/>
                        <a:cs typeface="Nimbus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Hoang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At least two stable RDP smoke journeys run twice against non-production and generate a readable report plus trace or screenshot evidence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Mobile automation decision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Hoang + Vimukthi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Target classified as browser, WebView or native. Recommended tool path and next proof task documented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RDP ADR + capability matrix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38" b="0" dirty="0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Trung</a:t>
                      </a:r>
                      <a:r>
                        <a:rPr lang="en-SG" sz="1238" b="0" dirty="0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+ Vimukthi</a:t>
                      </a:r>
                      <a:endParaRPr sz="1238" b="0" dirty="0">
                        <a:solidFill>
                          <a:srgbClr val="20282E"/>
                        </a:solidFill>
                        <a:latin typeface="Nimbus Sans"/>
                        <a:ea typeface="Nimbus Sans"/>
                        <a:cs typeface="Nimbus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Shared and forked sites covered. Version, configuration, migration prerequisites and rollback responsibilities stated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Selective rollout runbook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38" b="0" dirty="0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Trung</a:t>
                      </a:r>
                      <a:r>
                        <a:rPr lang="en-SG" sz="1238" b="0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 </a:t>
                      </a:r>
                      <a:endParaRPr sz="1238" b="0">
                        <a:solidFill>
                          <a:srgbClr val="20282E"/>
                        </a:solidFill>
                        <a:latin typeface="Nimbus Sans"/>
                        <a:ea typeface="Nimbus Sans"/>
                        <a:cs typeface="Nimbus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One example feature traced for an enabled client and an excluded client, including monitoring and rollback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AI governance draft + pilot charter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Vimukthi + Trung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Use case, owner, data class, tool status, human review, evidence, metrics and escalation route included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Action backlog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38" b="0" dirty="0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Every open item has a named owner, due date, dependency and two-week review checkpoint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3452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ccent-11">
            <a:extLst>
              <a:ext uri="{FF2B5EF4-FFF2-40B4-BE49-F238E27FC236}">
                <a16:creationId xmlns:a16="http://schemas.microsoft.com/office/drawing/2014/main" id="{C378B14A-0E43-45D3-B817-4BB6F4974DF7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76200" cy="514350"/>
          </a:xfrm>
          <a:prstGeom prst="rect">
            <a:avLst/>
          </a:prstGeom>
          <a:solidFill>
            <a:srgbClr val="D71920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" name="title-11">
            <a:extLst>
              <a:ext uri="{FF2B5EF4-FFF2-40B4-BE49-F238E27FC236}">
                <a16:creationId xmlns:a16="http://schemas.microsoft.com/office/drawing/2014/main" id="{F127024A-A6EE-4FE1-9BA2-9EEA5F609856}"/>
              </a:ext>
            </a:extLst>
          </p:cNvPr>
          <p:cNvSpPr>
            <a:spLocks noGrp="1"/>
          </p:cNvSpPr>
          <p:nvPr/>
        </p:nvSpPr>
        <p:spPr>
          <a:xfrm>
            <a:off x="857250" y="400050"/>
            <a:ext cx="8667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3150" b="1" i="0">
                <a:solidFill>
                  <a:srgbClr val="20282E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 i="0">
                <a:solidFill>
                  <a:srgbClr val="20282E"/>
                </a:solidFill>
                <a:latin typeface="Nimbus Sans"/>
                <a:ea typeface="Nimbus Sans"/>
                <a:cs typeface="Nimbus Sans"/>
              </a:rPr>
              <a:t>Pre-work, dependencies and controls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9DDCC5-C2C6-4E7B-B905-BE09CF1B9A6C}"/>
              </a:ext>
            </a:extLst>
          </p:cNvPr>
          <p:cNvSpPr>
            <a:spLocks noGrp="1"/>
          </p:cNvSpPr>
          <p:nvPr/>
        </p:nvSpPr>
        <p:spPr>
          <a:xfrm>
            <a:off x="876300" y="962025"/>
            <a:ext cx="885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35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rPr>
              <a:t>The working sessions depend on access and prepared examples, not slide preparation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386310" y="333375"/>
            <a:ext cx="1134880" cy="4381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DB44362-513E-4A6D-A41D-CD1A9504380A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19050"/>
          </a:xfrm>
          <a:prstGeom prst="rect">
            <a:avLst/>
          </a:prstGeom>
          <a:solidFill>
            <a:srgbClr val="D7DDE1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EAAD78-799A-4A49-8EB7-F7B804393E6E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181100" cy="38100"/>
          </a:xfrm>
          <a:prstGeom prst="rect">
            <a:avLst/>
          </a:prstGeom>
          <a:solidFill>
            <a:srgbClr val="D71920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84B3A2-B522-4704-9C68-FC11FB3AD9F4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10972800" cy="9525"/>
          </a:xfrm>
          <a:prstGeom prst="rect">
            <a:avLst/>
          </a:prstGeom>
          <a:solidFill>
            <a:srgbClr val="D7DDE1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5B1E53-6C86-476E-A24A-1742D6166F46}"/>
              </a:ext>
            </a:extLst>
          </p:cNvPr>
          <p:cNvSpPr>
            <a:spLocks noGrp="1"/>
          </p:cNvSpPr>
          <p:nvPr/>
        </p:nvSpPr>
        <p:spPr>
          <a:xfrm>
            <a:off x="609600" y="6562725"/>
            <a:ext cx="3143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825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defRPr>
            </a:pPr>
            <a:r>
              <a:rPr sz="825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rPr>
              <a:t>CONFIDENTIAL &amp; PROPRIETARY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094C46-B3BC-4001-972B-A0F02513AD5E}"/>
              </a:ext>
            </a:extLst>
          </p:cNvPr>
          <p:cNvSpPr>
            <a:spLocks noGrp="1"/>
          </p:cNvSpPr>
          <p:nvPr/>
        </p:nvSpPr>
        <p:spPr>
          <a:xfrm>
            <a:off x="11144250" y="6553200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90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defRPr>
            </a:pPr>
            <a:r>
              <a:rPr sz="90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rPr>
              <a:t>11</a:t>
            </a:r>
          </a:p>
        </p:txBody>
      </p:sp>
      <p:graphicFrame>
        <p:nvGraphicFramePr>
          <p:cNvPr id="23" name="Table 22"/>
          <p:cNvGraphicFramePr/>
          <p:nvPr/>
        </p:nvGraphicFramePr>
        <p:xfrm>
          <a:off x="609600" y="1600200"/>
          <a:ext cx="10972800" cy="3276602"/>
        </p:xfrm>
        <a:graphic>
          <a:graphicData uri="http://schemas.openxmlformats.org/drawingml/2006/table">
            <a:tbl>
              <a:tblPr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05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7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6384B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Owner / 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6384B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Bring before the workshop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6384B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Dependency controlled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088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Hoang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Repository and local prerequisites, shortlisted journeys, stable non-production test accounts and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Avoid losing the lab to setup or unstable OTP/data dependencies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0088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Trung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Client/code-lineage map, current pipeline and ECS task details, existing flags/config and migration examples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Expose which clients can receive the same build and which require a 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0088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Vimukthi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Draft AI use case, current weekly report sample, initial governance questions and selected RDP rollout 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Keep AI and architecture discussions concrete and time boxed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0088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Security / platform inputs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Approved AI tool position, non-production access, CI permissions and data-handling constraints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Prevent use of an unapproved tool or unavailable environment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9399D0EB-2EA2-461E-8CA3-4DDC274D5D82}"/>
              </a:ext>
            </a:extLst>
          </p:cNvPr>
          <p:cNvSpPr>
            <a:spLocks noGrp="1"/>
          </p:cNvSpPr>
          <p:nvPr/>
        </p:nvSpPr>
        <p:spPr>
          <a:xfrm>
            <a:off x="742950" y="5191125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125" b="1" i="0">
                <a:solidFill>
                  <a:srgbClr val="D71920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D71920"/>
                </a:solidFill>
                <a:latin typeface="Nimbus Sans"/>
                <a:ea typeface="Nimbus Sans"/>
                <a:cs typeface="Nimbus Sans"/>
              </a:rPr>
              <a:t>WORKSHOP CONTROLS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4D8AD0-43DB-4A63-B94C-F8B67772A97E}"/>
              </a:ext>
            </a:extLst>
          </p:cNvPr>
          <p:cNvSpPr>
            <a:spLocks noGrp="1"/>
          </p:cNvSpPr>
          <p:nvPr/>
        </p:nvSpPr>
        <p:spPr>
          <a:xfrm>
            <a:off x="742950" y="5495925"/>
            <a:ext cx="1057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350" b="1" i="0">
                <a:solidFill>
                  <a:srgbClr val="16384B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16384B"/>
                </a:solidFill>
                <a:latin typeface="Nimbus Sans"/>
                <a:ea typeface="Nimbus Sans"/>
                <a:cs typeface="Nimbus Sans"/>
              </a:rPr>
              <a:t>No production changes. No client PII or secrets in AI prompts. No unapproved AI tools. Normal PR, QA, security and release gates remain.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E9CECE-B086-4DA5-AAB7-F27315A75F86}"/>
              </a:ext>
            </a:extLst>
          </p:cNvPr>
          <p:cNvSpPr>
            <a:spLocks noGrp="1"/>
          </p:cNvSpPr>
          <p:nvPr/>
        </p:nvSpPr>
        <p:spPr>
          <a:xfrm>
            <a:off x="876300" y="5962650"/>
            <a:ext cx="1028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275" b="0" i="1">
                <a:solidFill>
                  <a:srgbClr val="5E6870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1">
                <a:solidFill>
                  <a:srgbClr val="5E6870"/>
                </a:solidFill>
                <a:latin typeface="Nimbus Sans"/>
                <a:ea typeface="Nimbus Sans"/>
                <a:cs typeface="Nimbus Sans"/>
              </a:rPr>
              <a:t>If access blocks execution, the substitute output is a review-ready PR or pipeline change plus a documented blocker, not an unsupported completion claim.</a:t>
            </a:r>
          </a:p>
        </p:txBody>
      </p:sp>
    </p:spTree>
    <p:extLst>
      <p:ext uri="{BB962C8B-B14F-4D97-AF65-F5344CB8AC3E}">
        <p14:creationId xmlns:p14="http://schemas.microsoft.com/office/powerpoint/2010/main" val="1689967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accent-12">
            <a:extLst>
              <a:ext uri="{FF2B5EF4-FFF2-40B4-BE49-F238E27FC236}">
                <a16:creationId xmlns:a16="http://schemas.microsoft.com/office/drawing/2014/main" id="{C0E07E9F-2EAF-45A1-BD58-E6EC07382654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76200" cy="514350"/>
          </a:xfrm>
          <a:prstGeom prst="rect">
            <a:avLst/>
          </a:prstGeom>
          <a:solidFill>
            <a:srgbClr val="D71920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" name="title-12">
            <a:extLst>
              <a:ext uri="{FF2B5EF4-FFF2-40B4-BE49-F238E27FC236}">
                <a16:creationId xmlns:a16="http://schemas.microsoft.com/office/drawing/2014/main" id="{356A1BF8-8C55-4DC4-9A39-A98F66CE6BEE}"/>
              </a:ext>
            </a:extLst>
          </p:cNvPr>
          <p:cNvSpPr>
            <a:spLocks noGrp="1"/>
          </p:cNvSpPr>
          <p:nvPr/>
        </p:nvSpPr>
        <p:spPr>
          <a:xfrm>
            <a:off x="857250" y="400050"/>
            <a:ext cx="8667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3150" b="1" i="0">
                <a:solidFill>
                  <a:srgbClr val="20282E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 i="0">
                <a:solidFill>
                  <a:srgbClr val="20282E"/>
                </a:solidFill>
                <a:latin typeface="Nimbus Sans"/>
                <a:ea typeface="Nimbus Sans"/>
                <a:cs typeface="Nimbus Sans"/>
              </a:rPr>
              <a:t>Decision requested and follow-through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E3AB35-26AD-4E2E-AB72-C85C8AC64282}"/>
              </a:ext>
            </a:extLst>
          </p:cNvPr>
          <p:cNvSpPr>
            <a:spLocks noGrp="1"/>
          </p:cNvSpPr>
          <p:nvPr/>
        </p:nvSpPr>
        <p:spPr>
          <a:xfrm>
            <a:off x="876300" y="962025"/>
            <a:ext cx="885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35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rPr>
              <a:t>Approve the focused track, then manage every output through existing governance</a:t>
            </a: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386310" y="333375"/>
            <a:ext cx="1134880" cy="4381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BA1CB38-982A-4FB5-B25E-17323474879B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19050"/>
          </a:xfrm>
          <a:prstGeom prst="rect">
            <a:avLst/>
          </a:prstGeom>
          <a:solidFill>
            <a:srgbClr val="D7DDE1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CFADC9-2E51-4DF4-8084-F62B00B6C899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181100" cy="38100"/>
          </a:xfrm>
          <a:prstGeom prst="rect">
            <a:avLst/>
          </a:prstGeom>
          <a:solidFill>
            <a:srgbClr val="D71920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F3B65E-E72B-48B0-AB3B-8BEF4E5AAB35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10972800" cy="9525"/>
          </a:xfrm>
          <a:prstGeom prst="rect">
            <a:avLst/>
          </a:prstGeom>
          <a:solidFill>
            <a:srgbClr val="D7DDE1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66902D-46F0-4135-9D4B-00A705645071}"/>
              </a:ext>
            </a:extLst>
          </p:cNvPr>
          <p:cNvSpPr>
            <a:spLocks noGrp="1"/>
          </p:cNvSpPr>
          <p:nvPr/>
        </p:nvSpPr>
        <p:spPr>
          <a:xfrm>
            <a:off x="609600" y="6562725"/>
            <a:ext cx="3143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825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defRPr>
            </a:pPr>
            <a:r>
              <a:rPr sz="825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rPr>
              <a:t>CONFIDENTIAL &amp; PROPRIETARY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0AE745-2252-45C4-A019-62204F037DF9}"/>
              </a:ext>
            </a:extLst>
          </p:cNvPr>
          <p:cNvSpPr>
            <a:spLocks noGrp="1"/>
          </p:cNvSpPr>
          <p:nvPr/>
        </p:nvSpPr>
        <p:spPr>
          <a:xfrm>
            <a:off x="11144250" y="6553200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90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defRPr>
            </a:pPr>
            <a:r>
              <a:rPr sz="90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rPr>
              <a:t>12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D7FB14-6409-4236-BCBC-4E9A09E662E6}"/>
              </a:ext>
            </a:extLst>
          </p:cNvPr>
          <p:cNvSpPr>
            <a:spLocks noGrp="1"/>
          </p:cNvSpPr>
          <p:nvPr/>
        </p:nvSpPr>
        <p:spPr>
          <a:xfrm>
            <a:off x="762000" y="1676400"/>
            <a:ext cx="2762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125" b="1" i="0">
                <a:solidFill>
                  <a:srgbClr val="D71920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D71920"/>
                </a:solidFill>
                <a:latin typeface="Nimbus Sans"/>
                <a:ea typeface="Nimbus Sans"/>
                <a:cs typeface="Nimbus Sans"/>
              </a:rPr>
              <a:t>DECISION REQUESTED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A91109-2ED4-4748-9CC0-8FDD61479593}"/>
              </a:ext>
            </a:extLst>
          </p:cNvPr>
          <p:cNvSpPr>
            <a:spLocks noGrp="1"/>
          </p:cNvSpPr>
          <p:nvPr/>
        </p:nvSpPr>
        <p:spPr>
          <a:xfrm>
            <a:off x="762000" y="2057400"/>
            <a:ext cx="4762500" cy="2952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/>
          <a:p>
            <a:pPr marL="228600" indent="-114300">
              <a:lnSpc>
                <a:spcPct val="104000"/>
              </a:lnSpc>
              <a:spcAft>
                <a:spcPts val="1200"/>
              </a:spcAft>
              <a:buNone/>
              <a:defRPr sz="1575">
                <a:solidFill>
                  <a:srgbClr val="20282E"/>
                </a:solidFill>
                <a:latin typeface="Nimbus Sans"/>
                <a:ea typeface="Nimbus Sans"/>
                <a:cs typeface="Nimbus Sans"/>
              </a:defRPr>
            </a:pPr>
            <a:r>
              <a:rPr sz="1575" dirty="0">
                <a:solidFill>
                  <a:srgbClr val="20282E"/>
                </a:solidFill>
                <a:latin typeface="Nimbus Sans"/>
                <a:ea typeface="Nimbus Sans"/>
                <a:cs typeface="Nimbus Sans"/>
              </a:rPr>
              <a:t>Approve participation in three engineering working days within the Vietnam visit</a:t>
            </a:r>
          </a:p>
          <a:p>
            <a:pPr marL="228600" indent="-114300">
              <a:lnSpc>
                <a:spcPct val="104000"/>
              </a:lnSpc>
              <a:spcAft>
                <a:spcPts val="1200"/>
              </a:spcAft>
              <a:buNone/>
              <a:defRPr sz="1575">
                <a:solidFill>
                  <a:srgbClr val="20282E"/>
                </a:solidFill>
                <a:latin typeface="Nimbus Sans"/>
                <a:ea typeface="Nimbus Sans"/>
                <a:cs typeface="Nimbus Sans"/>
              </a:defRPr>
            </a:pPr>
            <a:r>
              <a:rPr sz="1575" dirty="0">
                <a:solidFill>
                  <a:srgbClr val="20282E"/>
                </a:solidFill>
                <a:latin typeface="Nimbus Sans"/>
                <a:ea typeface="Nimbus Sans"/>
                <a:cs typeface="Nimbus Sans"/>
              </a:rPr>
              <a:t>Confirm Trung and Hoang as the core engineering participants</a:t>
            </a:r>
          </a:p>
          <a:p>
            <a:pPr marL="228600" indent="-114300">
              <a:lnSpc>
                <a:spcPct val="104000"/>
              </a:lnSpc>
              <a:spcAft>
                <a:spcPts val="1200"/>
              </a:spcAft>
              <a:buNone/>
              <a:defRPr sz="1575">
                <a:solidFill>
                  <a:srgbClr val="20282E"/>
                </a:solidFill>
                <a:latin typeface="Nimbus Sans"/>
                <a:ea typeface="Nimbus Sans"/>
                <a:cs typeface="Nimbus Sans"/>
              </a:defRPr>
            </a:pPr>
            <a:r>
              <a:rPr sz="1575" dirty="0">
                <a:solidFill>
                  <a:srgbClr val="20282E"/>
                </a:solidFill>
                <a:latin typeface="Nimbus Sans"/>
                <a:ea typeface="Nimbus Sans"/>
                <a:cs typeface="Nimbus Sans"/>
              </a:rPr>
              <a:t>Confirm the scope: automation baseline, RDP rollout design, and AI governance draft with pilot charter</a:t>
            </a:r>
          </a:p>
          <a:p>
            <a:pPr marL="228600" indent="-114300">
              <a:lnSpc>
                <a:spcPct val="104000"/>
              </a:lnSpc>
              <a:spcAft>
                <a:spcPts val="1200"/>
              </a:spcAft>
              <a:buNone/>
              <a:defRPr sz="1575">
                <a:solidFill>
                  <a:srgbClr val="20282E"/>
                </a:solidFill>
                <a:latin typeface="Nimbus Sans"/>
                <a:ea typeface="Nimbus Sans"/>
                <a:cs typeface="Nimbus Sans"/>
              </a:defRPr>
            </a:pPr>
            <a:r>
              <a:rPr sz="1575" dirty="0">
                <a:solidFill>
                  <a:srgbClr val="20282E"/>
                </a:solidFill>
                <a:latin typeface="Nimbus Sans"/>
                <a:ea typeface="Nimbus Sans"/>
                <a:cs typeface="Nimbus Sans"/>
              </a:rPr>
              <a:t>Retain Dominique and Dahlia's separate five-day BA schedule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197C84-FF9A-454A-B2A6-55E6C671F86C}"/>
              </a:ext>
            </a:extLst>
          </p:cNvPr>
          <p:cNvSpPr>
            <a:spLocks noGrp="1"/>
          </p:cNvSpPr>
          <p:nvPr/>
        </p:nvSpPr>
        <p:spPr>
          <a:xfrm>
            <a:off x="5905500" y="1790700"/>
            <a:ext cx="19050" cy="3886200"/>
          </a:xfrm>
          <a:prstGeom prst="rect">
            <a:avLst/>
          </a:prstGeom>
          <a:solidFill>
            <a:srgbClr val="E9A923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CF8E64E-C49E-4C6D-B07F-1DFF1D0B4FDA}"/>
              </a:ext>
            </a:extLst>
          </p:cNvPr>
          <p:cNvSpPr>
            <a:spLocks noGrp="1"/>
          </p:cNvSpPr>
          <p:nvPr/>
        </p:nvSpPr>
        <p:spPr>
          <a:xfrm>
            <a:off x="6305550" y="167640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125" b="1" i="0">
                <a:solidFill>
                  <a:srgbClr val="0E6B78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0E6B78"/>
                </a:solidFill>
                <a:latin typeface="Nimbus Sans"/>
                <a:ea typeface="Nimbus Sans"/>
                <a:cs typeface="Nimbus Sans"/>
              </a:rPr>
              <a:t>FOLLOW-THROUGH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576E410-A68D-470C-A070-D9C5E238F60A}"/>
              </a:ext>
            </a:extLst>
          </p:cNvPr>
          <p:cNvSpPr>
            <a:spLocks noGrp="1"/>
          </p:cNvSpPr>
          <p:nvPr/>
        </p:nvSpPr>
        <p:spPr>
          <a:xfrm>
            <a:off x="6362700" y="2162175"/>
            <a:ext cx="171450" cy="171450"/>
          </a:xfrm>
          <a:prstGeom prst="ellipse">
            <a:avLst/>
          </a:prstGeom>
          <a:solidFill>
            <a:srgbClr val="0E6B78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67B011-474A-419D-9596-B1CBB2F260F6}"/>
              </a:ext>
            </a:extLst>
          </p:cNvPr>
          <p:cNvSpPr>
            <a:spLocks noGrp="1"/>
          </p:cNvSpPr>
          <p:nvPr/>
        </p:nvSpPr>
        <p:spPr>
          <a:xfrm>
            <a:off x="6438900" y="2343150"/>
            <a:ext cx="19050" cy="666750"/>
          </a:xfrm>
          <a:prstGeom prst="rect">
            <a:avLst/>
          </a:prstGeom>
          <a:solidFill>
            <a:srgbClr val="D7DDE1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324D53B-4919-4A34-A499-CA9BD566FFBD}"/>
              </a:ext>
            </a:extLst>
          </p:cNvPr>
          <p:cNvSpPr>
            <a:spLocks noGrp="1"/>
          </p:cNvSpPr>
          <p:nvPr/>
        </p:nvSpPr>
        <p:spPr>
          <a:xfrm>
            <a:off x="6762750" y="211455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500" b="1" i="0">
                <a:solidFill>
                  <a:srgbClr val="16384B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 i="0">
                <a:solidFill>
                  <a:srgbClr val="16384B"/>
                </a:solidFill>
                <a:latin typeface="Nimbus Sans"/>
                <a:ea typeface="Nimbus Sans"/>
                <a:cs typeface="Nimbus Sans"/>
              </a:rPr>
              <a:t>Workshop close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96338F-6F5B-4910-A9C5-6A33F89A86A1}"/>
              </a:ext>
            </a:extLst>
          </p:cNvPr>
          <p:cNvSpPr>
            <a:spLocks noGrp="1"/>
          </p:cNvSpPr>
          <p:nvPr/>
        </p:nvSpPr>
        <p:spPr>
          <a:xfrm>
            <a:off x="6762750" y="2419350"/>
            <a:ext cx="4191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3000"/>
              </a:lnSpc>
              <a:buNone/>
              <a:defRPr sz="135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rPr>
              <a:t>Artifacts, decisions and open blockers recorded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F0CDA27-A253-47D5-B246-6B523C5EF5B8}"/>
              </a:ext>
            </a:extLst>
          </p:cNvPr>
          <p:cNvSpPr>
            <a:spLocks noGrp="1"/>
          </p:cNvSpPr>
          <p:nvPr/>
        </p:nvSpPr>
        <p:spPr>
          <a:xfrm>
            <a:off x="6362700" y="3057525"/>
            <a:ext cx="171450" cy="171450"/>
          </a:xfrm>
          <a:prstGeom prst="ellipse">
            <a:avLst/>
          </a:prstGeom>
          <a:solidFill>
            <a:srgbClr val="0E6B78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9542F4E-358B-423C-A8CC-4B41404E4F30}"/>
              </a:ext>
            </a:extLst>
          </p:cNvPr>
          <p:cNvSpPr>
            <a:spLocks noGrp="1"/>
          </p:cNvSpPr>
          <p:nvPr/>
        </p:nvSpPr>
        <p:spPr>
          <a:xfrm>
            <a:off x="6438900" y="3238500"/>
            <a:ext cx="19050" cy="666750"/>
          </a:xfrm>
          <a:prstGeom prst="rect">
            <a:avLst/>
          </a:prstGeom>
          <a:solidFill>
            <a:srgbClr val="D7DDE1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08CF13F-4F7F-4E78-B961-C4B2C8CF5D0C}"/>
              </a:ext>
            </a:extLst>
          </p:cNvPr>
          <p:cNvSpPr>
            <a:spLocks noGrp="1"/>
          </p:cNvSpPr>
          <p:nvPr/>
        </p:nvSpPr>
        <p:spPr>
          <a:xfrm>
            <a:off x="6762750" y="30099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500" b="1" i="0">
                <a:solidFill>
                  <a:srgbClr val="16384B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 i="0">
                <a:solidFill>
                  <a:srgbClr val="16384B"/>
                </a:solidFill>
                <a:latin typeface="Nimbus Sans"/>
                <a:ea typeface="Nimbus Sans"/>
                <a:cs typeface="Nimbus Sans"/>
              </a:rPr>
              <a:t>+2 business days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1257D06-1D6F-4991-B2B7-D48438B4BA79}"/>
              </a:ext>
            </a:extLst>
          </p:cNvPr>
          <p:cNvSpPr>
            <a:spLocks noGrp="1"/>
          </p:cNvSpPr>
          <p:nvPr/>
        </p:nvSpPr>
        <p:spPr>
          <a:xfrm>
            <a:off x="6762750" y="3314700"/>
            <a:ext cx="4191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3000"/>
              </a:lnSpc>
              <a:buNone/>
              <a:defRPr sz="135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rPr>
              <a:t>Circulate ADR, runbook, automation evidence and pilot draft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9A316A0-3E88-44A7-8801-FA509A26A009}"/>
              </a:ext>
            </a:extLst>
          </p:cNvPr>
          <p:cNvSpPr>
            <a:spLocks noGrp="1"/>
          </p:cNvSpPr>
          <p:nvPr/>
        </p:nvSpPr>
        <p:spPr>
          <a:xfrm>
            <a:off x="6362700" y="3952875"/>
            <a:ext cx="171450" cy="171450"/>
          </a:xfrm>
          <a:prstGeom prst="ellipse">
            <a:avLst/>
          </a:prstGeom>
          <a:solidFill>
            <a:srgbClr val="0E6B78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7297AA4-0B7B-4CD2-9ED3-2F8E855CB255}"/>
              </a:ext>
            </a:extLst>
          </p:cNvPr>
          <p:cNvSpPr>
            <a:spLocks noGrp="1"/>
          </p:cNvSpPr>
          <p:nvPr/>
        </p:nvSpPr>
        <p:spPr>
          <a:xfrm>
            <a:off x="6438900" y="4133850"/>
            <a:ext cx="19050" cy="666750"/>
          </a:xfrm>
          <a:prstGeom prst="rect">
            <a:avLst/>
          </a:prstGeom>
          <a:solidFill>
            <a:srgbClr val="D7DDE1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FD99161-A11C-45AE-8955-6FCE75BBFF1F}"/>
              </a:ext>
            </a:extLst>
          </p:cNvPr>
          <p:cNvSpPr>
            <a:spLocks noGrp="1"/>
          </p:cNvSpPr>
          <p:nvPr/>
        </p:nvSpPr>
        <p:spPr>
          <a:xfrm>
            <a:off x="6762750" y="390525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500" b="1" i="0">
                <a:solidFill>
                  <a:srgbClr val="16384B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 i="0">
                <a:solidFill>
                  <a:srgbClr val="16384B"/>
                </a:solidFill>
                <a:latin typeface="Nimbus Sans"/>
                <a:ea typeface="Nimbus Sans"/>
                <a:cs typeface="Nimbus Sans"/>
              </a:rPr>
              <a:t>+1 week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AE596FD-9B6C-4112-AC31-C6C2D5F31918}"/>
              </a:ext>
            </a:extLst>
          </p:cNvPr>
          <p:cNvSpPr>
            <a:spLocks noGrp="1"/>
          </p:cNvSpPr>
          <p:nvPr/>
        </p:nvSpPr>
        <p:spPr>
          <a:xfrm>
            <a:off x="6762750" y="4210050"/>
            <a:ext cx="4191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3000"/>
              </a:lnSpc>
              <a:buNone/>
              <a:defRPr sz="135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rPr>
              <a:t>Engineering, QA and Security comments resolved or assigned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18DE82B-1956-4D68-9221-D94111EF1C9D}"/>
              </a:ext>
            </a:extLst>
          </p:cNvPr>
          <p:cNvSpPr>
            <a:spLocks noGrp="1"/>
          </p:cNvSpPr>
          <p:nvPr/>
        </p:nvSpPr>
        <p:spPr>
          <a:xfrm>
            <a:off x="6362700" y="4848225"/>
            <a:ext cx="171450" cy="171450"/>
          </a:xfrm>
          <a:prstGeom prst="ellipse">
            <a:avLst/>
          </a:prstGeom>
          <a:solidFill>
            <a:srgbClr val="D71920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603F639-D0EF-4972-AC63-028AE0613172}"/>
              </a:ext>
            </a:extLst>
          </p:cNvPr>
          <p:cNvSpPr>
            <a:spLocks noGrp="1"/>
          </p:cNvSpPr>
          <p:nvPr/>
        </p:nvSpPr>
        <p:spPr>
          <a:xfrm>
            <a:off x="6762750" y="48006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500" b="1" i="0">
                <a:solidFill>
                  <a:srgbClr val="D71920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 i="0">
                <a:solidFill>
                  <a:srgbClr val="D71920"/>
                </a:solidFill>
                <a:latin typeface="Nimbus Sans"/>
                <a:ea typeface="Nimbus Sans"/>
                <a:cs typeface="Nimbus Sans"/>
              </a:rPr>
              <a:t>+2 weeks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1572F2D-5C09-41C5-B1AB-9A94B97EC8DB}"/>
              </a:ext>
            </a:extLst>
          </p:cNvPr>
          <p:cNvSpPr>
            <a:spLocks noGrp="1"/>
          </p:cNvSpPr>
          <p:nvPr/>
        </p:nvSpPr>
        <p:spPr>
          <a:xfrm>
            <a:off x="6762750" y="5105400"/>
            <a:ext cx="4191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3000"/>
              </a:lnSpc>
              <a:buNone/>
              <a:defRPr sz="135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rPr>
              <a:t>Checkpoint with Sanchit. Approve backlog priorities and pilot next step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09A513E-8BD0-4D28-B0F9-CBA0F41C4EB8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287000" cy="514350"/>
          </a:xfrm>
          <a:prstGeom prst="roundRect">
            <a:avLst>
              <a:gd name="adj" fmla="val 14815"/>
            </a:avLst>
          </a:prstGeom>
          <a:solidFill>
            <a:srgbClr val="FCEBEC"/>
          </a:solidFill>
          <a:ln w="9525">
            <a:solidFill>
              <a:srgbClr val="D71920"/>
            </a:solidFill>
            <a:prstDash val="solid"/>
          </a:ln>
        </p:spPr>
        <p:txBody>
          <a:bodyPr wrap="square" lIns="133350" tIns="76200" rIns="133350" bIns="762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500" b="1" i="0">
                <a:solidFill>
                  <a:srgbClr val="A8141A"/>
                </a:solidFill>
                <a:latin typeface="Nimbus Sans"/>
                <a:ea typeface="Nimbus Sans"/>
                <a:cs typeface="Nimbus Sans"/>
              </a:defRPr>
            </a:pPr>
            <a:r>
              <a:rPr lang="en-SG" sz="1500" b="1" i="0" dirty="0">
                <a:solidFill>
                  <a:srgbClr val="A8141A"/>
                </a:solidFill>
                <a:latin typeface="Nimbus Sans"/>
                <a:ea typeface="Nimbus Sans"/>
                <a:cs typeface="Nimbus Sans"/>
              </a:rPr>
              <a:t>POC stage does not </a:t>
            </a:r>
            <a:r>
              <a:rPr sz="1500" b="1" i="0" dirty="0">
                <a:solidFill>
                  <a:srgbClr val="A8141A"/>
                </a:solidFill>
                <a:latin typeface="Nimbus Sans"/>
                <a:ea typeface="Nimbus Sans"/>
                <a:cs typeface="Nimbus Sans"/>
              </a:rPr>
              <a:t>commit Aspire to a new tool purchase, production release or enterprise AI policy. Those decisions follow the normal review route.</a:t>
            </a:r>
          </a:p>
        </p:txBody>
      </p:sp>
    </p:spTree>
    <p:extLst>
      <p:ext uri="{BB962C8B-B14F-4D97-AF65-F5344CB8AC3E}">
        <p14:creationId xmlns:p14="http://schemas.microsoft.com/office/powerpoint/2010/main" val="10438322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ccent-13">
            <a:extLst>
              <a:ext uri="{FF2B5EF4-FFF2-40B4-BE49-F238E27FC236}">
                <a16:creationId xmlns:a16="http://schemas.microsoft.com/office/drawing/2014/main" id="{38399DF6-8EE2-466A-AA9D-83A1BDBD850B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76200" cy="514350"/>
          </a:xfrm>
          <a:prstGeom prst="rect">
            <a:avLst/>
          </a:prstGeom>
          <a:solidFill>
            <a:srgbClr val="D71920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" name="title-13">
            <a:extLst>
              <a:ext uri="{FF2B5EF4-FFF2-40B4-BE49-F238E27FC236}">
                <a16:creationId xmlns:a16="http://schemas.microsoft.com/office/drawing/2014/main" id="{12A78350-E8BF-40E4-894B-CFE37984A23B}"/>
              </a:ext>
            </a:extLst>
          </p:cNvPr>
          <p:cNvSpPr>
            <a:spLocks noGrp="1"/>
          </p:cNvSpPr>
          <p:nvPr/>
        </p:nvSpPr>
        <p:spPr>
          <a:xfrm>
            <a:off x="857250" y="400050"/>
            <a:ext cx="8667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3150" b="1" i="0">
                <a:solidFill>
                  <a:srgbClr val="20282E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 i="0">
                <a:solidFill>
                  <a:srgbClr val="20282E"/>
                </a:solidFill>
                <a:latin typeface="Nimbus Sans"/>
                <a:ea typeface="Nimbus Sans"/>
                <a:cs typeface="Nimbus Sans"/>
              </a:rPr>
              <a:t>Approval questions and direct answers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EE6291-8F09-4909-A2B5-873FA19ED51B}"/>
              </a:ext>
            </a:extLst>
          </p:cNvPr>
          <p:cNvSpPr>
            <a:spLocks noGrp="1"/>
          </p:cNvSpPr>
          <p:nvPr/>
        </p:nvSpPr>
        <p:spPr>
          <a:xfrm>
            <a:off x="876300" y="962025"/>
            <a:ext cx="885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35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rPr>
              <a:t>Prepared responses to the most likely scope and value challenges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386310" y="333375"/>
            <a:ext cx="1134880" cy="4381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91D519B-B088-44E2-8B8F-C301D432555E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19050"/>
          </a:xfrm>
          <a:prstGeom prst="rect">
            <a:avLst/>
          </a:prstGeom>
          <a:solidFill>
            <a:srgbClr val="D7DDE1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28DFD3-8E41-427E-8612-34BCC4321021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181100" cy="38100"/>
          </a:xfrm>
          <a:prstGeom prst="rect">
            <a:avLst/>
          </a:prstGeom>
          <a:solidFill>
            <a:srgbClr val="D71920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9EEA1B-7FBE-4DAB-B991-691048ABD329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10972800" cy="9525"/>
          </a:xfrm>
          <a:prstGeom prst="rect">
            <a:avLst/>
          </a:prstGeom>
          <a:solidFill>
            <a:srgbClr val="D7DDE1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61E366-9310-445F-B294-51BB984FF288}"/>
              </a:ext>
            </a:extLst>
          </p:cNvPr>
          <p:cNvSpPr>
            <a:spLocks noGrp="1"/>
          </p:cNvSpPr>
          <p:nvPr/>
        </p:nvSpPr>
        <p:spPr>
          <a:xfrm>
            <a:off x="609600" y="6562725"/>
            <a:ext cx="3143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825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defRPr>
            </a:pPr>
            <a:r>
              <a:rPr sz="825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rPr>
              <a:t>CONFIDENTIAL &amp; PROPRIETARY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BA4836-0B07-4742-AE11-F610E2FA264B}"/>
              </a:ext>
            </a:extLst>
          </p:cNvPr>
          <p:cNvSpPr>
            <a:spLocks noGrp="1"/>
          </p:cNvSpPr>
          <p:nvPr/>
        </p:nvSpPr>
        <p:spPr>
          <a:xfrm>
            <a:off x="11144250" y="6553200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90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defRPr>
            </a:pPr>
            <a:r>
              <a:rPr sz="900" b="0" i="0">
                <a:solidFill>
                  <a:srgbClr val="5E6870"/>
                </a:solidFill>
                <a:latin typeface="Nimbus Sans"/>
                <a:ea typeface="Nimbus Sans"/>
                <a:cs typeface="Nimbus Sans"/>
              </a:rPr>
              <a:t>13</a:t>
            </a:r>
          </a:p>
        </p:txBody>
      </p:sp>
      <p:graphicFrame>
        <p:nvGraphicFramePr>
          <p:cNvPr id="20" name="Table 19"/>
          <p:cNvGraphicFramePr/>
          <p:nvPr/>
        </p:nvGraphicFramePr>
        <p:xfrm>
          <a:off x="609600" y="1562100"/>
          <a:ext cx="10972800" cy="4552950"/>
        </p:xfrm>
        <a:graphic>
          <a:graphicData uri="http://schemas.openxmlformats.org/drawingml/2006/table">
            <a:tbl>
              <a:tblPr/>
              <a:tblGrid>
                <a:gridCol w="3714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58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6384B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6384B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Direct answer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Why does this need an in-person working session?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The sessions pair on the actual code, configuration and evidence. Each day ends with an artifact that can continue remotely.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Why only Trung and Hoang?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They own the relevant full-stack and mobile code paths. A smaller group protects delivery time and keeps accountability clear.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Why three engineering days?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The plan has three output packages: combined readiness, automation baseline, then full-stack architecture plus a time-boxed governance package.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Why is Hoang involved in QA automation?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Engineering owns the framework and CI quality. QA will validate scenarios and coverage. The workshop also records a separate native-mobile tool decision.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Can a feature flag selectively roll out every RDP change?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No. The client must first run a compatible version that contains the code. The flag controls activation after deployment and readiness checks.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Does the workshop approve AI policy or production use?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20282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No. It creates a draft engineering control model and pilot recommendation for Security and Digital leadership review.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388999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6531</TotalTime>
  <Words>2266</Words>
  <Application>Microsoft Office PowerPoint</Application>
  <DocSecurity>0</DocSecurity>
  <PresentationFormat>Widescreen</PresentationFormat>
  <Paragraphs>282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Vimukthi Sameera Amaratunga</cp:lastModifiedBy>
  <cp:revision>4</cp:revision>
  <dcterms:created xsi:type="dcterms:W3CDTF">2026-09-11T02:35:05Z</dcterms:created>
  <dcterms:modified xsi:type="dcterms:W3CDTF">2026-09-22T08:43:03Z</dcterms:modified>
</cp:coreProperties>
</file>