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66" r:id="rId14"/>
    <p:sldId id="282" r:id="rId19"/>
    <p:sldId id="279" r:id="rId20"/>
    <p:sldId id="257" r:id="rId3"/>
    <p:sldId id="284" r:id="rId35"/>
    <p:sldId id="264" r:id="rId12"/>
    <p:sldId id="285" r:id="rId36"/>
    <p:sldId id="283" r:id="rId27"/>
    <p:sldId id="272" r:id="rId22"/>
    <p:sldId id="265" r:id="rId13"/>
    <p:sldId id="280"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08DF16-EEA0-D1D6-ACD0-D9BDE597294A}" v="6" dt="2026-10-15T05:58:34.755"/>
    <p1510:client id="{411AB500-2DBE-94A1-C8EF-078005F300F7}" v="25" dt="2026-10-13T14:39:50.898"/>
    <p1510:client id="{8ABE5F9E-45CF-4E06-B75F-C9F222B070CE}" v="51" dt="2026-10-14T09:24:05.1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714" autoAdjust="0"/>
  </p:normalViewPr>
  <p:slideViewPr>
    <p:cSldViewPr snapToGrid="0">
      <p:cViewPr varScale="1">
        <p:scale>
          <a:sx n="95" d="100"/>
          <a:sy n="95" d="100"/>
        </p:scale>
        <p:origin x="115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5.xml"/><Relationship Id="rId12" Type="http://schemas.openxmlformats.org/officeDocument/2006/relationships/slide" Target="slides/slide7.xml"/><Relationship Id="rId13" Type="http://schemas.openxmlformats.org/officeDocument/2006/relationships/slide" Target="slides/slide11.xml"/><Relationship Id="rId14"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2" Type="http://schemas.openxmlformats.org/officeDocument/2006/relationships/slide" Target="slides/slide10.xml"/><Relationship Id="rId25" Type="http://schemas.openxmlformats.org/officeDocument/2006/relationships/slide" Target="slides/slide12.xml"/><Relationship Id="rId27" Type="http://schemas.openxmlformats.org/officeDocument/2006/relationships/slide" Target="slides/slide9.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microsoft.com/office/2015/10/relationships/revisionInfo" Target="revisionInfo.xml"/><Relationship Id="rId35" Type="http://schemas.openxmlformats.org/officeDocument/2006/relationships/slide" Target="slides/slide6.xml"/><Relationship Id="rId36"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Fully automatable</c:v>
                </c:pt>
              </c:strCache>
            </c:strRef>
          </c:tx>
          <c:spPr>
            <a:solidFill>
              <a:srgbClr val="0B5FA5"/>
            </a:solidFill>
            <a:effectLst/>
          </c:spPr>
          <c:invertIfNegative val="0"/>
          <c:dLbls>
            <c:numFmt formatCode="0" sourceLinked="0"/>
            <c:spPr>
              <a:noFill/>
              <a:ln>
                <a:noFill/>
              </a:ln>
              <a:effectLst/>
            </c:spPr>
            <c:txPr>
              <a:bodyPr/>
              <a:lstStyle/>
              <a:p>
                <a:pPr>
                  <a:defRPr sz="1200" b="1"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RSA cases</c:v>
                </c:pt>
              </c:strCache>
            </c:strRef>
          </c:cat>
          <c:val>
            <c:numRef>
              <c:f>Sheet1!$B$2:$B$2</c:f>
              <c:numCache>
                <c:formatCode>0</c:formatCode>
                <c:ptCount val="1"/>
                <c:pt idx="0">
                  <c:v>347</c:v>
                </c:pt>
              </c:numCache>
            </c:numRef>
          </c:val>
          <c:extLst>
            <c:ext xmlns:c16="http://schemas.microsoft.com/office/drawing/2014/chart" uri="{C3380CC4-5D6E-409C-BE32-E72D297353CC}">
              <c16:uniqueId val="{00000000-D17C-4678-B1FC-2B57F88931E2}"/>
            </c:ext>
          </c:extLst>
        </c:ser>
        <c:ser>
          <c:idx val="1"/>
          <c:order val="1"/>
          <c:tx>
            <c:strRef>
              <c:f>Sheet1!$C$1</c:f>
              <c:strCache>
                <c:ptCount val="1"/>
                <c:pt idx="0">
                  <c:v>Partly: a person checks one step</c:v>
                </c:pt>
              </c:strCache>
            </c:strRef>
          </c:tx>
          <c:spPr>
            <a:solidFill>
              <a:srgbClr val="D4DEE8"/>
            </a:solidFill>
            <a:effectLst/>
          </c:spPr>
          <c:invertIfNegative val="0"/>
          <c:dLbls>
            <c:numFmt formatCode="0" sourceLinked="0"/>
            <c:spPr>
              <a:noFill/>
              <a:ln>
                <a:noFill/>
              </a:ln>
              <a:effectLst/>
            </c:spPr>
            <c:txPr>
              <a:bodyPr/>
              <a:lstStyle/>
              <a:p>
                <a:pPr>
                  <a:defRPr sz="1200" b="0" i="0" u="none" strike="noStrike">
                    <a:solidFill>
                      <a:srgbClr val="142B42"/>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RSA cases</c:v>
                </c:pt>
              </c:strCache>
            </c:strRef>
          </c:cat>
          <c:val>
            <c:numRef>
              <c:f>Sheet1!$C$2:$C$2</c:f>
              <c:numCache>
                <c:formatCode>0</c:formatCode>
                <c:ptCount val="1"/>
                <c:pt idx="0">
                  <c:v>102</c:v>
                </c:pt>
              </c:numCache>
            </c:numRef>
          </c:val>
          <c:extLst>
            <c:ext xmlns:c16="http://schemas.microsoft.com/office/drawing/2014/chart" uri="{C3380CC4-5D6E-409C-BE32-E72D297353CC}">
              <c16:uniqueId val="{00000001-D17C-4678-B1FC-2B57F88931E2}"/>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8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449"/>
          <c:min val="0"/>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Arial"/>
              </a:defRPr>
            </a:pPr>
            <a:endParaRPr lang="en-US"/>
          </a:p>
        </c:txPr>
        <c:crossAx val="2094734554"/>
        <c:crosses val="autoZero"/>
        <c:crossBetween val="between"/>
        <c:majorUnit val="100"/>
      </c:valAx>
      <c:spPr>
        <a:noFill/>
        <a:ln>
          <a:noFill/>
        </a:ln>
        <a:effectLst/>
      </c:spPr>
    </c:plotArea>
    <c:legend>
      <c:legendPos val="b"/>
      <c:overlay val="0"/>
      <c:txPr>
        <a:bodyPr/>
        <a:lstStyle/>
        <a:p>
          <a:pPr>
            <a:defRPr sz="18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1021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Saved evidence from 8 October 2026. The left image captures the successful creation toast. The right image shows the upper portion of vendor details. Vendor ID 20415 and CMS item d4b1c8e8-d8ac-415d-86eb-856391f9a531. This demonstrates save, detail display and nineteen CMS-rendered value comparisons. It does not prove every optional field persisted or full database parity.
Sources: https://internationalsos.atlassian.net/wiki/spaces/AD/pages/6896287838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successful UI/CMS comparison is narrower than full end-to-end integration proof. Some earlier Benefit assumptions about disabled fields were corrected by selecting Thailand at the top right, English and reloading. Access expiry prevented completion of the corrected full DB comparison.
Sources: https://internationalsos.atlassian.net/wiki/spaces/AD/pages/6896287838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1.xml"/><Relationship Id="rId4" Type="http://schemas.openxmlformats.org/officeDocument/2006/relationships/hyperlink" Target="https://internationalsos.atlassian.net/wiki/spaces/AD/pages/6906642437/Not+every+test+case+can+be+fully+automate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B42"/>
        </a:solidFill>
        <a:effectLst/>
      </p:bgPr>
    </p:bg>
    <p:spTree>
      <p:nvGrpSpPr>
        <p:cNvPr id="1" name=""/>
        <p:cNvGrpSpPr/>
        <p:nvPr/>
      </p:nvGrpSpPr>
      <p:grpSpPr>
        <a:xfrm>
          <a:off x="0" y="0"/>
          <a:ext cx="0" cy="0"/>
          <a:chOff x="0" y="0"/>
          <a:chExt cx="0" cy="0"/>
        </a:xfrm>
      </p:grpSpPr>
      <p:sp>
        <p:nvSpPr>
          <p:cNvPr id="2" name="Text 0"/>
          <p:cNvSpPr/>
          <p:nvPr/>
        </p:nvSpPr>
        <p:spPr>
          <a:xfrm>
            <a:off x="640080" y="1005840"/>
            <a:ext cx="10789920" cy="457200"/>
          </a:xfrm>
          <a:prstGeom prst="rect">
            <a:avLst/>
          </a:prstGeom>
          <a:noFill/>
          <a:ln/>
        </p:spPr>
        <p:txBody>
          <a:bodyPr wrap="square" lIns="0" tIns="0" rIns="0" bIns="0" rtlCol="0" anchor="t"/>
          <a:lstStyle/>
          <a:p>
            <a:pPr marL="0" indent="0">
              <a:buNone/>
            </a:pPr>
            <a:r>
              <a:rPr lang="en-US" sz="1800">
                <a:solidFill>
                  <a:srgbClr val="8CBDE5"/>
                </a:solidFill>
                <a:latin typeface="Segoe UI" pitchFamily="34" charset="0"/>
                <a:ea typeface="Segoe UI" pitchFamily="34" charset="-122"/>
                <a:cs typeface="Segoe UI" pitchFamily="34" charset="-120"/>
              </a:rPr>
              <a:t>APAC ASPIRE DIGITAL</a:t>
            </a:r>
            <a:endParaRPr lang="en-US" sz="1800"/>
          </a:p>
        </p:txBody>
      </p:sp>
      <p:sp>
        <p:nvSpPr>
          <p:cNvPr id="3" name="Text 1"/>
          <p:cNvSpPr/>
          <p:nvPr/>
        </p:nvSpPr>
        <p:spPr>
          <a:xfrm>
            <a:off x="640080" y="1828800"/>
            <a:ext cx="10789920" cy="1005840"/>
          </a:xfrm>
          <a:prstGeom prst="rect">
            <a:avLst/>
          </a:prstGeom>
          <a:noFill/>
          <a:ln/>
        </p:spPr>
        <p:txBody>
          <a:bodyPr wrap="square" lIns="0" tIns="0" rIns="0" bIns="0" rtlCol="0" anchor="t"/>
          <a:lstStyle/>
          <a:p>
            <a:pPr marL="0" indent="0">
              <a:buNone/>
            </a:pPr>
            <a:r>
              <a:rPr lang="en-US" sz="4600" b="1">
                <a:solidFill>
                  <a:srgbClr val="FFFFFF"/>
                </a:solidFill>
                <a:latin typeface="Segoe UI" pitchFamily="34" charset="0"/>
                <a:ea typeface="Segoe UI" pitchFamily="34" charset="-122"/>
                <a:cs typeface="Segoe UI" pitchFamily="34" charset="-120"/>
              </a:rPr>
              <a:t>Web QA Automation</a:t>
            </a:r>
            <a:endParaRPr lang="en-US" sz="4600"/>
          </a:p>
        </p:txBody>
      </p:sp>
      <p:sp>
        <p:nvSpPr>
          <p:cNvPr id="4" name="Text 2"/>
          <p:cNvSpPr/>
          <p:nvPr/>
        </p:nvSpPr>
        <p:spPr>
          <a:xfrm>
            <a:off x="640080" y="3154680"/>
            <a:ext cx="10789920" cy="1005840"/>
          </a:xfrm>
          <a:prstGeom prst="rect">
            <a:avLst/>
          </a:prstGeom>
          <a:noFill/>
          <a:ln/>
        </p:spPr>
        <p:txBody>
          <a:bodyPr wrap="square" lIns="0" tIns="0" rIns="0" bIns="0" rtlCol="0" anchor="t"/>
          <a:lstStyle/>
          <a:p>
            <a:pPr marL="0" indent="0">
              <a:buNone/>
            </a:pPr>
            <a:r>
              <a:rPr lang="en-US" sz="2900">
                <a:solidFill>
                  <a:srgbClr val="FFFFFF"/>
                </a:solidFill>
                <a:latin typeface="Segoe UI" pitchFamily="34" charset="0"/>
                <a:ea typeface="Segoe UI" pitchFamily="34" charset="-122"/>
                <a:cs typeface="Segoe UI" pitchFamily="34" charset="-120"/>
              </a:rPr>
              <a:t>POC evidence and Analysis</a:t>
            </a:r>
            <a:endParaRPr lang="en-US" sz="2900"/>
          </a:p>
        </p:txBody>
      </p:sp>
      <p:sp>
        <p:nvSpPr>
          <p:cNvPr id="5" name="Text 3"/>
          <p:cNvSpPr/>
          <p:nvPr/>
        </p:nvSpPr>
        <p:spPr>
          <a:xfrm>
            <a:off x="640080" y="4892040"/>
            <a:ext cx="10789920" cy="914400"/>
          </a:xfrm>
          <a:prstGeom prst="rect">
            <a:avLst/>
          </a:prstGeom>
          <a:noFill/>
          <a:ln/>
        </p:spPr>
        <p:txBody>
          <a:bodyPr wrap="square" lIns="0" tIns="0" rIns="0" bIns="0" rtlCol="0" anchor="t"/>
          <a:lstStyle/>
          <a:p>
            <a:pPr marL="0" indent="0">
              <a:buNone/>
            </a:pPr>
            <a:r>
              <a:rPr lang="en-US" sz="2100">
                <a:solidFill>
                  <a:srgbClr val="CCDBEA"/>
                </a:solidFill>
                <a:latin typeface="Segoe UI" pitchFamily="34" charset="0"/>
                <a:ea typeface="Segoe UI" pitchFamily="34" charset="-122"/>
                <a:cs typeface="Segoe UI" pitchFamily="34" charset="-120"/>
              </a:rPr>
              <a:t>RSA and Benefit · Web testing</a:t>
            </a:r>
            <a:endParaRPr lang="en-US" sz="2100"/>
          </a:p>
          <a:p>
            <a:r>
              <a:rPr lang="en-US" sz="2100">
                <a:solidFill>
                  <a:srgbClr val="CCDBEA"/>
                </a:solidFill>
                <a:latin typeface="Segoe UI"/>
                <a:ea typeface="Segoe UI" pitchFamily="34" charset="-122"/>
                <a:cs typeface="Segoe UI"/>
              </a:rPr>
              <a:t>Management briefing · October  2026</a:t>
            </a:r>
            <a:endParaRPr lang="en-US" sz="2100">
              <a:latin typeface="Segoe UI"/>
              <a:cs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What we test</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449 RoadSide test cases: 347 can be fully automated</a:t>
            </a:r>
            <a:endParaRPr lang="en-US" sz="3200"/>
          </a:p>
        </p:txBody>
      </p:sp>
      <p:sp>
        <p:nvSpPr>
          <p:cNvPr id="4" name="Text 2"/>
          <p:cNvSpPr/>
          <p:nvPr/>
        </p:nvSpPr>
        <p:spPr>
          <a:xfrm>
            <a:off x="594360" y="1810512"/>
            <a:ext cx="10972800" cy="548640"/>
          </a:xfrm>
          <a:prstGeom prst="rect">
            <a:avLst/>
          </a:prstGeom>
          <a:noFill/>
          <a:ln/>
        </p:spPr>
        <p:txBody>
          <a:bodyPr wrap="square" lIns="0" tIns="0" rIns="0" bIns="0" rtlCol="0" anchor="t"/>
          <a:lstStyle/>
          <a:p>
            <a:pPr marL="0" indent="0">
              <a:buNone/>
            </a:pPr>
            <a:r>
              <a:rPr lang="en-US" sz="2500" b="1">
                <a:solidFill>
                  <a:srgbClr val="142B42"/>
                </a:solidFill>
                <a:latin typeface="Segoe UI" pitchFamily="34" charset="0"/>
                <a:ea typeface="Segoe UI" pitchFamily="34" charset="-122"/>
                <a:cs typeface="Segoe UI" pitchFamily="34" charset="-120"/>
              </a:rPr>
              <a:t>Every case in our full regression list, reviewed one by one</a:t>
            </a:r>
            <a:endParaRPr lang="en-US" sz="2500"/>
          </a:p>
        </p:txBody>
      </p:sp>
      <p:graphicFrame>
        <p:nvGraphicFramePr>
          <p:cNvPr id="5" name="Chart 0"/>
          <p:cNvGraphicFramePr/>
          <p:nvPr/>
        </p:nvGraphicFramePr>
        <p:xfrm>
          <a:off x="685800" y="2606040"/>
          <a:ext cx="1078992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94360" y="5074920"/>
            <a:ext cx="10972800" cy="548640"/>
          </a:xfrm>
          <a:prstGeom prst="rect">
            <a:avLst/>
          </a:prstGeom>
          <a:noFill/>
          <a:ln/>
        </p:spPr>
        <p:txBody>
          <a:bodyPr wrap="square" lIns="0" tIns="0" rIns="0" bIns="0" rtlCol="0" anchor="t"/>
          <a:lstStyle/>
          <a:p>
            <a:r>
              <a:rPr lang="en-US" sz="2500" b="1">
                <a:solidFill>
                  <a:srgbClr val="0B5FA5"/>
                </a:solidFill>
                <a:latin typeface="Segoe UI"/>
                <a:ea typeface="Segoe UI" pitchFamily="34" charset="-122"/>
                <a:cs typeface="Segoe UI"/>
              </a:rPr>
              <a:t>347 run fully by machine (77%)    •    102 need a person for one step</a:t>
            </a:r>
            <a:endParaRPr lang="en-US" sz="2500">
              <a:latin typeface="Segoe UI"/>
              <a:cs typeface="Segoe UI"/>
            </a:endParaRPr>
          </a:p>
        </p:txBody>
      </p:sp>
      <p:sp>
        <p:nvSpPr>
          <p:cNvPr id="7" name="Text 4"/>
          <p:cNvSpPr/>
          <p:nvPr/>
        </p:nvSpPr>
        <p:spPr>
          <a:xfrm>
            <a:off x="594360" y="5925312"/>
            <a:ext cx="10972800" cy="566928"/>
          </a:xfrm>
          <a:prstGeom prst="rect">
            <a:avLst/>
          </a:prstGeom>
          <a:noFill/>
          <a:ln/>
        </p:spPr>
        <p:txBody>
          <a:bodyPr wrap="square" lIns="0" tIns="0" rIns="0" bIns="0" rtlCol="0" anchor="t"/>
          <a:lstStyle/>
          <a:p>
            <a:r>
              <a:rPr lang="en-SG" sz="2000" dirty="0">
                <a:hlinkClick r:id="rId4"/>
              </a:rPr>
              <a:t>Not every test case can be fully automated - Aspire Digital - Confluence</a:t>
            </a:r>
            <a:endParaRPr lang="en-US" sz="1900" dirty="0">
              <a:latin typeface="Segoe UI"/>
              <a:cs typeface="Segoe UI"/>
            </a:endParaRPr>
          </a:p>
        </p:txBody>
      </p:sp>
      <p:sp>
        <p:nvSpPr>
          <p:cNvPr id="8" name="Text 5"/>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02</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Automation boundaries</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Not every test case can be fully automated</a:t>
            </a:r>
            <a:endParaRPr lang="en-US" sz="3200"/>
          </a:p>
        </p:txBody>
      </p:sp>
      <p:graphicFrame>
        <p:nvGraphicFramePr>
          <p:cNvPr id="7" name="Table 0"/>
          <p:cNvGraphicFramePr>
            <a:graphicFrameLocks noGrp="1"/>
          </p:cNvGraphicFramePr>
          <p:nvPr/>
        </p:nvGraphicFramePr>
        <p:xfrm>
          <a:off x="594360" y="1828800"/>
          <a:ext cx="10972800" cy="365760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457200">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Scenario</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Example from our test list</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Why a person is still needed</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Okta SSO login</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Sign in through Okta (TC-01-007)</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One-time code (OTP); Okta gives no test mock</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Real SMS delivery</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Send SMS via ClickNext (TC-12-012)</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Must arrive on a real phone</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76292481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Push to provider app</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Dispatch job to driver (TC-04-025)</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Job-list API tested; web + phone not joined</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4026767405"/>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Live GPS tracking</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Truck trail on the map (TC-08-002)</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Needs trucks actually moving</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242864428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Time-based rules</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Job past agreed service time (TC-09-004)</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Must wait real time or fake the dates</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990558164"/>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Forced failures</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CMS outage (TC-10-009)</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Must break a live service on purpose</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2633310554"/>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Human judgement</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Control-room alert sound (TC-09-016)</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A person judges if agents notice it</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787074650"/>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102 of 449 cases are partly automatable; a person checks what a machine cannot.</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03</a:t>
            </a:r>
            <a:endParaRPr lang="en-US" sz="1100"/>
          </a:p>
        </p:txBody>
      </p:sp>
    </p:spTree>
    <p:extLst>
      <p:ext uri="{BB962C8B-B14F-4D97-AF65-F5344CB8AC3E}">
        <p14:creationId xmlns:p14="http://schemas.microsoft.com/office/powerpoint/2010/main" val="3247571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Automation boundaries</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Human judgement: what a machine cannot see</a:t>
            </a:r>
            <a:endParaRPr lang="en-US" sz="3200"/>
          </a:p>
        </p:txBody>
      </p:sp>
      <p:graphicFrame>
        <p:nvGraphicFramePr>
          <p:cNvPr id="7" name="Table 0"/>
          <p:cNvGraphicFramePr>
            <a:graphicFrameLocks noGrp="1"/>
          </p:cNvGraphicFramePr>
          <p:nvPr/>
        </p:nvGraphicFramePr>
        <p:xfrm>
          <a:off x="594360" y="1828800"/>
          <a:ext cx="10972800" cy="3657600"/>
        </p:xfrm>
        <a:graphic>
          <a:graphicData uri="http://schemas.openxmlformats.org/drawingml/2006/table">
            <a:tbl>
              <a:tblPr/>
              <a:tblGrid>
                <a:gridCol w="402336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457200">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Where in the app</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What the machine checks</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What a person judges</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Monitor alert sound (TC-09-016)</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Sound plays without an error</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Loud enough for the control room?</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Failed SMS in the SMS log (TC-12-003)</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Failed rows have a colour or label</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Can staff spot it and retry?</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674652356"/>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Unread provider message (TC-09-009)</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Unread rows are marked differently</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Does an agent notice no reply?</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150883516"/>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Overdue task on a job (TC-07-005)</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A highlight colour is shown</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Obvious enough to act on?</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960414754"/>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Truck stops sending location (TC-11-006)</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A warning icon is shown</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Does someone notice it is lost?</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4057961583"/>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Job detail PDF (TC-13-021)</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File downloads with the job number</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Readable and fit to send a client?</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70874171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Keyboard-only use (TC-22-024)</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Tab key reaches every control</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Can you always see where you are?</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388071142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The machine checks it is there; a person checks it is noticed and usable.</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04</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Why Playwright</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Why Playwright: fits our journeys, free to use</a:t>
            </a:r>
            <a:endParaRPr lang="en-US" sz="3200"/>
          </a:p>
        </p:txBody>
      </p:sp>
      <p:graphicFrame>
        <p:nvGraphicFramePr>
          <p:cNvPr id="4" name="Table 0"/>
          <p:cNvGraphicFramePr>
            <a:graphicFrameLocks noGrp="1"/>
          </p:cNvGraphicFramePr>
          <p:nvPr>
            <p:extLst>
              <p:ext uri="{D42A27DB-BD31-4B8C-83A1-F6EECF244321}">
                <p14:modId xmlns:p14="http://schemas.microsoft.com/office/powerpoint/2010/main" val="1419147783"/>
              </p:ext>
            </p:extLst>
          </p:nvPr>
        </p:nvGraphicFramePr>
        <p:xfrm>
          <a:off x="594360" y="1828800"/>
          <a:ext cx="10972800" cy="3840480"/>
        </p:xfrm>
        <a:graphic>
          <a:graphicData uri="http://schemas.openxmlformats.org/drawingml/2006/table">
            <a:tbl>
              <a:tblPr/>
              <a:tblGrid>
                <a:gridCol w="3108960">
                  <a:extLst>
                    <a:ext uri="{9D8B030D-6E8A-4147-A177-3AD203B41FA5}">
                      <a16:colId xmlns:a16="http://schemas.microsoft.com/office/drawing/2014/main" val="20000"/>
                    </a:ext>
                  </a:extLst>
                </a:gridCol>
                <a:gridCol w="2621280">
                  <a:extLst>
                    <a:ext uri="{9D8B030D-6E8A-4147-A177-3AD203B41FA5}">
                      <a16:colId xmlns:a16="http://schemas.microsoft.com/office/drawing/2014/main" val="20001"/>
                    </a:ext>
                  </a:extLst>
                </a:gridCol>
                <a:gridCol w="2621280">
                  <a:extLst>
                    <a:ext uri="{9D8B030D-6E8A-4147-A177-3AD203B41FA5}">
                      <a16:colId xmlns:a16="http://schemas.microsoft.com/office/drawing/2014/main" val="20002"/>
                    </a:ext>
                  </a:extLst>
                </a:gridCol>
                <a:gridCol w="2621280">
                  <a:extLst>
                    <a:ext uri="{9D8B030D-6E8A-4147-A177-3AD203B41FA5}">
                      <a16:colId xmlns:a16="http://schemas.microsoft.com/office/drawing/2014/main" val="20003"/>
                    </a:ext>
                  </a:extLst>
                </a:gridCol>
              </a:tblGrid>
              <a:tr h="640080">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What we need</a:t>
                      </a:r>
                      <a:endParaRPr lang="en-US" sz="18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Playwright</a:t>
                      </a:r>
                      <a:endParaRPr lang="en-US" sz="18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Selenium</a:t>
                      </a:r>
                      <a:endParaRPr lang="en-US" sz="18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Cypress</a:t>
                      </a:r>
                      <a:endParaRPr lang="en-US" sz="18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640080">
                <a:tc>
                  <a:txBody>
                    <a:bodyPr/>
                    <a:lstStyle/>
                    <a:p>
                      <a:pPr marL="0" indent="0">
                        <a:buNone/>
                      </a:pPr>
                      <a:r>
                        <a:rPr lang="en-US" sz="1500">
                          <a:solidFill>
                            <a:srgbClr val="142B42"/>
                          </a:solidFill>
                          <a:latin typeface="Segoe UI" pitchFamily="34" charset="0"/>
                          <a:ea typeface="Segoe UI" pitchFamily="34" charset="-122"/>
                          <a:cs typeface="Segoe UI" pitchFamily="34" charset="-120"/>
                        </a:rPr>
                        <a:t>Follow full journeys across pages and popups</a:t>
                      </a:r>
                      <a:endParaRPr lang="en-US" sz="18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Built in</a:t>
                      </a:r>
                      <a:endParaRPr lang="en-US" sz="18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Possible; more setup</a:t>
                      </a:r>
                      <a:endParaRPr lang="en-US" sz="18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Weak across tabs and popups</a:t>
                      </a:r>
                      <a:endParaRPr lang="en-US" sz="18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500">
                          <a:solidFill>
                            <a:srgbClr val="142B42"/>
                          </a:solidFill>
                          <a:latin typeface="Segoe UI" pitchFamily="34" charset="0"/>
                          <a:ea typeface="Segoe UI" pitchFamily="34" charset="-122"/>
                          <a:cs typeface="Segoe UI" pitchFamily="34" charset="-120"/>
                        </a:rPr>
                        <a:t>See where a failed test broke</a:t>
                      </a:r>
                      <a:endParaRPr lang="en-US" sz="18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Report with step-by-step replay</a:t>
                      </a:r>
                      <a:endParaRPr lang="en-US" sz="18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Needs extra reporting tools</a:t>
                      </a:r>
                      <a:endParaRPr lang="en-US" sz="18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Interactive debugging</a:t>
                      </a:r>
                      <a:endParaRPr lang="en-US" sz="18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buNone/>
                      </a:pPr>
                      <a:r>
                        <a:rPr lang="en-US" sz="1500">
                          <a:solidFill>
                            <a:srgbClr val="142B42"/>
                          </a:solidFill>
                          <a:latin typeface="Segoe UI" pitchFamily="34" charset="0"/>
                          <a:ea typeface="Segoe UI" pitchFamily="34" charset="-122"/>
                          <a:cs typeface="Segoe UI" pitchFamily="34" charset="-120"/>
                        </a:rPr>
                        <a:t>Fewer false failures</a:t>
                      </a:r>
                      <a:endParaRPr lang="en-US" sz="18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Waits for screens automatically</a:t>
                      </a:r>
                      <a:endParaRPr lang="en-US" sz="18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Waiting rules written by hand</a:t>
                      </a:r>
                      <a:endParaRPr lang="en-US" sz="18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dirty="0">
                          <a:solidFill>
                            <a:srgbClr val="142B42"/>
                          </a:solidFill>
                          <a:latin typeface="Segoe UI"/>
                          <a:ea typeface="Segoe UI" pitchFamily="34" charset="-122"/>
                          <a:cs typeface="Segoe UI"/>
                        </a:rPr>
                        <a:t>Built-in retry</a:t>
                      </a:r>
                      <a:r>
                        <a:rPr lang="en-US" sz="1500" dirty="0" err="1">
                          <a:solidFill>
                            <a:srgbClr val="142B42"/>
                          </a:solidFill>
                          <a:latin typeface="Segoe UI"/>
                          <a:ea typeface="Segoe UI" pitchFamily="34" charset="-122"/>
                          <a:cs typeface="Segoe UI"/>
                        </a:rPr>
                        <a:t/>
                      </a:r>
                      <a:endParaRPr lang="en-US" sz="1800" dirty="0" err="1">
                        <a:latin typeface="Segoe UI"/>
                        <a:ea typeface="Segoe UI" charset="0"/>
                        <a:cs typeface="Segoe UI"/>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buNone/>
                      </a:pPr>
                      <a:r>
                        <a:rPr lang="en-US" sz="1500" dirty="0">
                          <a:solidFill>
                            <a:srgbClr val="142B42"/>
                          </a:solidFill>
                          <a:latin typeface="Segoe UI"/>
                          <a:ea typeface="Segoe UI" pitchFamily="34" charset="-122"/>
                          <a:cs typeface="Segoe UI"/>
                        </a:rPr>
                        <a:t>Check saved data against the CMS</a:t>
                      </a:r>
                      <a:r>
                        <a:rPr lang="en-US" sz="1500">
                          <a:solidFill>
                            <a:srgbClr val="142B42"/>
                          </a:solidFill>
                          <a:latin typeface="Segoe UI"/>
                          <a:ea typeface="Segoe UI" pitchFamily="34" charset="-122"/>
                          <a:cs typeface="Segoe UI"/>
                        </a:rPr>
                        <a:t/>
                      </a:r>
                      <a:endParaRPr lang="en-US" sz="1800">
                        <a:latin typeface="Segoe UI"/>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Screen and data checks in one test</a:t>
                      </a:r>
                      <a:endParaRPr lang="en-US" sz="18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Needs extra libraries</a:t>
                      </a:r>
                      <a:endParaRPr lang="en-US" sz="18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dirty="0">
                          <a:solidFill>
                            <a:srgbClr val="142B42"/>
                          </a:solidFill>
                          <a:latin typeface="Segoe UI" pitchFamily="34" charset="0"/>
                          <a:ea typeface="Segoe UI" pitchFamily="34" charset="-122"/>
                          <a:cs typeface="Segoe UI" pitchFamily="34" charset="-120"/>
                        </a:rPr>
                        <a:t>Possible</a:t>
                      </a:r>
                      <a:endParaRPr lang="en-US" sz="1800" dirty="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40080">
                <a:tc>
                  <a:txBody>
                    <a:bodyPr/>
                    <a:lstStyle/>
                    <a:p>
                      <a:pPr marL="0" indent="0">
                        <a:buNone/>
                      </a:pPr>
                      <a:r>
                        <a:rPr lang="en-US" sz="1500" dirty="0">
                          <a:solidFill>
                            <a:srgbClr val="142B42"/>
                          </a:solidFill>
                          <a:latin typeface="Segoe UI"/>
                          <a:ea typeface="Segoe UI" pitchFamily="34" charset="-122"/>
                          <a:cs typeface="Segoe UI"/>
                        </a:rPr>
                        <a:t>Licence cost</a:t>
                      </a:r>
                      <a:r>
                        <a:rPr lang="en-US" sz="1500">
                          <a:solidFill>
                            <a:srgbClr val="142B42"/>
                          </a:solidFill>
                          <a:latin typeface="Segoe UI"/>
                          <a:ea typeface="Segoe UI" pitchFamily="34" charset="-122"/>
                          <a:cs typeface="Segoe UI"/>
                        </a:rPr>
                        <a:t/>
                      </a:r>
                      <a:endParaRPr lang="en-US" sz="1800">
                        <a:latin typeface="Segoe UI"/>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Free (Apache 2.0)</a:t>
                      </a:r>
                      <a:endParaRPr lang="en-US" sz="18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Free (Apache 2.0)</a:t>
                      </a:r>
                      <a:endParaRPr lang="en-US" sz="18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dirty="0">
                          <a:solidFill>
                            <a:srgbClr val="142B42"/>
                          </a:solidFill>
                          <a:latin typeface="Segoe UI" pitchFamily="34" charset="0"/>
                          <a:ea typeface="Segoe UI" pitchFamily="34" charset="-122"/>
                          <a:cs typeface="Segoe UI" pitchFamily="34" charset="-120"/>
                        </a:rPr>
                        <a:t>Free core (MIT)</a:t>
                      </a:r>
                      <a:endParaRPr lang="en-US" sz="1800" dirty="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Free licence; the real costs are pipeline time, AI seats and QA review.</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05</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How we use AI</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How AI helps us build tests, step by step</a:t>
            </a:r>
            <a:endParaRPr lang="en-US" sz="320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29184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48640">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Step</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Who does it</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What comes out</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548640">
                <a:tc>
                  <a:txBody>
                    <a:bodyPr/>
                    <a:lstStyle/>
                    <a:p>
                      <a:pPr marL="0" indent="0">
                        <a:buNone/>
                      </a:pPr>
                      <a:r>
                        <a:rPr lang="en-US" sz="1800">
                          <a:solidFill>
                            <a:srgbClr val="142B42"/>
                          </a:solidFill>
                          <a:latin typeface="Segoe UI" pitchFamily="34" charset="0"/>
                          <a:ea typeface="Segoe UI" pitchFamily="34" charset="-122"/>
                          <a:cs typeface="Segoe UI" pitchFamily="34" charset="-120"/>
                        </a:rPr>
                        <a:t>1. Pick a case from the 449-case list</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QA</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The case and its expected result</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800">
                          <a:solidFill>
                            <a:srgbClr val="142B42"/>
                          </a:solidFill>
                          <a:latin typeface="Segoe UI" pitchFamily="34" charset="0"/>
                          <a:ea typeface="Segoe UI" pitchFamily="34" charset="-122"/>
                          <a:cs typeface="Segoe UI" pitchFamily="34" charset="-120"/>
                        </a:rPr>
                        <a:t>2. Write the Playwright test</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AI (Claude Code)</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Test code in a few minutes</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800">
                          <a:solidFill>
                            <a:srgbClr val="142B42"/>
                          </a:solidFill>
                          <a:latin typeface="Segoe UI" pitchFamily="34" charset="0"/>
                          <a:ea typeface="Segoe UI" pitchFamily="34" charset="-122"/>
                          <a:cs typeface="Segoe UI" pitchFamily="34" charset="-120"/>
                        </a:rPr>
                        <a:t>3. Run it and fix any failure</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AI, checked by a developer</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 test that passes for the right reason</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800">
                          <a:solidFill>
                            <a:srgbClr val="142B42"/>
                          </a:solidFill>
                          <a:latin typeface="Segoe UI" pitchFamily="34" charset="0"/>
                          <a:ea typeface="Segoe UI" pitchFamily="34" charset="-122"/>
                          <a:cs typeface="Segoe UI" pitchFamily="34" charset="-120"/>
                        </a:rPr>
                        <a:t>4. Review and approve</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QA</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Only approved tests join the pack</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800">
                          <a:solidFill>
                            <a:srgbClr val="142B42"/>
                          </a:solidFill>
                          <a:latin typeface="Segoe UI" pitchFamily="34" charset="0"/>
                          <a:ea typeface="Segoe UI" pitchFamily="34" charset="-122"/>
                          <a:cs typeface="Segoe UI" pitchFamily="34" charset="-120"/>
                        </a:rPr>
                        <a:t>5. Run at every release</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Build pipeline (no AI)</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Report with screenshots of any failure</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AI writes and fixes the tests; people decide what is tested and what counts as a pass.</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06</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Trial proof</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Trial: a robot created a vendor and checked it</a:t>
            </a:r>
            <a:endParaRPr lang="en-US" sz="3200"/>
          </a:p>
        </p:txBody>
      </p:sp>
      <p:sp>
        <p:nvSpPr>
          <p:cNvPr id="4" name="Text 2"/>
          <p:cNvSpPr/>
          <p:nvPr/>
        </p:nvSpPr>
        <p:spPr>
          <a:xfrm>
            <a:off x="594360" y="1755648"/>
            <a:ext cx="5669280" cy="320040"/>
          </a:xfrm>
          <a:prstGeom prst="rect">
            <a:avLst/>
          </a:prstGeom>
          <a:noFill/>
          <a:ln/>
        </p:spPr>
        <p:txBody>
          <a:bodyPr wrap="square" lIns="0" tIns="0" rIns="0" bIns="0" rtlCol="0" anchor="t"/>
          <a:lstStyle/>
          <a:p>
            <a:pPr marL="0" indent="0">
              <a:buNone/>
            </a:pPr>
            <a:r>
              <a:rPr lang="en-US" sz="1800" b="1">
                <a:solidFill>
                  <a:srgbClr val="0B5FA5"/>
                </a:solidFill>
                <a:latin typeface="Segoe UI" pitchFamily="34" charset="0"/>
                <a:ea typeface="Segoe UI" pitchFamily="34" charset="-122"/>
                <a:cs typeface="Segoe UI" pitchFamily="34" charset="-120"/>
              </a:rPr>
              <a:t>1. Fills in the form and saves</a:t>
            </a:r>
            <a:endParaRPr lang="en-US" sz="1800"/>
          </a:p>
        </p:txBody>
      </p:sp>
      <p:sp>
        <p:nvSpPr>
          <p:cNvPr id="5" name="Text 3"/>
          <p:cNvSpPr/>
          <p:nvPr/>
        </p:nvSpPr>
        <p:spPr>
          <a:xfrm>
            <a:off x="6583680" y="1755648"/>
            <a:ext cx="4983480" cy="320040"/>
          </a:xfrm>
          <a:prstGeom prst="rect">
            <a:avLst/>
          </a:prstGeom>
          <a:noFill/>
          <a:ln/>
        </p:spPr>
        <p:txBody>
          <a:bodyPr wrap="square" lIns="0" tIns="0" rIns="0" bIns="0" rtlCol="0" anchor="t"/>
          <a:lstStyle/>
          <a:p>
            <a:pPr marL="0" indent="0">
              <a:buNone/>
            </a:pPr>
            <a:r>
              <a:rPr lang="en-US" sz="1800" b="1">
                <a:solidFill>
                  <a:srgbClr val="0B5FA5"/>
                </a:solidFill>
                <a:latin typeface="Segoe UI" pitchFamily="34" charset="0"/>
                <a:ea typeface="Segoe UI" pitchFamily="34" charset="-122"/>
                <a:cs typeface="Segoe UI" pitchFamily="34" charset="-120"/>
              </a:rPr>
              <a:t>2. Checks the saved details on screen</a:t>
            </a:r>
            <a:endParaRPr lang="en-US" sz="1800"/>
          </a:p>
        </p:txBody>
      </p:sp>
      <p:pic>
        <p:nvPicPr>
          <p:cNvPr id="6" name="Image 0" descr="C:\Projects\AspireDigital\ai-workshop\docs\qa-automation-poc\evidence\benefit-save-success.png"/>
          <p:cNvPicPr>
            <a:picLocks noChangeAspect="1"/>
          </p:cNvPicPr>
          <p:nvPr/>
        </p:nvPicPr>
        <p:blipFill>
          <a:blip r:embed="rId3"/>
          <a:stretch>
            <a:fillRect/>
          </a:stretch>
        </p:blipFill>
        <p:spPr>
          <a:xfrm>
            <a:off x="594360" y="2194560"/>
            <a:ext cx="5715000" cy="3214688"/>
          </a:xfrm>
          <a:prstGeom prst="rect">
            <a:avLst/>
          </a:prstGeom>
        </p:spPr>
      </p:pic>
      <p:pic>
        <p:nvPicPr>
          <p:cNvPr id="7" name="Image 1" descr="C:\Projects\AspireDigital\ai-workshop\docs\qa-automation-poc\evidence\benefit-vendor-detail.png"/>
          <p:cNvPicPr>
            <a:picLocks noChangeAspect="1"/>
          </p:cNvPicPr>
          <p:nvPr/>
        </p:nvPicPr>
        <p:blipFill>
          <a:blip r:embed="rId4"/>
          <a:srcRect b="61934"/>
          <a:stretch/>
        </p:blipFill>
        <p:spPr>
          <a:xfrm>
            <a:off x="6583680" y="2194560"/>
            <a:ext cx="4983480" cy="3337560"/>
          </a:xfrm>
          <a:prstGeom prst="rect">
            <a:avLst/>
          </a:prstGeom>
        </p:spPr>
      </p:pic>
      <p:sp>
        <p:nvSpPr>
          <p:cNvPr id="8" name="Text 4"/>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Test vendor 20415: saved, then 19 on-screen values matched the content system (CMS).</a:t>
            </a:r>
            <a:endParaRPr lang="en-US" sz="1900"/>
          </a:p>
        </p:txBody>
      </p:sp>
      <p:sp>
        <p:nvSpPr>
          <p:cNvPr id="9" name="Text 5"/>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07</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Our AI choice</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Claude Code or Codex: why we chose Claude Code</a:t>
            </a:r>
            <a:endParaRPr lang="en-US" sz="3200"/>
          </a:p>
        </p:txBody>
      </p:sp>
      <p:graphicFrame>
        <p:nvGraphicFramePr>
          <p:cNvPr id="7" name="Table 0"/>
          <p:cNvGraphicFramePr>
            <a:graphicFrameLocks noGrp="1"/>
          </p:cNvGraphicFramePr>
          <p:nvPr/>
        </p:nvGraphicFramePr>
        <p:xfrm>
          <a:off x="594360" y="1828800"/>
          <a:ext cx="10972800" cy="329184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48640">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What matters to us</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Claude Code</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Codex</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548640">
                <a:tc>
                  <a:txBody>
                    <a:bodyPr/>
                    <a:lstStyle/>
                    <a:p>
                      <a:pPr marL="0" indent="0">
                        <a:buNone/>
                      </a:pPr>
                      <a:r>
                        <a:rPr lang="en-US" sz="1800">
                          <a:solidFill>
                            <a:srgbClr val="142B42"/>
                          </a:solidFill>
                          <a:latin typeface="Segoe UI" pitchFamily="34" charset="0"/>
                          <a:ea typeface="Segoe UI" pitchFamily="34" charset="-122"/>
                          <a:cs typeface="Segoe UI" pitchFamily="34" charset="-120"/>
                        </a:rPr>
                        <a:t>Writes and runs tests on our laptops</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Yes</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Yes</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800">
                          <a:solidFill>
                            <a:srgbClr val="142B42"/>
                          </a:solidFill>
                          <a:latin typeface="Segoe UI" pitchFamily="34" charset="0"/>
                          <a:ea typeface="Segoe UI" pitchFamily="34" charset="-122"/>
                          <a:cs typeface="Segoe UI" pitchFamily="34" charset="-120"/>
                        </a:rPr>
                        <a:t>Our Jira-to-release AI workflow</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Already built on it</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Would need rebuilding</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800">
                          <a:solidFill>
                            <a:srgbClr val="142B42"/>
                          </a:solidFill>
                          <a:latin typeface="Segoe UI" pitchFamily="34" charset="0"/>
                          <a:ea typeface="Segoe UI" pitchFamily="34" charset="-122"/>
                          <a:cs typeface="Segoe UI" pitchFamily="34" charset="-120"/>
                        </a:rPr>
                        <a:t>Setup on our Windows laptops</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Worked as is</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Needed extra fixes</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800">
                          <a:solidFill>
                            <a:srgbClr val="142B42"/>
                          </a:solidFill>
                          <a:latin typeface="Segoe UI" pitchFamily="34" charset="0"/>
                          <a:ea typeface="Segoe UI" pitchFamily="34" charset="-122"/>
                          <a:cs typeface="Segoe UI" pitchFamily="34" charset="-120"/>
                        </a:rPr>
                        <a:t>Usage per USD 20 seat</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1.25 × the personal plan</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1 × the personal plan</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800">
                          <a:solidFill>
                            <a:srgbClr val="142B42"/>
                          </a:solidFill>
                          <a:latin typeface="Segoe UI" pitchFamily="34" charset="0"/>
                          <a:ea typeface="Segoe UI" pitchFamily="34" charset="-122"/>
                          <a:cs typeface="Segoe UI" pitchFamily="34" charset="-120"/>
                        </a:rPr>
                        <a:t>Heavy-user seat (USD 100)</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Available now</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Waitlist only</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Both can do the job; Claude Code fits our team today. Our two trials had different tasks.</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08</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AI cost</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AI cost: USD 20 per person, with a usage allowance</a:t>
            </a:r>
            <a:endParaRPr lang="en-US" sz="3200"/>
          </a:p>
        </p:txBody>
      </p:sp>
      <p:graphicFrame>
        <p:nvGraphicFramePr>
          <p:cNvPr id="7" name="Table 0"/>
          <p:cNvGraphicFramePr>
            <a:graphicFrameLocks noGrp="1"/>
          </p:cNvGraphicFramePr>
          <p:nvPr/>
        </p:nvGraphicFramePr>
        <p:xfrm>
          <a:off x="594360" y="1828800"/>
          <a:ext cx="10972800" cy="3291840"/>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48640">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Plan option</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Claude Team</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ChatGPT Business</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548640">
                <a:tc>
                  <a:txBody>
                    <a:bodyPr/>
                    <a:lstStyle/>
                    <a:p>
                      <a:pPr marL="0" indent="0">
                        <a:buNone/>
                      </a:pPr>
                      <a:r>
                        <a:rPr lang="en-US" sz="1800">
                          <a:solidFill>
                            <a:srgbClr val="142B42"/>
                          </a:solidFill>
                          <a:latin typeface="Segoe UI" pitchFamily="34" charset="0"/>
                          <a:ea typeface="Segoe UI" pitchFamily="34" charset="-122"/>
                          <a:cs typeface="Segoe UI" pitchFamily="34" charset="-120"/>
                        </a:rPr>
                        <a:t>Standard seat (billed yearly)</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20 / person / month</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20 / person / month</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800">
                          <a:solidFill>
                            <a:srgbClr val="142B42"/>
                          </a:solidFill>
                          <a:latin typeface="Segoe UI" pitchFamily="34" charset="0"/>
                          <a:ea typeface="Segoe UI" pitchFamily="34" charset="-122"/>
                          <a:cs typeface="Segoe UI" pitchFamily="34" charset="-120"/>
                        </a:rPr>
                        <a:t>Premium seat (heavy user)</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100 · available now</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100 · waitlist only</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800">
                          <a:solidFill>
                            <a:srgbClr val="142B42"/>
                          </a:solidFill>
                          <a:latin typeface="Segoe UI" pitchFamily="34" charset="0"/>
                          <a:ea typeface="Segoe UI" pitchFamily="34" charset="-122"/>
                          <a:cs typeface="Segoe UI" pitchFamily="34" charset="-120"/>
                        </a:rPr>
                        <a:t>Enterprise plan</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20 + pay per use · 20+ people</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Price on request · ~150 people</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800">
                          <a:solidFill>
                            <a:srgbClr val="142B42"/>
                          </a:solidFill>
                          <a:latin typeface="Segoe UI" pitchFamily="34" charset="0"/>
                          <a:ea typeface="Segoe UI" pitchFamily="34" charset="-122"/>
                          <a:cs typeface="Segoe UI" pitchFamily="34" charset="-120"/>
                        </a:rPr>
                        <a:t>When the allowance runs out</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Wait for the refill, or buy extra</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Wait for the refill, or buy extra</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800">
                          <a:solidFill>
                            <a:srgbClr val="142B42"/>
                          </a:solidFill>
                          <a:latin typeface="Segoe UI" pitchFamily="34" charset="0"/>
                          <a:ea typeface="Segoe UI" pitchFamily="34" charset="-122"/>
                          <a:cs typeface="Segoe UI" pitchFamily="34" charset="-120"/>
                        </a:rPr>
                        <a:t>Running tests in the pipeline</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Uses no AI allowance</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Uses no AI allowance</a:t>
                      </a:r>
                      <a:endParaRPr lang="en-US" sz="1800">
                        <a:latin typeface="Segoe UI" charset="0"/>
                        <a:ea typeface="Segoe UI" charset="0"/>
                        <a:cs typeface="Segoe UI" charset="0"/>
                      </a:endParaRPr>
                    </a:p>
                  </a:txBody>
                  <a:tcPr marL="146304" marR="146304" marT="73152" marB="73152">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A token is the AI’s “mobile data” (about ¾ of a word); each seat refills every 5 hours and weekly.</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09</a:t>
            </a:r>
            <a:endParaRPr lang="en-US" sz="1100"/>
          </a:p>
        </p:txBody>
      </p:sp>
    </p:spTree>
    <p:extLst>
      <p:ext uri="{BB962C8B-B14F-4D97-AF65-F5344CB8AC3E}">
        <p14:creationId xmlns:p14="http://schemas.microsoft.com/office/powerpoint/2010/main" val="2533600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Build pipeline</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When the tests run: once per release</a:t>
            </a:r>
            <a:endParaRPr lang="en-US" sz="320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675888"/>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When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Our plan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Every code change (PR)</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No</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 full run takes about 1–2 hours; pipeline time is billed per minute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Every day (nightly)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No</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Pays for runs when nothing has changed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Each release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Yes: the full test pack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One run gives the evidence to approve the release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AI cost per run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None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Playwright runs the tests; AI only writes and fixes them</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Expectation: one full run per release; the cost is pipeline minutes, not AI.</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10</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Next steps</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What we need to finish the job</a:t>
            </a:r>
            <a:endParaRPr lang="en-US" sz="320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4005072"/>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What is missing</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What we need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Why it matters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Test accounts for each role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Approved test accounts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Run sign-in and permission tests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Test jobs to work with</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 fixed set of test jobs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Same result on every run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Database access for checks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Restore test database access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Prove data is saved, not just shown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AI-written expected results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QA reviews each test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No false “pass” results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With these in place, we build out the remaining test cases.</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11</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Decision requested</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For approval: Playwright + Claude Code</a:t>
            </a:r>
            <a:endParaRPr lang="en-US" sz="3200"/>
          </a:p>
        </p:txBody>
      </p:sp>
      <p:graphicFrame>
        <p:nvGraphicFramePr>
          <p:cNvPr id="7" name="Table 0"/>
          <p:cNvGraphicFramePr>
            <a:graphicFrameLocks noGrp="1"/>
          </p:cNvGraphicFramePr>
          <p:nvPr/>
        </p:nvGraphicFramePr>
        <p:xfrm>
          <a:off x="594360" y="1828800"/>
          <a:ext cx="10972800" cy="3621024"/>
        </p:xfrm>
        <a:graphic>
          <a:graphicData uri="http://schemas.openxmlformats.org/drawingml/2006/table">
            <a:tbl>
              <a:tblPr/>
              <a:tblGrid>
                <a:gridCol w="274320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Tool</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What it does for us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Cost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Playwright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Clicks through the website like a user</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Free (open source)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Claude Team (AI)</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Writes and fixes the tests for us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Min: USD 20 per person / month</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Build pipeline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Runs the full test pack once per release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Existing; no new tool</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QA team</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Reviews results; does the manual checks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Existing staff</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We ask approval for Claude Team seats and Playwright as our test standard.</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12</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2404</Words>
  <Application>Microsoft Office PowerPoint</Application>
  <PresentationFormat>Widescreen</PresentationFormat>
  <Paragraphs>519</Paragraphs>
  <Slides>27</Slides>
  <Notes>20</Notes>
  <HiddenSlides>1</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International SOS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QA Automation — Management Briefing</dc:title>
  <dc:subject>Tool selection, POC evidence, coverage and pipeline plan</dc:subject>
  <dc:creator>APAC Aspire Digital</dc:creator>
  <cp:lastModifiedBy>Vimukthi Sameera Amaratunga</cp:lastModifiedBy>
  <cp:revision>7</cp:revision>
  <dcterms:created xsi:type="dcterms:W3CDTF">2026-10-09T04:06:43Z</dcterms:created>
  <dcterms:modified xsi:type="dcterms:W3CDTF">2026-10-15T05:59:54Z</dcterms:modified>
</cp:coreProperties>
</file>