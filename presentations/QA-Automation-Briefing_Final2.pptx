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84" r:id="rId4"/>
    <p:sldId id="264" r:id="rId5"/>
    <p:sldId id="266" r:id="rId6"/>
    <p:sldId id="282" r:id="rId7"/>
    <p:sldId id="279" r:id="rId8"/>
    <p:sldId id="285" r:id="rId9"/>
    <p:sldId id="283" r:id="rId10"/>
    <p:sldId id="286" r:id="rId11"/>
    <p:sldId id="272" r:id="rId12"/>
    <p:sldId id="280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08DF16-EEA0-D1D6-ACD0-D9BDE597294A}" v="6" dt="2026-10-15T05:58:34.755"/>
    <p1510:client id="{411AB500-2DBE-94A1-C8EF-078005F300F7}" v="25" dt="2026-10-13T14:39:50.898"/>
    <p1510:client id="{8ABE5F9E-45CF-4E06-B75F-C9F222B070CE}" v="51" dt="2026-10-14T09:24:05.1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714" autoAdjust="0"/>
  </p:normalViewPr>
  <p:slideViewPr>
    <p:cSldViewPr snapToGrid="0">
      <p:cViewPr varScale="1">
        <p:scale>
          <a:sx n="95" d="100"/>
          <a:sy n="95" d="100"/>
        </p:scale>
        <p:origin x="11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Fully automatable</c:v>
                </c:pt>
              </c:strCache>
            </c:strRef>
          </c:tx>
          <c:spPr>
            <a:solidFill>
              <a:srgbClr val="0B5FA5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RSA cases</c:v>
                </c:pt>
              </c:strCache>
            </c:strRef>
          </c:cat>
          <c:val>
            <c:numRef>
              <c:f>Sheet1!$B$2:$B$2</c:f>
              <c:numCache>
                <c:formatCode>0</c:formatCode>
                <c:ptCount val="1"/>
                <c:pt idx="0">
                  <c:v>347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7C-4678-B1FC-2B57F88931E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Partly: a person checks one step</c:v>
                </c:pt>
              </c:strCache>
            </c:strRef>
          </c:tx>
          <c:spPr>
            <a:solidFill>
              <a:srgbClr val="D4DEE8"/>
            </a:solidFill>
            <a:effectLst/>
          </c:spPr>
          <c:invertIfNegative val="0"/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42B42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RSA cases</c:v>
                </c:pt>
              </c:strCache>
            </c:strRef>
          </c:cat>
          <c:val>
            <c:numRef>
              <c:f>Sheet1!$C$2:$C$2</c:f>
              <c:numCache>
                <c:formatCode>0</c:formatCode>
                <c:ptCount val="1"/>
                <c:pt idx="0">
                  <c:v>102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17C-4678-B1FC-2B57F88931E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49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021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Saved evidence from 8 October 2026. The left image captures the successful creation toast. The right image shows the upper portion of vendor details. Vendor ID 20415 and CMS item d4b1c8e8-d8ac-415d-86eb-856391f9a531. This demonstrates save, detail display and nineteen CMS-rendered value comparisons. It does not prove every optional field persisted or full database parity.
Sources: https://internationalsos.atlassian.net/wiki/spaces/AD/pages/6896287838
POC supporting evidence: https://internationalsos.atlassian.net/wiki/spaces/AD/pages/6896156677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nternationalsos.atlassian.net/wiki/spaces/AD/pages/6906642437/Not+every+test+case+can+be+fully+automated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B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058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8CBDE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 ASPIRE DIGITAL</a:t>
            </a:r>
            <a:endParaRPr lang="en-US" sz="180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QA Automation</a:t>
            </a:r>
            <a:endParaRPr lang="en-US" sz="4600"/>
          </a:p>
        </p:txBody>
      </p:sp>
      <p:sp>
        <p:nvSpPr>
          <p:cNvPr id="4" name="Text 2"/>
          <p:cNvSpPr/>
          <p:nvPr/>
        </p:nvSpPr>
        <p:spPr>
          <a:xfrm>
            <a:off x="640080" y="3154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90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POC evidence and Analysis</a:t>
            </a:r>
            <a:endParaRPr lang="en-US" sz="2900"/>
          </a:p>
        </p:txBody>
      </p:sp>
      <p:sp>
        <p:nvSpPr>
          <p:cNvPr id="5" name="Text 3"/>
          <p:cNvSpPr/>
          <p:nvPr/>
        </p:nvSpPr>
        <p:spPr>
          <a:xfrm>
            <a:off x="640080" y="48920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>
                <a:solidFill>
                  <a:srgbClr val="CCDB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RSA and Benefit · Web testing</a:t>
            </a:r>
            <a:endParaRPr lang="en-US" sz="2100"/>
          </a:p>
          <a:p>
            <a:r>
              <a:rPr lang="en-US" sz="2100">
                <a:solidFill>
                  <a:srgbClr val="CCDBEA"/>
                </a:solidFill>
                <a:latin typeface="Segoe UI"/>
                <a:ea typeface="Segoe UI" pitchFamily="34" charset="-122"/>
                <a:cs typeface="Segoe UI"/>
              </a:rPr>
              <a:t>Management briefing · October  2026</a:t>
            </a:r>
            <a:endParaRPr lang="en-US" sz="2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Playwright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Playwright: fits our journeys, free to use</a:t>
            </a:r>
            <a:endParaRPr lang="en-US" sz="320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9147783"/>
              </p:ext>
            </p:extLst>
          </p:nvPr>
        </p:nvGraphicFramePr>
        <p:xfrm>
          <a:off x="594360" y="1828800"/>
          <a:ext cx="10972800" cy="38404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we need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Selenium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Cypress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Follow full journeys across pages and popups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 in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Possible; more setup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Weak across tabs and popups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See where a failed test broke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with step-by-step replay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 extra reporting tools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Interactive debugging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Fewer false failures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Waits for screens automatically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Waiting rules written by hand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B42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Built-in retry</a:t>
                      </a:r>
                      <a:endParaRPr lang="en-US" sz="1800" dirty="0" err="1">
                        <a:latin typeface="Segoe UI"/>
                        <a:ea typeface="Segoe UI" charset="0"/>
                        <a:cs typeface="Segoe UI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B42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Check saved data against the CMS</a:t>
                      </a:r>
                      <a:endParaRPr lang="en-US" sz="1800">
                        <a:latin typeface="Segoe UI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Screen and data checks in one test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 extra libraries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Possible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B42"/>
                          </a:solidFill>
                          <a:latin typeface="Segoe UI"/>
                          <a:ea typeface="Segoe UI" pitchFamily="34" charset="-122"/>
                          <a:cs typeface="Segoe UI"/>
                        </a:rPr>
                        <a:t>Licence cost</a:t>
                      </a:r>
                      <a:endParaRPr lang="en-US" sz="1800">
                        <a:latin typeface="Segoe UI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(Apache 2.0)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(Apache 2.0)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core (MIT)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36652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licence; the real costs are pipeline time, AI seats and QA review.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we use AI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AI helps us build tests, step by step</a:t>
            </a:r>
            <a:endParaRPr lang="en-US" sz="3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972800" cy="387705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does it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comes out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 Pick a case from the 449-case list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case and its expected result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 Write the Playwright test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(Claude Code)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code in a few minutes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 Run it and fix any failure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AI, checked by a developer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test that passes for the right reason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 Review and approve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Only approved tests join the pack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 Run at every release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pipeline (no AI)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with screenshots of any failure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777774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writes and fixes the tests; people decide what is tested and what counts as a pass.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 proof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Trial: a robot created a vendor and checked it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94360" y="17556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Fills in the form and saves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6583680" y="17556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Checks the saved details on screen</a:t>
            </a:r>
            <a:endParaRPr lang="en-US" sz="1800"/>
          </a:p>
        </p:txBody>
      </p:sp>
      <p:pic>
        <p:nvPicPr>
          <p:cNvPr id="6" name="Image 0" descr="C:\Projects\AspireDigital\ai-workshop\docs\qa-automation-poc\evidence\benefit-save-su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94560"/>
            <a:ext cx="5715000" cy="3214688"/>
          </a:xfrm>
          <a:prstGeom prst="rect">
            <a:avLst/>
          </a:prstGeom>
        </p:spPr>
      </p:pic>
      <p:pic>
        <p:nvPicPr>
          <p:cNvPr id="7" name="Image 1" descr="C:\Projects\AspireDigital\ai-workshop\docs\qa-automation-poc\evidence\benefit-vendor-detail.png"/>
          <p:cNvPicPr>
            <a:picLocks noChangeAspect="1"/>
          </p:cNvPicPr>
          <p:nvPr/>
        </p:nvPicPr>
        <p:blipFill>
          <a:blip r:embed="rId4"/>
          <a:srcRect b="61934"/>
          <a:stretch/>
        </p:blipFill>
        <p:spPr>
          <a:xfrm>
            <a:off x="6583680" y="2194560"/>
            <a:ext cx="4983480" cy="33375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vendor 20415: saved, then 19 on-screen values matched the content system (CMS).</a:t>
            </a:r>
            <a:endParaRPr lang="en-US" sz="1900"/>
          </a:p>
        </p:txBody>
      </p:sp>
      <p:sp>
        <p:nvSpPr>
          <p:cNvPr id="9" name="Text 5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test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449 RoadSide test cases: 347 can be fully automated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94360" y="181051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case in our full regression list, reviewed one by one</a:t>
            </a:r>
            <a:endParaRPr lang="en-US" sz="2500"/>
          </a:p>
        </p:txBody>
      </p:sp>
      <p:graphicFrame>
        <p:nvGraphicFramePr>
          <p:cNvPr id="5" name="Chart 0"/>
          <p:cNvGraphicFramePr/>
          <p:nvPr/>
        </p:nvGraphicFramePr>
        <p:xfrm>
          <a:off x="685800" y="2606040"/>
          <a:ext cx="1078992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4360" y="50749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00" b="1">
                <a:solidFill>
                  <a:srgbClr val="0B5FA5"/>
                </a:solidFill>
                <a:latin typeface="Segoe UI"/>
                <a:ea typeface="Segoe UI" pitchFamily="34" charset="-122"/>
                <a:cs typeface="Segoe UI"/>
              </a:rPr>
              <a:t>347 run fully by machine (77%)    •    102 need a person for one step</a:t>
            </a:r>
            <a:endParaRPr lang="en-US" sz="2500">
              <a:latin typeface="Segoe UI"/>
              <a:cs typeface="Segoe UI"/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SG" sz="2000" dirty="0">
                <a:hlinkClick r:id="rId4"/>
              </a:rPr>
              <a:t>Not every test case can be fully automated - Aspire Digital - Confluence</a:t>
            </a:r>
            <a:endParaRPr lang="en-US" sz="1900" dirty="0">
              <a:latin typeface="Segoe UI"/>
              <a:cs typeface="Segoe UI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boundaries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every test case can be fully automated</a:t>
            </a:r>
            <a:endParaRPr lang="en-US" sz="3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828800"/>
          <a:ext cx="10972800" cy="365760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Scenario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Example from our test list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 a person is still needed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Okta SSO login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 in through Okta (TC-01-007)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One-time code (OTP); Okta gives no test mock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 SMS delivery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 SMS via ClickNext (TC-12-012)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arrive on a real phone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9248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Push to provider app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Dispatch job to driver (TC-04-025)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Job-list API tested; web + phone not joined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674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GPS tracking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Truck trail on the map (TC-08-002)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Needs trucks actually moving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864428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Time-based rules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 past agreed service time (TC-09-004)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wait real time or fake the dates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581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Forced failures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CMS outage (TC-10-009)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Must break a live service on purpose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3105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Human judgement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Control-room alert sound (TC-09-016)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person judges if agents notice it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7074650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102 of 449 cases are partly automatable; a person checks what a machine cannot.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247571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boundaries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judgement: what a machine cannot see</a:t>
            </a:r>
            <a:endParaRPr lang="en-US" sz="3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828800"/>
          <a:ext cx="10972800" cy="365760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in the app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machine checks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a person judges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Monitor alert sound (TC-09-016)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Sound plays without an error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Loud enough for the control room?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Failed SMS in the SMS log (TC-12-003)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Failed rows have a colour or label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staff spot it and retry?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65235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Unread provider message (TC-09-009)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Unread rows are marked differently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 an agent notice no reply?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8835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Overdue task on a job (TC-07-005)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highlight colour is shown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Obvious enough to act on?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147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Truck stops sending location (TC-11-006)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warning icon is shown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Does someone notice it is lost?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796158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Job detail PDF (TC-13-021)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downloads with the job number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Readable and fit to send a client?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7417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Keyboard-only use (TC-22-024)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Tab key reaches every control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 you always see where you are?</a:t>
                      </a:r>
                      <a:endParaRPr lang="en-US" sz="15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82296" marB="82296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071142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machine checks it is there; a person checks it is noticed and usable.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AI choice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Code or Codex: why we chose Claude Code</a:t>
            </a:r>
            <a:endParaRPr lang="en-US" sz="3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828800"/>
          <a:ext cx="10972800" cy="343814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matters to us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Code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Codex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Writes and runs tests on our laptops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Our Jira-to-release AI workflow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Already built on it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Would need rebuilding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Setup on our Windows laptops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Worked as is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Needed extra fixes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Usage per USD 20 seat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1.25 × the personal plan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× the personal plan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Heavy-user seat (USD 100)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Available now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Waitlist only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10233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can do the job; Claude Code fits our team today. Our two trials had different tasks.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cost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Company plans: the same price per person</a:t>
            </a:r>
            <a:endParaRPr lang="en-US" sz="3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828800"/>
          <a:ext cx="10972800" cy="28895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 option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Team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ChatGPT Business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seat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USD 20 / person / month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USD 20 / person / month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Premium seat (heavy user)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USD 100 · available now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USD 100 · waitlist only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Enterprise plan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USD 20 + pay per use · 20+ people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 on request · ~150 people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Minimum team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people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people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 billed yearly (USD 25 if monthly). Our choice: Claude Team plan.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533600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cost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USD 20 buys: an AI usage allowance</a:t>
            </a:r>
            <a:endParaRPr lang="en-US" sz="3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828800"/>
          <a:ext cx="10972800" cy="288950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we compared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Team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ChatGPT Business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seat: allowance every 5 hours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1.25 × the personal plan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× the personal plan (same as Plus)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Premium seat (USD 100)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6.25 × the personal plan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published yet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the allowance runs out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 for the refill, or buy extra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Wait for the refill, or buy extra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Running tests in the pipeline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Uses no AI allowance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Uses no AI allowance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73152" marB="73152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token is the AI’s “mobile data” (about ¾ of a word). Only writing tests uses it.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25336007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pipeline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the tests run: once per release</a:t>
            </a:r>
            <a:endParaRPr lang="en-US" sz="320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28800"/>
          <a:ext cx="10972800" cy="3785616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Our plan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code change (PR)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full run takes about 1–2 hours; pipeline time is billed per minute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day (nightly)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Pays for runs when nothing has changed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release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Yes: the full test pack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run gives the evidence to approve the release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cost per run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 runs the tests; AI only writes and fixes them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Expectation: one full run per release; the cost is pipeline minutes, not AI.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3774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requested</a:t>
            </a:r>
            <a:endParaRPr lang="en-US" sz="1500"/>
          </a:p>
        </p:txBody>
      </p:sp>
      <p:sp>
        <p:nvSpPr>
          <p:cNvPr id="3" name="Text 1"/>
          <p:cNvSpPr/>
          <p:nvPr/>
        </p:nvSpPr>
        <p:spPr>
          <a:xfrm>
            <a:off x="594360" y="78638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>
                <a:solidFill>
                  <a:srgbClr val="142B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approval: Playwright + Claude Code</a:t>
            </a:r>
            <a:endParaRPr lang="en-US" sz="320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94360" y="1828800"/>
          <a:ext cx="10972800" cy="362102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Tool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does for us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Playwright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Clicks through the website like a user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(open source)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Claude Team (AI)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Writes and fixes the tests for us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Min: USD 20 per person / month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pipeline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Runs the full test pack once per release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Existing; no new tool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 team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Reviews results; does the manual checks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>
                          <a:solidFill>
                            <a:srgbClr val="142B42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Existing staff</a:t>
                      </a:r>
                      <a:endParaRPr lang="en-US" sz="180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109728" marB="109728">
                    <a:lnL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94360" y="592531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rgbClr val="0B5FA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ask approval for Claude Team seats and Playwright as our test standard.</a:t>
            </a:r>
            <a:endParaRPr lang="en-US" sz="1900"/>
          </a:p>
        </p:txBody>
      </p:sp>
      <p:sp>
        <p:nvSpPr>
          <p:cNvPr id="6" name="Text 3"/>
          <p:cNvSpPr/>
          <p:nvPr/>
        </p:nvSpPr>
        <p:spPr>
          <a:xfrm>
            <a:off x="11109960" y="65562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>
                <a:solidFill>
                  <a:srgbClr val="62748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1290</Words>
  <Application>Microsoft Office PowerPoint</Application>
  <PresentationFormat>Widescreen</PresentationFormat>
  <Paragraphs>229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International SOS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QA Automation — Management Briefing</dc:title>
  <dc:subject>Tool selection, POC evidence, coverage and pipeline plan</dc:subject>
  <dc:creator>APAC Aspire Digital</dc:creator>
  <cp:lastModifiedBy>Hoang QUACH</cp:lastModifiedBy>
  <cp:revision>8</cp:revision>
  <dcterms:created xsi:type="dcterms:W3CDTF">2026-10-09T04:06:43Z</dcterms:created>
  <dcterms:modified xsi:type="dcterms:W3CDTF">2026-10-15T08:32:07Z</dcterms:modified>
</cp:coreProperties>
</file>