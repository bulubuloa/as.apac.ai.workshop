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id="{268dfa63-aa8d-0df9-22cf-bf7b215c2f54}">
          <p14:sldIdLst>
            <p14:sldId id="256"/>
            <p14:sldId id="257"/>
          </p14:sldIdLst>
        </p14:section>
        <p14:section name="How it works" id="{abb59cb2-0e53-1d40-8389-285c871c596f}">
          <p14:sldIdLst>
            <p14:sldId id="258"/>
            <p14:sldId id="259"/>
            <p14:sldId id="260"/>
            <p14:sldId id="261"/>
            <p14:sldId id="262"/>
            <p14:sldId id="263"/>
            <p14:sldId id="264"/>
          </p14:sldIdLst>
        </p14:section>
        <p14:section name="Coverage" id="{c6cb189d-cbcd-c5c8-fcc3-594221f72a7d}">
          <p14:sldIdLst>
            <p14:sldId id="265"/>
            <p14:sldId id="266"/>
            <p14:sldId id="267"/>
          </p14:sldIdLst>
        </p14:section>
        <p14:section name="Next" id="{a91a747b-0855-ba9b-c065-bd977adc9543}">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automated test now covers a roadside job from the moment the agent creates it on the portal until the driver finishes it on the phone and the portal shows it closed. This deck shows how it works and what it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to remember. It passed on 20 October against UAT. Nine steps that alternate between the portal and the phone. About four and a half minutes. And one side-by-side video anyone can watch without reading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creates and dispatches on the portal; the driver does the rest on the phone; the server sits in between. Each side can pass its own tests and the job can still get stuck in the middle. That middle is what this test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Times are from the 20 October run as shown in the Playwright report. The drive and the photo take longest because they are real: the GPS moves along the road and the camera actually captures and uploads.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frame from the recorded video. Left is the agent portal right after dispatch; right is the phone a few seconds later. The test reads the job number on both and compares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the real installed UAT build, not a mock. Appium taps the same buttons a driver would. GPS is simulated along a real road route, so the ETA and distance the app shows are real Google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the hand-off worked in both directions. The portal shows three timestamps, each written by the truck, with the GPS position at that moment. The test checks the order of the timestamps, the mileage, the photo count and the closed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lanes are inside one test function. Playwright owns the browser. In the same test, WebdriverIO opens an Appium session to the Android emulator running the real UAT app. Both talk to the same RSA UAT server, so what one does, the other must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version put the phone exactly on the incident point, so the distance was zero and it did not look like a real job. Now the truck starts five kilometres away and drives there, and the test checks the distance on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is an assertion in the test. Left is what the driver does, right is what must appear on the portal. If the app says it sent REACH but the portal has no dtReach, the test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report from the 20 October run. Developers get it as a zip and open it with npx playwright show-report. Hosting it online: Amplify with a password does not work on company laptops because the browser policy blocks that login box; S3 with CloudFront and a login page is the option if we want a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happy path of a repair job is fully covered. The next most valuable journeys are reject/cancel and towing. The catalogue numbers come from the regression workbooks on Confluence.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pick where this runs before each release, and give QA ownership of the fixed UAT test data. With those two, the journey can run on every release and the next two journeys can be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2A4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1094415"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474720"/>
            <a:ext cx="9265615" cy="1097280"/>
          </a:xfrm>
          <a:prstGeom prst="rect">
            <a:avLst/>
          </a:prstGeom>
          <a:noFill/>
          <a:ln/>
        </p:spPr>
        <p:txBody>
          <a:bodyPr wrap="square" rtlCol="0"/>
          <a:lstStyle>
            <a:lvl1pPr algn="l" indent="0" marL="0">
              <a:buNone/>
              <a:defRPr lang="en-US" sz="1800" dirty="0">
                <a:solidFill>
                  <a:srgbClr val="C9D6E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Shape 0"/>
          <p:cNvSpPr/>
          <p:nvPr/>
        </p:nvSpPr>
        <p:spPr>
          <a:xfrm>
            <a:off x="548640" y="1097280"/>
            <a:ext cx="1097280" cy="0"/>
          </a:xfrm>
          <a:prstGeom prst="line">
            <a:avLst/>
          </a:prstGeom>
          <a:noFill/>
          <a:ln w="38100">
            <a:solidFill>
              <a:schemeClr val="accent1"/>
            </a:solidFill>
            <a:prstDash val="solid"/>
          </a:ln>
        </p:spPr>
      </p:sp>
      <p:sp>
        <p:nvSpPr>
          <p:cNvPr id="4" name="Text 1"/>
          <p:cNvSpPr/>
          <p:nvPr/>
        </p:nvSpPr>
        <p:spPr>
          <a:xfrm>
            <a:off x="548640" y="6473952"/>
            <a:ext cx="7315200" cy="274320"/>
          </a:xfrm>
          <a:prstGeom prst="rect">
            <a:avLst/>
          </a:prstGeom>
          <a:noFill/>
          <a:ln/>
        </p:spPr>
        <p:txBody>
          <a:bodyPr wrap="square" rtlCol="0" anchor="ctr"/>
          <a:lstStyle/>
          <a:p>
            <a:pPr indent="0" marL="0">
              <a:buNone/>
            </a:pPr>
            <a:r>
              <a:rPr lang="en-US" sz="900" dirty="0">
                <a:solidFill>
                  <a:schemeClr val="accent4"/>
                </a:solidFill>
              </a:rPr>
              <a:t>RoadSide web + app end-to-end  |  TC-23-001  |  RSA UAT</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1717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171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34440"/>
            <a:ext cx="7315200" cy="365760"/>
          </a:xfrm>
          <a:prstGeom prst="rect">
            <a:avLst/>
          </a:prstGeom>
          <a:noFill/>
          <a:ln/>
        </p:spPr>
        <p:txBody>
          <a:bodyPr wrap="square" lIns="0" tIns="0" rIns="0" bIns="0" rtlCol="0" anchor="t"/>
          <a:lstStyle/>
          <a:p>
            <a:pPr indent="0" marL="0">
              <a:buNone/>
            </a:pPr>
            <a:r>
              <a:rPr lang="en-US" sz="1300" b="1" spc="200" kern="0" dirty="0">
                <a:solidFill>
                  <a:srgbClr val="F59E57"/>
                </a:solidFill>
              </a:rPr>
              <a:t>ROADSIDE AUTOMATION TESTING</a:t>
            </a:r>
            <a:endParaRPr lang="en-US" sz="1300" dirty="0"/>
          </a:p>
        </p:txBody>
      </p:sp>
      <p:sp>
        <p:nvSpPr>
          <p:cNvPr id="3" name="Text 0"/>
          <p:cNvSpPr/>
          <p:nvPr>
            <p:ph idx="100" type="title" hasCustomPrompt="1"/>
          </p:nvPr>
        </p:nvSpPr>
        <p:spPr>
          <a:xfrm>
            <a:off x="548640" y="1828800"/>
            <a:ext cx="11094415" cy="1554480"/>
          </a:xfrm>
          <a:prstGeom prst="rect">
            <a:avLst/>
          </a:prstGeom>
          <a:noFill/>
          <a:ln/>
        </p:spPr>
        <p:txBody>
          <a:bodyPr wrap="square" rtlCol="0" anchor="t"/>
          <a:lstStyle/>
          <a:p>
            <a:pPr algn="l" indent="0" marL="0">
              <a:buNone/>
            </a:pPr>
            <a:r>
              <a:rPr lang="en-US" sz="4000" b="1" dirty="0">
                <a:solidFill>
                  <a:schemeClr val="bg1"/>
                </a:solidFill>
              </a:rPr>
              <a:t>One test, two screens: a RoadSide job from the agent portal to the driver's phone</a:t>
            </a:r>
            <a:endParaRPr lang="en-US" sz="4000" dirty="0"/>
          </a:p>
        </p:txBody>
      </p:sp>
      <p:sp>
        <p:nvSpPr>
          <p:cNvPr id="4" name="Text 0"/>
          <p:cNvSpPr/>
          <p:nvPr>
            <p:ph idx="101" type="body" hasCustomPrompt="1"/>
          </p:nvPr>
        </p:nvSpPr>
        <p:spPr>
          <a:xfrm>
            <a:off x="548640" y="3474720"/>
            <a:ext cx="9265615" cy="1097280"/>
          </a:xfrm>
          <a:prstGeom prst="rect">
            <a:avLst/>
          </a:prstGeom>
          <a:noFill/>
          <a:ln/>
        </p:spPr>
        <p:txBody>
          <a:bodyPr wrap="square" rtlCol="0" anchor="t"/>
          <a:lstStyle/>
          <a:p>
            <a:pPr algn="l" indent="0" marL="0">
              <a:buNone/>
            </a:pPr>
            <a:r>
              <a:rPr lang="en-US" sz="1800" dirty="0">
                <a:solidFill>
                  <a:srgbClr val="C9D6E5"/>
                </a:solidFill>
              </a:rPr>
              <a:t>How TC-23-001 tests the whole job end to end - web and provider app together, recorded as one video</a:t>
            </a:r>
            <a:endParaRPr lang="en-US" sz="1800" dirty="0"/>
          </a:p>
        </p:txBody>
      </p:sp>
      <p:sp>
        <p:nvSpPr>
          <p:cNvPr id="5" name="Text 3"/>
          <p:cNvSpPr txBox="1"/>
          <p:nvPr/>
        </p:nvSpPr>
        <p:spPr>
          <a:xfrm>
            <a:off x="548640" y="5669280"/>
            <a:ext cx="9144000" cy="365760"/>
          </a:xfrm>
          <a:prstGeom prst="rect">
            <a:avLst/>
          </a:prstGeom>
          <a:noFill/>
          <a:ln/>
        </p:spPr>
        <p:txBody>
          <a:bodyPr wrap="square" lIns="0" tIns="0" rIns="0" bIns="0" rtlCol="0" anchor="t"/>
          <a:lstStyle/>
          <a:p>
            <a:pPr indent="0" marL="0">
              <a:buNone/>
            </a:pPr>
            <a:r>
              <a:rPr lang="en-US" sz="1200" dirty="0">
                <a:solidFill>
                  <a:srgbClr val="8FA6BF"/>
                </a:solidFill>
              </a:rPr>
              <a:t>APAC Aspire Digital  |  21 October 2026  |  measured on RSA UAT, 20 Oct 2026 run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40080"/>
          </a:xfrm>
          <a:prstGeom prst="rect">
            <a:avLst/>
          </a:prstGeom>
          <a:noFill/>
          <a:ln/>
        </p:spPr>
        <p:txBody>
          <a:bodyPr wrap="square" rtlCol="0" anchor="t"/>
          <a:lstStyle/>
          <a:p>
            <a:pPr algn="l" indent="0" marL="0">
              <a:buNone/>
            </a:pPr>
            <a:r>
              <a:rPr lang="en-US" sz="2600" b="1" dirty="0">
                <a:solidFill>
                  <a:schemeClr val="tx1"/>
                </a:solidFill>
              </a:rPr>
              <a:t>One automated run now tests the whole job hand-off</a:t>
            </a:r>
            <a:endParaRPr lang="en-US" sz="2600" dirty="0"/>
          </a:p>
        </p:txBody>
      </p:sp>
      <p:sp>
        <p:nvSpPr>
          <p:cNvPr id="3" name="Text 1"/>
          <p:cNvSpPr txBox="1"/>
          <p:nvPr/>
        </p:nvSpPr>
        <p:spPr>
          <a:xfrm>
            <a:off x="548640" y="1508760"/>
            <a:ext cx="2606040" cy="914400"/>
          </a:xfrm>
          <a:prstGeom prst="rect">
            <a:avLst/>
          </a:prstGeom>
          <a:noFill/>
          <a:ln/>
        </p:spPr>
        <p:txBody>
          <a:bodyPr wrap="square" lIns="0" tIns="0" rIns="0" bIns="0" rtlCol="0" anchor="t"/>
          <a:lstStyle/>
          <a:p>
            <a:pPr indent="0" marL="0">
              <a:buNone/>
            </a:pPr>
            <a:r>
              <a:rPr lang="en-US" sz="4400" b="1" dirty="0">
                <a:solidFill>
                  <a:schemeClr val="accent3"/>
                </a:solidFill>
              </a:rPr>
              <a:t>PASS</a:t>
            </a:r>
            <a:endParaRPr lang="en-US" sz="4400" dirty="0"/>
          </a:p>
        </p:txBody>
      </p:sp>
      <p:sp>
        <p:nvSpPr>
          <p:cNvPr id="4" name="Text 2"/>
          <p:cNvSpPr txBox="1"/>
          <p:nvPr/>
        </p:nvSpPr>
        <p:spPr>
          <a:xfrm>
            <a:off x="548640" y="2468880"/>
            <a:ext cx="2468880" cy="640080"/>
          </a:xfrm>
          <a:prstGeom prst="rect">
            <a:avLst/>
          </a:prstGeom>
          <a:noFill/>
          <a:ln/>
        </p:spPr>
        <p:txBody>
          <a:bodyPr wrap="square" lIns="0" tIns="0" rIns="0" bIns="0" rtlCol="0" anchor="t"/>
          <a:lstStyle/>
          <a:p>
            <a:pPr indent="0" marL="0">
              <a:buNone/>
            </a:pPr>
            <a:r>
              <a:rPr lang="en-US" sz="1300" dirty="0">
                <a:solidFill>
                  <a:schemeClr val="accent4"/>
                </a:solidFill>
              </a:rPr>
              <a:t>TC-23-001 on 20 Oct 2026, job 26JB049153</a:t>
            </a:r>
            <a:endParaRPr lang="en-US" sz="1300" dirty="0"/>
          </a:p>
        </p:txBody>
      </p:sp>
      <p:sp>
        <p:nvSpPr>
          <p:cNvPr id="5" name="Text 3"/>
          <p:cNvSpPr txBox="1"/>
          <p:nvPr/>
        </p:nvSpPr>
        <p:spPr>
          <a:xfrm>
            <a:off x="3355848" y="1508760"/>
            <a:ext cx="2606040" cy="914400"/>
          </a:xfrm>
          <a:prstGeom prst="rect">
            <a:avLst/>
          </a:prstGeom>
          <a:noFill/>
          <a:ln/>
        </p:spPr>
        <p:txBody>
          <a:bodyPr wrap="square" lIns="0" tIns="0" rIns="0" bIns="0" rtlCol="0" anchor="t"/>
          <a:lstStyle/>
          <a:p>
            <a:pPr indent="0" marL="0">
              <a:buNone/>
            </a:pPr>
            <a:r>
              <a:rPr lang="en-US" sz="4400" b="1" dirty="0">
                <a:solidFill>
                  <a:schemeClr val="accent1"/>
                </a:solidFill>
              </a:rPr>
              <a:t>9</a:t>
            </a:r>
            <a:endParaRPr lang="en-US" sz="4400" dirty="0"/>
          </a:p>
        </p:txBody>
      </p:sp>
      <p:sp>
        <p:nvSpPr>
          <p:cNvPr id="6" name="Text 4"/>
          <p:cNvSpPr txBox="1"/>
          <p:nvPr/>
        </p:nvSpPr>
        <p:spPr>
          <a:xfrm>
            <a:off x="3355848" y="2468880"/>
            <a:ext cx="2468880" cy="640080"/>
          </a:xfrm>
          <a:prstGeom prst="rect">
            <a:avLst/>
          </a:prstGeom>
          <a:noFill/>
          <a:ln/>
        </p:spPr>
        <p:txBody>
          <a:bodyPr wrap="square" lIns="0" tIns="0" rIns="0" bIns="0" rtlCol="0" anchor="t"/>
          <a:lstStyle/>
          <a:p>
            <a:pPr indent="0" marL="0">
              <a:buNone/>
            </a:pPr>
            <a:r>
              <a:rPr lang="en-US" sz="1300" dirty="0">
                <a:solidFill>
                  <a:schemeClr val="accent4"/>
                </a:solidFill>
              </a:rPr>
              <a:t>steps across web and app, one pass/fail</a:t>
            </a:r>
            <a:endParaRPr lang="en-US" sz="1300" dirty="0"/>
          </a:p>
        </p:txBody>
      </p:sp>
      <p:sp>
        <p:nvSpPr>
          <p:cNvPr id="7" name="Text 5"/>
          <p:cNvSpPr txBox="1"/>
          <p:nvPr/>
        </p:nvSpPr>
        <p:spPr>
          <a:xfrm>
            <a:off x="6163056" y="1508760"/>
            <a:ext cx="2606040" cy="914400"/>
          </a:xfrm>
          <a:prstGeom prst="rect">
            <a:avLst/>
          </a:prstGeom>
          <a:noFill/>
          <a:ln/>
        </p:spPr>
        <p:txBody>
          <a:bodyPr wrap="square" lIns="0" tIns="0" rIns="0" bIns="0" rtlCol="0" anchor="t"/>
          <a:lstStyle/>
          <a:p>
            <a:pPr indent="0" marL="0">
              <a:buNone/>
            </a:pPr>
            <a:r>
              <a:rPr lang="en-US" sz="4400" b="1" dirty="0">
                <a:solidFill>
                  <a:schemeClr val="accent2"/>
                </a:solidFill>
              </a:rPr>
              <a:t>4.5 min</a:t>
            </a:r>
            <a:endParaRPr lang="en-US" sz="4400" dirty="0"/>
          </a:p>
        </p:txBody>
      </p:sp>
      <p:sp>
        <p:nvSpPr>
          <p:cNvPr id="8" name="Text 6"/>
          <p:cNvSpPr txBox="1"/>
          <p:nvPr/>
        </p:nvSpPr>
        <p:spPr>
          <a:xfrm>
            <a:off x="6163056" y="2468880"/>
            <a:ext cx="2468880" cy="640080"/>
          </a:xfrm>
          <a:prstGeom prst="rect">
            <a:avLst/>
          </a:prstGeom>
          <a:noFill/>
          <a:ln/>
        </p:spPr>
        <p:txBody>
          <a:bodyPr wrap="square" lIns="0" tIns="0" rIns="0" bIns="0" rtlCol="0" anchor="t"/>
          <a:lstStyle/>
          <a:p>
            <a:pPr indent="0" marL="0">
              <a:buNone/>
            </a:pPr>
            <a:r>
              <a:rPr lang="en-US" sz="1300" dirty="0">
                <a:solidFill>
                  <a:schemeClr val="accent4"/>
                </a:solidFill>
              </a:rPr>
              <a:t>test time for the full job</a:t>
            </a:r>
            <a:endParaRPr lang="en-US" sz="1300" dirty="0"/>
          </a:p>
        </p:txBody>
      </p:sp>
      <p:sp>
        <p:nvSpPr>
          <p:cNvPr id="9" name="Text 7"/>
          <p:cNvSpPr txBox="1"/>
          <p:nvPr/>
        </p:nvSpPr>
        <p:spPr>
          <a:xfrm>
            <a:off x="8970264" y="1508760"/>
            <a:ext cx="2606040" cy="914400"/>
          </a:xfrm>
          <a:prstGeom prst="rect">
            <a:avLst/>
          </a:prstGeom>
          <a:noFill/>
          <a:ln/>
        </p:spPr>
        <p:txBody>
          <a:bodyPr wrap="square" lIns="0" tIns="0" rIns="0" bIns="0" rtlCol="0" anchor="t"/>
          <a:lstStyle/>
          <a:p>
            <a:pPr indent="0" marL="0">
              <a:buNone/>
            </a:pPr>
            <a:r>
              <a:rPr lang="en-US" sz="4400" b="1" dirty="0">
                <a:solidFill>
                  <a:schemeClr val="tx2"/>
                </a:solidFill>
              </a:rPr>
              <a:t>1 video</a:t>
            </a:r>
            <a:endParaRPr lang="en-US" sz="4400" dirty="0"/>
          </a:p>
        </p:txBody>
      </p:sp>
      <p:sp>
        <p:nvSpPr>
          <p:cNvPr id="10" name="Text 8"/>
          <p:cNvSpPr txBox="1"/>
          <p:nvPr/>
        </p:nvSpPr>
        <p:spPr>
          <a:xfrm>
            <a:off x="8970264" y="2468880"/>
            <a:ext cx="2468880" cy="640080"/>
          </a:xfrm>
          <a:prstGeom prst="rect">
            <a:avLst/>
          </a:prstGeom>
          <a:noFill/>
          <a:ln/>
        </p:spPr>
        <p:txBody>
          <a:bodyPr wrap="square" lIns="0" tIns="0" rIns="0" bIns="0" rtlCol="0" anchor="t"/>
          <a:lstStyle/>
          <a:p>
            <a:pPr indent="0" marL="0">
              <a:buNone/>
            </a:pPr>
            <a:r>
              <a:rPr lang="en-US" sz="1300" dirty="0">
                <a:solidFill>
                  <a:schemeClr val="accent4"/>
                </a:solidFill>
              </a:rPr>
              <a:t>portal left, phone right, same run</a:t>
            </a:r>
            <a:endParaRPr lang="en-US" sz="1300" dirty="0"/>
          </a:p>
        </p:txBody>
      </p:sp>
      <p:sp>
        <p:nvSpPr>
          <p:cNvPr id="11" name="card What it proves"/>
          <p:cNvSpPr/>
          <p:nvPr/>
        </p:nvSpPr>
        <p:spPr>
          <a:xfrm>
            <a:off x="548640" y="3520440"/>
            <a:ext cx="11094415" cy="2331720"/>
          </a:xfrm>
          <a:prstGeom prst="rect">
            <a:avLst/>
          </a:prstGeom>
          <a:solidFill>
            <a:schemeClr val="bg2"/>
          </a:solidFill>
          <a:ln w="12700">
            <a:solidFill>
              <a:schemeClr val="bg2"/>
            </a:solidFill>
            <a:prstDash val="solid"/>
          </a:ln>
        </p:spPr>
      </p:sp>
      <p:sp>
        <p:nvSpPr>
          <p:cNvPr id="12" name="card edge What it proves"/>
          <p:cNvSpPr/>
          <p:nvPr/>
        </p:nvSpPr>
        <p:spPr>
          <a:xfrm>
            <a:off x="548640" y="3520440"/>
            <a:ext cx="64008" cy="2331720"/>
          </a:xfrm>
          <a:prstGeom prst="rect">
            <a:avLst/>
          </a:prstGeom>
          <a:solidFill>
            <a:schemeClr val="accent1"/>
          </a:solidFill>
          <a:ln w="12700">
            <a:solidFill>
              <a:schemeClr val="accent1"/>
            </a:solidFill>
            <a:prstDash val="solid"/>
          </a:ln>
        </p:spPr>
      </p:sp>
      <p:sp>
        <p:nvSpPr>
          <p:cNvPr id="13" name="Text 11"/>
          <p:cNvSpPr txBox="1"/>
          <p:nvPr/>
        </p:nvSpPr>
        <p:spPr>
          <a:xfrm>
            <a:off x="777240" y="3685032"/>
            <a:ext cx="10728655" cy="365760"/>
          </a:xfrm>
          <a:prstGeom prst="rect">
            <a:avLst/>
          </a:prstGeom>
          <a:noFill/>
          <a:ln/>
        </p:spPr>
        <p:txBody>
          <a:bodyPr wrap="square" lIns="0" tIns="0" rIns="0" bIns="0" rtlCol="0" anchor="t"/>
          <a:lstStyle/>
          <a:p>
            <a:pPr indent="0" marL="0">
              <a:buNone/>
            </a:pPr>
            <a:r>
              <a:rPr lang="en-US" sz="1500" b="1" dirty="0">
                <a:solidFill>
                  <a:schemeClr val="tx1"/>
                </a:solidFill>
              </a:rPr>
              <a:t>What it proves</a:t>
            </a:r>
            <a:endParaRPr lang="en-US" sz="1500" dirty="0"/>
          </a:p>
        </p:txBody>
      </p:sp>
      <p:sp>
        <p:nvSpPr>
          <p:cNvPr id="14" name="Text 12"/>
          <p:cNvSpPr txBox="1"/>
          <p:nvPr/>
        </p:nvSpPr>
        <p:spPr>
          <a:xfrm>
            <a:off x="777240" y="4087368"/>
            <a:ext cx="10728655" cy="164592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A job created and dispatched on the agent portal reaches a real provider app, is taken, travelled to, arrived at, photographed and finished - and the portal shows every one of those events, stamped by the right truck.</a:t>
            </a:r>
            <a:endParaRPr lang="en-US" sz="1500" dirty="0"/>
          </a:p>
          <a:p>
            <a:pPr indent="0" marL="0">
              <a:lnSpc>
                <a:spcPct val="115000"/>
              </a:lnSpc>
              <a:buNone/>
            </a:pPr>
            <a:r>
              <a:rPr lang="en-US" sz="600" dirty="0">
                <a:solidFill>
                  <a:schemeClr val="tx1"/>
                </a:solidFill>
              </a:rPr>
              <a:t> </a:t>
            </a:r>
            <a:endParaRPr lang="en-US" sz="1500" dirty="0"/>
          </a:p>
          <a:p>
            <a:pPr indent="0" marL="0">
              <a:lnSpc>
                <a:spcPct val="115000"/>
              </a:lnSpc>
              <a:buNone/>
            </a:pPr>
            <a:r>
              <a:rPr lang="en-US" sz="1500" dirty="0">
                <a:solidFill>
                  <a:schemeClr val="accent4"/>
                </a:solidFill>
              </a:rPr>
              <a:t>Before this, web and app were tested separately. The hand-off between them - where real jobs get stuck - had no automated check.</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171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40080"/>
          </a:xfrm>
          <a:prstGeom prst="rect">
            <a:avLst/>
          </a:prstGeom>
          <a:noFill/>
          <a:ln/>
        </p:spPr>
        <p:txBody>
          <a:bodyPr wrap="square" rtlCol="0" anchor="t"/>
          <a:lstStyle/>
          <a:p>
            <a:pPr algn="l" indent="0" marL="0">
              <a:buNone/>
            </a:pPr>
            <a:r>
              <a:rPr lang="en-US" sz="2600" b="1" dirty="0">
                <a:solidFill>
                  <a:schemeClr val="tx1"/>
                </a:solidFill>
              </a:rPr>
              <a:t>Why test them together: a job is never only web or only app</a:t>
            </a:r>
            <a:endParaRPr lang="en-US" sz="2600" dirty="0"/>
          </a:p>
        </p:txBody>
      </p:sp>
      <p:sp>
        <p:nvSpPr>
          <p:cNvPr id="3" name="node Agent portal"/>
          <p:cNvSpPr/>
          <p:nvPr/>
        </p:nvSpPr>
        <p:spPr>
          <a:xfrm>
            <a:off x="548640" y="1554480"/>
            <a:ext cx="3291840" cy="1645920"/>
          </a:xfrm>
          <a:prstGeom prst="rect">
            <a:avLst/>
          </a:prstGeom>
          <a:solidFill>
            <a:schemeClr val="bg2"/>
          </a:solidFill>
          <a:ln w="25400">
            <a:solidFill>
              <a:schemeClr val="accent1"/>
            </a:solidFill>
            <a:prstDash val="solid"/>
          </a:ln>
        </p:spPr>
      </p:sp>
      <p:sp>
        <p:nvSpPr>
          <p:cNvPr id="4" name="pill WEB"/>
          <p:cNvSpPr/>
          <p:nvPr/>
        </p:nvSpPr>
        <p:spPr>
          <a:xfrm>
            <a:off x="731520" y="1719072"/>
            <a:ext cx="566928" cy="274320"/>
          </a:xfrm>
          <a:prstGeom prst="roundRect">
            <a:avLst>
              <a:gd name="adj" fmla="val 40000"/>
            </a:avLst>
          </a:prstGeom>
          <a:solidFill>
            <a:schemeClr val="accent1"/>
          </a:solidFill>
          <a:ln/>
        </p:spPr>
        <p:txBody>
          <a:bodyPr wrap="square" lIns="0" tIns="0" rIns="0" bIns="0" rtlCol="0" anchor="ctr"/>
          <a:lstStyle/>
          <a:p>
            <a:pPr algn="ctr" indent="0" marL="0">
              <a:buNone/>
            </a:pPr>
            <a:r>
              <a:rPr lang="en-US" sz="1000" b="1" dirty="0">
                <a:solidFill>
                  <a:schemeClr val="bg1"/>
                </a:solidFill>
              </a:rPr>
              <a:t>WEB</a:t>
            </a:r>
            <a:endParaRPr lang="en-US" sz="1000" dirty="0"/>
          </a:p>
        </p:txBody>
      </p:sp>
      <p:sp>
        <p:nvSpPr>
          <p:cNvPr id="5" name="Text 3"/>
          <p:cNvSpPr txBox="1"/>
          <p:nvPr/>
        </p:nvSpPr>
        <p:spPr>
          <a:xfrm>
            <a:off x="731520" y="2103120"/>
            <a:ext cx="2926080" cy="411480"/>
          </a:xfrm>
          <a:prstGeom prst="rect">
            <a:avLst/>
          </a:prstGeom>
          <a:noFill/>
          <a:ln/>
        </p:spPr>
        <p:txBody>
          <a:bodyPr wrap="square" lIns="0" tIns="0" rIns="0" bIns="0" rtlCol="0" anchor="t"/>
          <a:lstStyle/>
          <a:p>
            <a:pPr indent="0" marL="0">
              <a:buNone/>
            </a:pPr>
            <a:r>
              <a:rPr lang="en-US" sz="1800" b="1" dirty="0">
                <a:solidFill>
                  <a:schemeClr val="accent1"/>
                </a:solidFill>
              </a:rPr>
              <a:t>Agent portal</a:t>
            </a:r>
            <a:endParaRPr lang="en-US" sz="1800" dirty="0"/>
          </a:p>
        </p:txBody>
      </p:sp>
      <p:sp>
        <p:nvSpPr>
          <p:cNvPr id="6" name="Text 4"/>
          <p:cNvSpPr txBox="1"/>
          <p:nvPr/>
        </p:nvSpPr>
        <p:spPr>
          <a:xfrm>
            <a:off x="731520" y="2514600"/>
            <a:ext cx="2926080" cy="685800"/>
          </a:xfrm>
          <a:prstGeom prst="rect">
            <a:avLst/>
          </a:prstGeom>
          <a:noFill/>
          <a:ln/>
        </p:spPr>
        <p:txBody>
          <a:bodyPr wrap="square" lIns="0" tIns="0" rIns="0" bIns="0" rtlCol="0" anchor="t"/>
          <a:lstStyle/>
          <a:p>
            <a:pPr indent="0" marL="0">
              <a:buNone/>
            </a:pPr>
            <a:r>
              <a:rPr lang="en-US" sz="1250" dirty="0">
                <a:solidFill>
                  <a:schemeClr val="tx1"/>
                </a:solidFill>
              </a:rPr>
              <a:t>Create job, Load Provider, Dispatch</a:t>
            </a:r>
            <a:endParaRPr lang="en-US" sz="1250" dirty="0"/>
          </a:p>
        </p:txBody>
      </p:sp>
      <p:sp>
        <p:nvSpPr>
          <p:cNvPr id="7" name="Shape 5"/>
          <p:cNvSpPr/>
          <p:nvPr/>
        </p:nvSpPr>
        <p:spPr>
          <a:xfrm>
            <a:off x="3895344" y="2194560"/>
            <a:ext cx="438912" cy="365760"/>
          </a:xfrm>
          <a:prstGeom prst="rightArrow">
            <a:avLst/>
          </a:prstGeom>
          <a:solidFill>
            <a:schemeClr val="accent4"/>
          </a:solidFill>
          <a:ln w="12700">
            <a:solidFill>
              <a:schemeClr val="accent4"/>
            </a:solidFill>
            <a:prstDash val="solid"/>
          </a:ln>
        </p:spPr>
      </p:sp>
      <p:sp>
        <p:nvSpPr>
          <p:cNvPr id="8" name="node RSA server"/>
          <p:cNvSpPr/>
          <p:nvPr/>
        </p:nvSpPr>
        <p:spPr>
          <a:xfrm>
            <a:off x="4389120" y="1554480"/>
            <a:ext cx="3291840" cy="1645920"/>
          </a:xfrm>
          <a:prstGeom prst="rect">
            <a:avLst/>
          </a:prstGeom>
          <a:solidFill>
            <a:schemeClr val="bg2"/>
          </a:solidFill>
          <a:ln w="25400">
            <a:solidFill>
              <a:schemeClr val="tx2"/>
            </a:solidFill>
            <a:prstDash val="solid"/>
          </a:ln>
        </p:spPr>
      </p:sp>
      <p:sp>
        <p:nvSpPr>
          <p:cNvPr id="9" name="Text 7"/>
          <p:cNvSpPr txBox="1"/>
          <p:nvPr/>
        </p:nvSpPr>
        <p:spPr>
          <a:xfrm>
            <a:off x="4572000" y="1783080"/>
            <a:ext cx="2926080" cy="411480"/>
          </a:xfrm>
          <a:prstGeom prst="rect">
            <a:avLst/>
          </a:prstGeom>
          <a:noFill/>
          <a:ln/>
        </p:spPr>
        <p:txBody>
          <a:bodyPr wrap="square" lIns="0" tIns="0" rIns="0" bIns="0" rtlCol="0" anchor="t"/>
          <a:lstStyle/>
          <a:p>
            <a:pPr indent="0" marL="0">
              <a:buNone/>
            </a:pPr>
            <a:r>
              <a:rPr lang="en-US" sz="1800" b="1" dirty="0">
                <a:solidFill>
                  <a:schemeClr val="tx2"/>
                </a:solidFill>
              </a:rPr>
              <a:t>RSA server</a:t>
            </a:r>
            <a:endParaRPr lang="en-US" sz="1800" dirty="0"/>
          </a:p>
        </p:txBody>
      </p:sp>
      <p:sp>
        <p:nvSpPr>
          <p:cNvPr id="10" name="Text 8"/>
          <p:cNvSpPr txBox="1"/>
          <p:nvPr/>
        </p:nvSpPr>
        <p:spPr>
          <a:xfrm>
            <a:off x="4572000" y="2240280"/>
            <a:ext cx="2926080" cy="685800"/>
          </a:xfrm>
          <a:prstGeom prst="rect">
            <a:avLst/>
          </a:prstGeom>
          <a:noFill/>
          <a:ln/>
        </p:spPr>
        <p:txBody>
          <a:bodyPr wrap="square" lIns="0" tIns="0" rIns="0" bIns="0" rtlCol="0" anchor="t"/>
          <a:lstStyle/>
          <a:p>
            <a:pPr indent="0" marL="0">
              <a:buNone/>
            </a:pPr>
            <a:r>
              <a:rPr lang="en-US" sz="1250" dirty="0">
                <a:solidFill>
                  <a:schemeClr val="tx1"/>
                </a:solidFill>
              </a:rPr>
              <a:t>api/pmws/* - offers the job to trucks nearby, stores every status</a:t>
            </a:r>
            <a:endParaRPr lang="en-US" sz="1250" dirty="0"/>
          </a:p>
        </p:txBody>
      </p:sp>
      <p:sp>
        <p:nvSpPr>
          <p:cNvPr id="11" name="Shape 9"/>
          <p:cNvSpPr/>
          <p:nvPr/>
        </p:nvSpPr>
        <p:spPr>
          <a:xfrm>
            <a:off x="7735824" y="2194560"/>
            <a:ext cx="438912" cy="365760"/>
          </a:xfrm>
          <a:prstGeom prst="rightArrow">
            <a:avLst/>
          </a:prstGeom>
          <a:solidFill>
            <a:schemeClr val="accent4"/>
          </a:solidFill>
          <a:ln w="12700">
            <a:solidFill>
              <a:schemeClr val="accent4"/>
            </a:solidFill>
            <a:prstDash val="solid"/>
          </a:ln>
        </p:spPr>
      </p:sp>
      <p:sp>
        <p:nvSpPr>
          <p:cNvPr id="12" name="node Provider app"/>
          <p:cNvSpPr/>
          <p:nvPr/>
        </p:nvSpPr>
        <p:spPr>
          <a:xfrm>
            <a:off x="8229600" y="1554480"/>
            <a:ext cx="3291840" cy="1645920"/>
          </a:xfrm>
          <a:prstGeom prst="rect">
            <a:avLst/>
          </a:prstGeom>
          <a:solidFill>
            <a:schemeClr val="bg2"/>
          </a:solidFill>
          <a:ln w="25400">
            <a:solidFill>
              <a:schemeClr val="accent2"/>
            </a:solidFill>
            <a:prstDash val="solid"/>
          </a:ln>
        </p:spPr>
      </p:sp>
      <p:sp>
        <p:nvSpPr>
          <p:cNvPr id="13" name="pill APP"/>
          <p:cNvSpPr/>
          <p:nvPr/>
        </p:nvSpPr>
        <p:spPr>
          <a:xfrm>
            <a:off x="8412480" y="1719072"/>
            <a:ext cx="566928" cy="274320"/>
          </a:xfrm>
          <a:prstGeom prst="roundRect">
            <a:avLst>
              <a:gd name="adj" fmla="val 40000"/>
            </a:avLst>
          </a:prstGeom>
          <a:solidFill>
            <a:schemeClr val="accent2"/>
          </a:solidFill>
          <a:ln/>
        </p:spPr>
        <p:txBody>
          <a:bodyPr wrap="square" lIns="0" tIns="0" rIns="0" bIns="0" rtlCol="0" anchor="ctr"/>
          <a:lstStyle/>
          <a:p>
            <a:pPr algn="ctr" indent="0" marL="0">
              <a:buNone/>
            </a:pPr>
            <a:r>
              <a:rPr lang="en-US" sz="1000" b="1" dirty="0">
                <a:solidFill>
                  <a:schemeClr val="bg1"/>
                </a:solidFill>
              </a:rPr>
              <a:t>APP</a:t>
            </a:r>
            <a:endParaRPr lang="en-US" sz="1000" dirty="0"/>
          </a:p>
        </p:txBody>
      </p:sp>
      <p:sp>
        <p:nvSpPr>
          <p:cNvPr id="14" name="Text 12"/>
          <p:cNvSpPr txBox="1"/>
          <p:nvPr/>
        </p:nvSpPr>
        <p:spPr>
          <a:xfrm>
            <a:off x="8412480" y="2103120"/>
            <a:ext cx="2926080" cy="411480"/>
          </a:xfrm>
          <a:prstGeom prst="rect">
            <a:avLst/>
          </a:prstGeom>
          <a:noFill/>
          <a:ln/>
        </p:spPr>
        <p:txBody>
          <a:bodyPr wrap="square" lIns="0" tIns="0" rIns="0" bIns="0" rtlCol="0" anchor="t"/>
          <a:lstStyle/>
          <a:p>
            <a:pPr indent="0" marL="0">
              <a:buNone/>
            </a:pPr>
            <a:r>
              <a:rPr lang="en-US" sz="1800" b="1" dirty="0">
                <a:solidFill>
                  <a:schemeClr val="accent2"/>
                </a:solidFill>
              </a:rPr>
              <a:t>Provider app</a:t>
            </a:r>
            <a:endParaRPr lang="en-US" sz="1800" dirty="0"/>
          </a:p>
        </p:txBody>
      </p:sp>
      <p:sp>
        <p:nvSpPr>
          <p:cNvPr id="15" name="Text 13"/>
          <p:cNvSpPr txBox="1"/>
          <p:nvPr/>
        </p:nvSpPr>
        <p:spPr>
          <a:xfrm>
            <a:off x="8412480" y="2514600"/>
            <a:ext cx="2926080" cy="685800"/>
          </a:xfrm>
          <a:prstGeom prst="rect">
            <a:avLst/>
          </a:prstGeom>
          <a:noFill/>
          <a:ln/>
        </p:spPr>
        <p:txBody>
          <a:bodyPr wrap="square" lIns="0" tIns="0" rIns="0" bIns="0" rtlCol="0" anchor="t"/>
          <a:lstStyle/>
          <a:p>
            <a:pPr indent="0" marL="0">
              <a:buNone/>
            </a:pPr>
            <a:r>
              <a:rPr lang="en-US" sz="1250" dirty="0">
                <a:solidFill>
                  <a:schemeClr val="tx1"/>
                </a:solidFill>
              </a:rPr>
              <a:t>Take job, drive, Arrive, mileage, photo, Finish</a:t>
            </a:r>
            <a:endParaRPr lang="en-US" sz="1250" dirty="0"/>
          </a:p>
        </p:txBody>
      </p:sp>
      <p:sp>
        <p:nvSpPr>
          <p:cNvPr id="16" name="Text 14"/>
          <p:cNvSpPr txBox="1"/>
          <p:nvPr/>
        </p:nvSpPr>
        <p:spPr>
          <a:xfrm>
            <a:off x="548640" y="3566160"/>
            <a:ext cx="11094415" cy="365760"/>
          </a:xfrm>
          <a:prstGeom prst="rect">
            <a:avLst/>
          </a:prstGeom>
          <a:noFill/>
          <a:ln/>
        </p:spPr>
        <p:txBody>
          <a:bodyPr wrap="square" lIns="0" tIns="0" rIns="0" bIns="0" rtlCol="0" anchor="t"/>
          <a:lstStyle/>
          <a:p>
            <a:pPr indent="0" marL="0">
              <a:buNone/>
            </a:pPr>
            <a:r>
              <a:rPr lang="en-US" sz="1600" b="1" dirty="0">
                <a:solidFill>
                  <a:schemeClr val="tx1"/>
                </a:solidFill>
              </a:rPr>
              <a:t>Where jobs get stuck in real life - and what a web-only or app-only test cannot see</a:t>
            </a:r>
            <a:endParaRPr lang="en-US" sz="1600" dirty="0"/>
          </a:p>
        </p:txBody>
      </p:sp>
      <p:sp>
        <p:nvSpPr>
          <p:cNvPr id="17" name="card Job never reaches the truck"/>
          <p:cNvSpPr/>
          <p:nvPr/>
        </p:nvSpPr>
        <p:spPr>
          <a:xfrm>
            <a:off x="548640" y="4069080"/>
            <a:ext cx="3566160" cy="1783080"/>
          </a:xfrm>
          <a:prstGeom prst="rect">
            <a:avLst/>
          </a:prstGeom>
          <a:solidFill>
            <a:schemeClr val="bg2"/>
          </a:solidFill>
          <a:ln w="12700">
            <a:solidFill>
              <a:schemeClr val="bg2"/>
            </a:solidFill>
            <a:prstDash val="solid"/>
          </a:ln>
        </p:spPr>
      </p:sp>
      <p:sp>
        <p:nvSpPr>
          <p:cNvPr id="18" name="card edge Job never reaches the truck"/>
          <p:cNvSpPr/>
          <p:nvPr/>
        </p:nvSpPr>
        <p:spPr>
          <a:xfrm>
            <a:off x="548640" y="4069080"/>
            <a:ext cx="64008" cy="1783080"/>
          </a:xfrm>
          <a:prstGeom prst="rect">
            <a:avLst/>
          </a:prstGeom>
          <a:solidFill>
            <a:schemeClr val="accent2"/>
          </a:solidFill>
          <a:ln w="12700">
            <a:solidFill>
              <a:schemeClr val="accent2"/>
            </a:solidFill>
            <a:prstDash val="solid"/>
          </a:ln>
        </p:spPr>
      </p:sp>
      <p:sp>
        <p:nvSpPr>
          <p:cNvPr id="19" name="Text 17"/>
          <p:cNvSpPr txBox="1"/>
          <p:nvPr/>
        </p:nvSpPr>
        <p:spPr>
          <a:xfrm>
            <a:off x="777240" y="4233672"/>
            <a:ext cx="3200400" cy="365760"/>
          </a:xfrm>
          <a:prstGeom prst="rect">
            <a:avLst/>
          </a:prstGeom>
          <a:noFill/>
          <a:ln/>
        </p:spPr>
        <p:txBody>
          <a:bodyPr wrap="square" lIns="0" tIns="0" rIns="0" bIns="0" rtlCol="0" anchor="t"/>
          <a:lstStyle/>
          <a:p>
            <a:pPr indent="0" marL="0">
              <a:buNone/>
            </a:pPr>
            <a:r>
              <a:rPr lang="en-US" sz="1400" b="1" dirty="0">
                <a:solidFill>
                  <a:schemeClr val="tx1"/>
                </a:solidFill>
              </a:rPr>
              <a:t>Job never reaches the truck</a:t>
            </a:r>
            <a:endParaRPr lang="en-US" sz="1400" dirty="0"/>
          </a:p>
        </p:txBody>
      </p:sp>
      <p:sp>
        <p:nvSpPr>
          <p:cNvPr id="20" name="Text 18"/>
          <p:cNvSpPr txBox="1"/>
          <p:nvPr/>
        </p:nvSpPr>
        <p:spPr>
          <a:xfrm>
            <a:off x="777240" y="4636008"/>
            <a:ext cx="3200400" cy="1097280"/>
          </a:xfrm>
          <a:prstGeom prst="rect">
            <a:avLst/>
          </a:prstGeom>
          <a:noFill/>
          <a:ln/>
        </p:spPr>
        <p:txBody>
          <a:bodyPr wrap="square" lIns="0" tIns="0" rIns="0" bIns="0" rtlCol="0" anchor="t"/>
          <a:lstStyle/>
          <a:p>
            <a:pPr indent="0" marL="0">
              <a:lnSpc>
                <a:spcPct val="115000"/>
              </a:lnSpc>
              <a:buNone/>
            </a:pPr>
            <a:r>
              <a:rPr lang="en-US" sz="1250" dirty="0">
                <a:solidFill>
                  <a:schemeClr val="tx1"/>
                </a:solidFill>
              </a:rPr>
              <a:t>Wrong location, truck not Ready, outside the service area, polling broken.</a:t>
            </a:r>
            <a:endParaRPr lang="en-US" sz="1250" dirty="0"/>
          </a:p>
        </p:txBody>
      </p:sp>
      <p:sp>
        <p:nvSpPr>
          <p:cNvPr id="21" name="card Status does not come back"/>
          <p:cNvSpPr/>
          <p:nvPr/>
        </p:nvSpPr>
        <p:spPr>
          <a:xfrm>
            <a:off x="4279392" y="4069080"/>
            <a:ext cx="3566160" cy="1783080"/>
          </a:xfrm>
          <a:prstGeom prst="rect">
            <a:avLst/>
          </a:prstGeom>
          <a:solidFill>
            <a:schemeClr val="bg2"/>
          </a:solidFill>
          <a:ln w="12700">
            <a:solidFill>
              <a:schemeClr val="bg2"/>
            </a:solidFill>
            <a:prstDash val="solid"/>
          </a:ln>
        </p:spPr>
      </p:sp>
      <p:sp>
        <p:nvSpPr>
          <p:cNvPr id="22" name="card edge Status does not come back"/>
          <p:cNvSpPr/>
          <p:nvPr/>
        </p:nvSpPr>
        <p:spPr>
          <a:xfrm>
            <a:off x="4279392" y="4069080"/>
            <a:ext cx="64008" cy="1783080"/>
          </a:xfrm>
          <a:prstGeom prst="rect">
            <a:avLst/>
          </a:prstGeom>
          <a:solidFill>
            <a:schemeClr val="accent2"/>
          </a:solidFill>
          <a:ln w="12700">
            <a:solidFill>
              <a:schemeClr val="accent2"/>
            </a:solidFill>
            <a:prstDash val="solid"/>
          </a:ln>
        </p:spPr>
      </p:sp>
      <p:sp>
        <p:nvSpPr>
          <p:cNvPr id="23" name="Text 21"/>
          <p:cNvSpPr txBox="1"/>
          <p:nvPr/>
        </p:nvSpPr>
        <p:spPr>
          <a:xfrm>
            <a:off x="4507992" y="4233672"/>
            <a:ext cx="3200400" cy="365760"/>
          </a:xfrm>
          <a:prstGeom prst="rect">
            <a:avLst/>
          </a:prstGeom>
          <a:noFill/>
          <a:ln/>
        </p:spPr>
        <p:txBody>
          <a:bodyPr wrap="square" lIns="0" tIns="0" rIns="0" bIns="0" rtlCol="0" anchor="t"/>
          <a:lstStyle/>
          <a:p>
            <a:pPr indent="0" marL="0">
              <a:buNone/>
            </a:pPr>
            <a:r>
              <a:rPr lang="en-US" sz="1400" b="1" dirty="0">
                <a:solidFill>
                  <a:schemeClr val="tx1"/>
                </a:solidFill>
              </a:rPr>
              <a:t>Status does not come back</a:t>
            </a:r>
            <a:endParaRPr lang="en-US" sz="1400" dirty="0"/>
          </a:p>
        </p:txBody>
      </p:sp>
      <p:sp>
        <p:nvSpPr>
          <p:cNvPr id="24" name="Text 22"/>
          <p:cNvSpPr txBox="1"/>
          <p:nvPr/>
        </p:nvSpPr>
        <p:spPr>
          <a:xfrm>
            <a:off x="4507992" y="4636008"/>
            <a:ext cx="3200400" cy="1097280"/>
          </a:xfrm>
          <a:prstGeom prst="rect">
            <a:avLst/>
          </a:prstGeom>
          <a:noFill/>
          <a:ln/>
        </p:spPr>
        <p:txBody>
          <a:bodyPr wrap="square" lIns="0" tIns="0" rIns="0" bIns="0" rtlCol="0" anchor="t"/>
          <a:lstStyle/>
          <a:p>
            <a:pPr indent="0" marL="0">
              <a:lnSpc>
                <a:spcPct val="115000"/>
              </a:lnSpc>
              <a:buNone/>
            </a:pPr>
            <a:r>
              <a:rPr lang="en-US" sz="1250" dirty="0">
                <a:solidFill>
                  <a:schemeClr val="tx1"/>
                </a:solidFill>
              </a:rPr>
              <a:t>Driver taps Take Job / Arrived / Finish, but the portal never shows it.</a:t>
            </a:r>
            <a:endParaRPr lang="en-US" sz="1250" dirty="0"/>
          </a:p>
        </p:txBody>
      </p:sp>
      <p:sp>
        <p:nvSpPr>
          <p:cNvPr id="25" name="card Data lost on the way"/>
          <p:cNvSpPr/>
          <p:nvPr/>
        </p:nvSpPr>
        <p:spPr>
          <a:xfrm>
            <a:off x="8010144" y="4069080"/>
            <a:ext cx="3566160" cy="1783080"/>
          </a:xfrm>
          <a:prstGeom prst="rect">
            <a:avLst/>
          </a:prstGeom>
          <a:solidFill>
            <a:schemeClr val="bg2"/>
          </a:solidFill>
          <a:ln w="12700">
            <a:solidFill>
              <a:schemeClr val="bg2"/>
            </a:solidFill>
            <a:prstDash val="solid"/>
          </a:ln>
        </p:spPr>
      </p:sp>
      <p:sp>
        <p:nvSpPr>
          <p:cNvPr id="26" name="card edge Data lost on the way"/>
          <p:cNvSpPr/>
          <p:nvPr/>
        </p:nvSpPr>
        <p:spPr>
          <a:xfrm>
            <a:off x="8010144" y="4069080"/>
            <a:ext cx="64008" cy="1783080"/>
          </a:xfrm>
          <a:prstGeom prst="rect">
            <a:avLst/>
          </a:prstGeom>
          <a:solidFill>
            <a:schemeClr val="accent2"/>
          </a:solidFill>
          <a:ln w="12700">
            <a:solidFill>
              <a:schemeClr val="accent2"/>
            </a:solidFill>
            <a:prstDash val="solid"/>
          </a:ln>
        </p:spPr>
      </p:sp>
      <p:sp>
        <p:nvSpPr>
          <p:cNvPr id="27" name="Text 25"/>
          <p:cNvSpPr txBox="1"/>
          <p:nvPr/>
        </p:nvSpPr>
        <p:spPr>
          <a:xfrm>
            <a:off x="8238744" y="4233672"/>
            <a:ext cx="3200400" cy="365760"/>
          </a:xfrm>
          <a:prstGeom prst="rect">
            <a:avLst/>
          </a:prstGeom>
          <a:noFill/>
          <a:ln/>
        </p:spPr>
        <p:txBody>
          <a:bodyPr wrap="square" lIns="0" tIns="0" rIns="0" bIns="0" rtlCol="0" anchor="t"/>
          <a:lstStyle/>
          <a:p>
            <a:pPr indent="0" marL="0">
              <a:buNone/>
            </a:pPr>
            <a:r>
              <a:rPr lang="en-US" sz="1400" b="1" dirty="0">
                <a:solidFill>
                  <a:schemeClr val="tx1"/>
                </a:solidFill>
              </a:rPr>
              <a:t>Data lost on the way</a:t>
            </a:r>
            <a:endParaRPr lang="en-US" sz="1400" dirty="0"/>
          </a:p>
        </p:txBody>
      </p:sp>
      <p:sp>
        <p:nvSpPr>
          <p:cNvPr id="28" name="Text 26"/>
          <p:cNvSpPr txBox="1"/>
          <p:nvPr/>
        </p:nvSpPr>
        <p:spPr>
          <a:xfrm>
            <a:off x="8238744" y="4636008"/>
            <a:ext cx="3200400" cy="1097280"/>
          </a:xfrm>
          <a:prstGeom prst="rect">
            <a:avLst/>
          </a:prstGeom>
          <a:noFill/>
          <a:ln/>
        </p:spPr>
        <p:txBody>
          <a:bodyPr wrap="square" lIns="0" tIns="0" rIns="0" bIns="0" rtlCol="0" anchor="t"/>
          <a:lstStyle/>
          <a:p>
            <a:pPr indent="0" marL="0">
              <a:lnSpc>
                <a:spcPct val="115000"/>
              </a:lnSpc>
              <a:buNone/>
            </a:pPr>
            <a:r>
              <a:rPr lang="en-US" sz="1250" dirty="0">
                <a:solidFill>
                  <a:schemeClr val="tx1"/>
                </a:solidFill>
              </a:rPr>
              <a:t>Mileage, photo or the driver's GPS position missing on the job.</a:t>
            </a:r>
            <a:endParaRPr lang="en-US" sz="125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171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40080"/>
          </a:xfrm>
          <a:prstGeom prst="rect">
            <a:avLst/>
          </a:prstGeom>
          <a:noFill/>
          <a:ln/>
        </p:spPr>
        <p:txBody>
          <a:bodyPr wrap="square" rtlCol="0" anchor="t"/>
          <a:lstStyle/>
          <a:p>
            <a:pPr algn="l" indent="0" marL="0">
              <a:buNone/>
            </a:pPr>
            <a:r>
              <a:rPr lang="en-US" sz="2600" b="1" dirty="0">
                <a:solidFill>
                  <a:schemeClr val="tx1"/>
                </a:solidFill>
              </a:rPr>
              <a:t>The journey: nine steps, alternating between portal and phone</a:t>
            </a:r>
            <a:endParaRPr lang="en-US" sz="2600" dirty="0"/>
          </a:p>
        </p:txBody>
      </p:sp>
      <p:sp>
        <p:nvSpPr>
          <p:cNvPr id="3" name="Shape 1"/>
          <p:cNvSpPr/>
          <p:nvPr/>
        </p:nvSpPr>
        <p:spPr>
          <a:xfrm>
            <a:off x="740664" y="1600200"/>
            <a:ext cx="0" cy="4096512"/>
          </a:xfrm>
          <a:prstGeom prst="line">
            <a:avLst/>
          </a:prstGeom>
          <a:noFill/>
          <a:ln w="25400">
            <a:solidFill>
              <a:schemeClr val="accent5"/>
            </a:solidFill>
            <a:prstDash val="solid"/>
          </a:ln>
        </p:spPr>
      </p:sp>
      <p:sp>
        <p:nvSpPr>
          <p:cNvPr id="4" name="Text 2"/>
          <p:cNvSpPr/>
          <p:nvPr/>
        </p:nvSpPr>
        <p:spPr>
          <a:xfrm>
            <a:off x="548640" y="1417320"/>
            <a:ext cx="384048" cy="384048"/>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 name="pill APP"/>
          <p:cNvSpPr/>
          <p:nvPr/>
        </p:nvSpPr>
        <p:spPr>
          <a:xfrm>
            <a:off x="1143000" y="1472184"/>
            <a:ext cx="566928" cy="274320"/>
          </a:xfrm>
          <a:prstGeom prst="roundRect">
            <a:avLst>
              <a:gd name="adj" fmla="val 40000"/>
            </a:avLst>
          </a:prstGeom>
          <a:solidFill>
            <a:schemeClr val="accent2"/>
          </a:solidFill>
          <a:ln/>
        </p:spPr>
        <p:txBody>
          <a:bodyPr wrap="square" lIns="0" tIns="0" rIns="0" bIns="0" rtlCol="0" anchor="ctr"/>
          <a:lstStyle/>
          <a:p>
            <a:pPr algn="ctr" indent="0" marL="0">
              <a:buNone/>
            </a:pPr>
            <a:r>
              <a:rPr lang="en-US" sz="1000" b="1" dirty="0">
                <a:solidFill>
                  <a:schemeClr val="bg1"/>
                </a:solidFill>
              </a:rPr>
              <a:t>APP</a:t>
            </a:r>
            <a:endParaRPr lang="en-US" sz="1000" dirty="0"/>
          </a:p>
        </p:txBody>
      </p:sp>
      <p:sp>
        <p:nvSpPr>
          <p:cNvPr id="6" name="Text 4"/>
          <p:cNvSpPr txBox="1"/>
          <p:nvPr/>
        </p:nvSpPr>
        <p:spPr>
          <a:xfrm>
            <a:off x="1874520" y="1472184"/>
            <a:ext cx="6035040" cy="320040"/>
          </a:xfrm>
          <a:prstGeom prst="rect">
            <a:avLst/>
          </a:prstGeom>
          <a:noFill/>
          <a:ln/>
        </p:spPr>
        <p:txBody>
          <a:bodyPr wrap="square" lIns="0" tIns="0" rIns="0" bIns="0" rtlCol="0" anchor="t"/>
          <a:lstStyle/>
          <a:p>
            <a:pPr indent="0" marL="0">
              <a:buNone/>
            </a:pPr>
            <a:r>
              <a:rPr lang="en-US" sz="1400" dirty="0">
                <a:solidFill>
                  <a:schemeClr val="tx1"/>
                </a:solidFill>
              </a:rPr>
              <a:t>Driver signed in, truck v3036 chosen, Ready = On</a:t>
            </a:r>
            <a:endParaRPr lang="en-US" sz="1400" dirty="0"/>
          </a:p>
        </p:txBody>
      </p:sp>
      <p:sp>
        <p:nvSpPr>
          <p:cNvPr id="7" name="Text 5"/>
          <p:cNvSpPr txBox="1"/>
          <p:nvPr/>
        </p:nvSpPr>
        <p:spPr>
          <a:xfrm>
            <a:off x="7955280" y="1472184"/>
            <a:ext cx="822960" cy="320040"/>
          </a:xfrm>
          <a:prstGeom prst="rect">
            <a:avLst/>
          </a:prstGeom>
          <a:noFill/>
          <a:ln/>
        </p:spPr>
        <p:txBody>
          <a:bodyPr wrap="square" lIns="0" tIns="0" rIns="0" bIns="0" rtlCol="0" anchor="t"/>
          <a:lstStyle/>
          <a:p>
            <a:pPr algn="r" indent="0" marL="0">
              <a:buNone/>
            </a:pPr>
            <a:r>
              <a:rPr lang="en-US" sz="1200" dirty="0">
                <a:solidFill>
                  <a:schemeClr val="accent4"/>
                </a:solidFill>
              </a:rPr>
              <a:t>15.3 s</a:t>
            </a:r>
            <a:endParaRPr lang="en-US" sz="1200" dirty="0"/>
          </a:p>
        </p:txBody>
      </p:sp>
      <p:sp>
        <p:nvSpPr>
          <p:cNvPr id="8" name="Text 6"/>
          <p:cNvSpPr/>
          <p:nvPr/>
        </p:nvSpPr>
        <p:spPr>
          <a:xfrm>
            <a:off x="548640" y="1929384"/>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pill WEB"/>
          <p:cNvSpPr/>
          <p:nvPr/>
        </p:nvSpPr>
        <p:spPr>
          <a:xfrm>
            <a:off x="1143000" y="1984248"/>
            <a:ext cx="566928" cy="274320"/>
          </a:xfrm>
          <a:prstGeom prst="roundRect">
            <a:avLst>
              <a:gd name="adj" fmla="val 40000"/>
            </a:avLst>
          </a:prstGeom>
          <a:solidFill>
            <a:schemeClr val="accent1"/>
          </a:solidFill>
          <a:ln/>
        </p:spPr>
        <p:txBody>
          <a:bodyPr wrap="square" lIns="0" tIns="0" rIns="0" bIns="0" rtlCol="0" anchor="ctr"/>
          <a:lstStyle/>
          <a:p>
            <a:pPr algn="ctr" indent="0" marL="0">
              <a:buNone/>
            </a:pPr>
            <a:r>
              <a:rPr lang="en-US" sz="1000" b="1" dirty="0">
                <a:solidFill>
                  <a:schemeClr val="bg1"/>
                </a:solidFill>
              </a:rPr>
              <a:t>WEB</a:t>
            </a:r>
            <a:endParaRPr lang="en-US" sz="1000" dirty="0"/>
          </a:p>
        </p:txBody>
      </p:sp>
      <p:sp>
        <p:nvSpPr>
          <p:cNvPr id="10" name="Text 8"/>
          <p:cNvSpPr txBox="1"/>
          <p:nvPr/>
        </p:nvSpPr>
        <p:spPr>
          <a:xfrm>
            <a:off x="1874520" y="1984248"/>
            <a:ext cx="6035040" cy="320040"/>
          </a:xfrm>
          <a:prstGeom prst="rect">
            <a:avLst/>
          </a:prstGeom>
          <a:noFill/>
          <a:ln/>
        </p:spPr>
        <p:txBody>
          <a:bodyPr wrap="square" lIns="0" tIns="0" rIns="0" bIns="0" rtlCol="0" anchor="t"/>
          <a:lstStyle/>
          <a:p>
            <a:pPr indent="0" marL="0">
              <a:buNone/>
            </a:pPr>
            <a:r>
              <a:rPr lang="en-US" sz="1400" dirty="0">
                <a:solidFill>
                  <a:schemeClr val="tx1"/>
                </a:solidFill>
              </a:rPr>
              <a:t>Agent creates a Basic Repair job at the incident address</a:t>
            </a:r>
            <a:endParaRPr lang="en-US" sz="1400" dirty="0"/>
          </a:p>
        </p:txBody>
      </p:sp>
      <p:sp>
        <p:nvSpPr>
          <p:cNvPr id="11" name="Text 9"/>
          <p:cNvSpPr txBox="1"/>
          <p:nvPr/>
        </p:nvSpPr>
        <p:spPr>
          <a:xfrm>
            <a:off x="7955280" y="1984248"/>
            <a:ext cx="822960" cy="320040"/>
          </a:xfrm>
          <a:prstGeom prst="rect">
            <a:avLst/>
          </a:prstGeom>
          <a:noFill/>
          <a:ln/>
        </p:spPr>
        <p:txBody>
          <a:bodyPr wrap="square" lIns="0" tIns="0" rIns="0" bIns="0" rtlCol="0" anchor="t"/>
          <a:lstStyle/>
          <a:p>
            <a:pPr algn="r" indent="0" marL="0">
              <a:buNone/>
            </a:pPr>
            <a:r>
              <a:rPr lang="en-US" sz="1200" dirty="0">
                <a:solidFill>
                  <a:schemeClr val="accent4"/>
                </a:solidFill>
              </a:rPr>
              <a:t>11.5 s</a:t>
            </a:r>
            <a:endParaRPr lang="en-US" sz="1200" dirty="0"/>
          </a:p>
        </p:txBody>
      </p:sp>
      <p:sp>
        <p:nvSpPr>
          <p:cNvPr id="12" name="Text 10"/>
          <p:cNvSpPr/>
          <p:nvPr/>
        </p:nvSpPr>
        <p:spPr>
          <a:xfrm>
            <a:off x="548640" y="2441448"/>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pill WEB"/>
          <p:cNvSpPr/>
          <p:nvPr/>
        </p:nvSpPr>
        <p:spPr>
          <a:xfrm>
            <a:off x="1143000" y="2496312"/>
            <a:ext cx="566928" cy="274320"/>
          </a:xfrm>
          <a:prstGeom prst="roundRect">
            <a:avLst>
              <a:gd name="adj" fmla="val 40000"/>
            </a:avLst>
          </a:prstGeom>
          <a:solidFill>
            <a:schemeClr val="accent1"/>
          </a:solidFill>
          <a:ln/>
        </p:spPr>
        <p:txBody>
          <a:bodyPr wrap="square" lIns="0" tIns="0" rIns="0" bIns="0" rtlCol="0" anchor="ctr"/>
          <a:lstStyle/>
          <a:p>
            <a:pPr algn="ctr" indent="0" marL="0">
              <a:buNone/>
            </a:pPr>
            <a:r>
              <a:rPr lang="en-US" sz="1000" b="1" dirty="0">
                <a:solidFill>
                  <a:schemeClr val="bg1"/>
                </a:solidFill>
              </a:rPr>
              <a:t>WEB</a:t>
            </a:r>
            <a:endParaRPr lang="en-US" sz="1000" dirty="0"/>
          </a:p>
        </p:txBody>
      </p:sp>
      <p:sp>
        <p:nvSpPr>
          <p:cNvPr id="14" name="Text 12"/>
          <p:cNvSpPr txBox="1"/>
          <p:nvPr/>
        </p:nvSpPr>
        <p:spPr>
          <a:xfrm>
            <a:off x="1874520" y="2496312"/>
            <a:ext cx="6035040" cy="320040"/>
          </a:xfrm>
          <a:prstGeom prst="rect">
            <a:avLst/>
          </a:prstGeom>
          <a:noFill/>
          <a:ln/>
        </p:spPr>
        <p:txBody>
          <a:bodyPr wrap="square" lIns="0" tIns="0" rIns="0" bIns="0" rtlCol="0" anchor="t"/>
          <a:lstStyle/>
          <a:p>
            <a:pPr indent="0" marL="0">
              <a:buNone/>
            </a:pPr>
            <a:r>
              <a:rPr lang="en-US" sz="1400" dirty="0">
                <a:solidFill>
                  <a:schemeClr val="tx1"/>
                </a:solidFill>
              </a:rPr>
              <a:t>Load Provider, pick truck v3036, Dispatch</a:t>
            </a:r>
            <a:endParaRPr lang="en-US" sz="1400" dirty="0"/>
          </a:p>
        </p:txBody>
      </p:sp>
      <p:sp>
        <p:nvSpPr>
          <p:cNvPr id="15" name="Text 13"/>
          <p:cNvSpPr txBox="1"/>
          <p:nvPr/>
        </p:nvSpPr>
        <p:spPr>
          <a:xfrm>
            <a:off x="7955280" y="2496312"/>
            <a:ext cx="822960" cy="320040"/>
          </a:xfrm>
          <a:prstGeom prst="rect">
            <a:avLst/>
          </a:prstGeom>
          <a:noFill/>
          <a:ln/>
        </p:spPr>
        <p:txBody>
          <a:bodyPr wrap="square" lIns="0" tIns="0" rIns="0" bIns="0" rtlCol="0" anchor="t"/>
          <a:lstStyle/>
          <a:p>
            <a:pPr algn="r" indent="0" marL="0">
              <a:buNone/>
            </a:pPr>
            <a:r>
              <a:rPr lang="en-US" sz="1200" dirty="0">
                <a:solidFill>
                  <a:schemeClr val="accent4"/>
                </a:solidFill>
              </a:rPr>
              <a:t>6.6 s</a:t>
            </a:r>
            <a:endParaRPr lang="en-US" sz="1200" dirty="0"/>
          </a:p>
        </p:txBody>
      </p:sp>
      <p:sp>
        <p:nvSpPr>
          <p:cNvPr id="16" name="Text 14"/>
          <p:cNvSpPr/>
          <p:nvPr/>
        </p:nvSpPr>
        <p:spPr>
          <a:xfrm>
            <a:off x="548640" y="2953512"/>
            <a:ext cx="384048" cy="384048"/>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pill APP"/>
          <p:cNvSpPr/>
          <p:nvPr/>
        </p:nvSpPr>
        <p:spPr>
          <a:xfrm>
            <a:off x="1143000" y="3008376"/>
            <a:ext cx="566928" cy="274320"/>
          </a:xfrm>
          <a:prstGeom prst="roundRect">
            <a:avLst>
              <a:gd name="adj" fmla="val 40000"/>
            </a:avLst>
          </a:prstGeom>
          <a:solidFill>
            <a:schemeClr val="accent2"/>
          </a:solidFill>
          <a:ln/>
        </p:spPr>
        <p:txBody>
          <a:bodyPr wrap="square" lIns="0" tIns="0" rIns="0" bIns="0" rtlCol="0" anchor="ctr"/>
          <a:lstStyle/>
          <a:p>
            <a:pPr algn="ctr" indent="0" marL="0">
              <a:buNone/>
            </a:pPr>
            <a:r>
              <a:rPr lang="en-US" sz="1000" b="1" dirty="0">
                <a:solidFill>
                  <a:schemeClr val="bg1"/>
                </a:solidFill>
              </a:rPr>
              <a:t>APP</a:t>
            </a:r>
            <a:endParaRPr lang="en-US" sz="1000" dirty="0"/>
          </a:p>
        </p:txBody>
      </p:sp>
      <p:sp>
        <p:nvSpPr>
          <p:cNvPr id="18" name="Text 16"/>
          <p:cNvSpPr txBox="1"/>
          <p:nvPr/>
        </p:nvSpPr>
        <p:spPr>
          <a:xfrm>
            <a:off x="1874520" y="3008376"/>
            <a:ext cx="6035040" cy="320040"/>
          </a:xfrm>
          <a:prstGeom prst="rect">
            <a:avLst/>
          </a:prstGeom>
          <a:noFill/>
          <a:ln/>
        </p:spPr>
        <p:txBody>
          <a:bodyPr wrap="square" lIns="0" tIns="0" rIns="0" bIns="0" rtlCol="0" anchor="t"/>
          <a:lstStyle/>
          <a:p>
            <a:pPr indent="0" marL="0">
              <a:buNone/>
            </a:pPr>
            <a:r>
              <a:rPr lang="en-US" sz="1400" dirty="0">
                <a:solidFill>
                  <a:schemeClr val="tx1"/>
                </a:solidFill>
              </a:rPr>
              <a:t>Job card appears without refresh, 9.70 km away; Take Job</a:t>
            </a:r>
            <a:endParaRPr lang="en-US" sz="1400" dirty="0"/>
          </a:p>
        </p:txBody>
      </p:sp>
      <p:sp>
        <p:nvSpPr>
          <p:cNvPr id="19" name="Text 17"/>
          <p:cNvSpPr txBox="1"/>
          <p:nvPr/>
        </p:nvSpPr>
        <p:spPr>
          <a:xfrm>
            <a:off x="7955280" y="3008376"/>
            <a:ext cx="822960" cy="320040"/>
          </a:xfrm>
          <a:prstGeom prst="rect">
            <a:avLst/>
          </a:prstGeom>
          <a:noFill/>
          <a:ln/>
        </p:spPr>
        <p:txBody>
          <a:bodyPr wrap="square" lIns="0" tIns="0" rIns="0" bIns="0" rtlCol="0" anchor="t"/>
          <a:lstStyle/>
          <a:p>
            <a:pPr algn="r" indent="0" marL="0">
              <a:buNone/>
            </a:pPr>
            <a:r>
              <a:rPr lang="en-US" sz="1200" dirty="0">
                <a:solidFill>
                  <a:schemeClr val="accent4"/>
                </a:solidFill>
              </a:rPr>
              <a:t>13.4 s</a:t>
            </a:r>
            <a:endParaRPr lang="en-US" sz="1200" dirty="0"/>
          </a:p>
        </p:txBody>
      </p:sp>
      <p:sp>
        <p:nvSpPr>
          <p:cNvPr id="20" name="Text 18"/>
          <p:cNvSpPr/>
          <p:nvPr/>
        </p:nvSpPr>
        <p:spPr>
          <a:xfrm>
            <a:off x="548640" y="3465576"/>
            <a:ext cx="384048" cy="384048"/>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1" name="pill APP"/>
          <p:cNvSpPr/>
          <p:nvPr/>
        </p:nvSpPr>
        <p:spPr>
          <a:xfrm>
            <a:off x="1143000" y="3520440"/>
            <a:ext cx="566928" cy="274320"/>
          </a:xfrm>
          <a:prstGeom prst="roundRect">
            <a:avLst>
              <a:gd name="adj" fmla="val 40000"/>
            </a:avLst>
          </a:prstGeom>
          <a:solidFill>
            <a:schemeClr val="accent2"/>
          </a:solidFill>
          <a:ln/>
        </p:spPr>
        <p:txBody>
          <a:bodyPr wrap="square" lIns="0" tIns="0" rIns="0" bIns="0" rtlCol="0" anchor="ctr"/>
          <a:lstStyle/>
          <a:p>
            <a:pPr algn="ctr" indent="0" marL="0">
              <a:buNone/>
            </a:pPr>
            <a:r>
              <a:rPr lang="en-US" sz="1000" b="1" dirty="0">
                <a:solidFill>
                  <a:schemeClr val="bg1"/>
                </a:solidFill>
              </a:rPr>
              <a:t>APP</a:t>
            </a:r>
            <a:endParaRPr lang="en-US" sz="1000" dirty="0"/>
          </a:p>
        </p:txBody>
      </p:sp>
      <p:sp>
        <p:nvSpPr>
          <p:cNvPr id="22" name="Text 20"/>
          <p:cNvSpPr txBox="1"/>
          <p:nvPr/>
        </p:nvSpPr>
        <p:spPr>
          <a:xfrm>
            <a:off x="1874520" y="3520440"/>
            <a:ext cx="6035040" cy="320040"/>
          </a:xfrm>
          <a:prstGeom prst="rect">
            <a:avLst/>
          </a:prstGeom>
          <a:noFill/>
          <a:ln/>
        </p:spPr>
        <p:txBody>
          <a:bodyPr wrap="square" lIns="0" tIns="0" rIns="0" bIns="0" rtlCol="0" anchor="t"/>
          <a:lstStyle/>
          <a:p>
            <a:pPr indent="0" marL="0">
              <a:buNone/>
            </a:pPr>
            <a:r>
              <a:rPr lang="en-US" sz="1400" dirty="0">
                <a:solidFill>
                  <a:schemeClr val="tx1"/>
                </a:solidFill>
              </a:rPr>
              <a:t>Truck drives ~5 km by road to the customer (GPS points)</a:t>
            </a:r>
            <a:endParaRPr lang="en-US" sz="1400" dirty="0"/>
          </a:p>
        </p:txBody>
      </p:sp>
      <p:sp>
        <p:nvSpPr>
          <p:cNvPr id="23" name="Text 21"/>
          <p:cNvSpPr txBox="1"/>
          <p:nvPr/>
        </p:nvSpPr>
        <p:spPr>
          <a:xfrm>
            <a:off x="7955280" y="3520440"/>
            <a:ext cx="822960" cy="320040"/>
          </a:xfrm>
          <a:prstGeom prst="rect">
            <a:avLst/>
          </a:prstGeom>
          <a:noFill/>
          <a:ln/>
        </p:spPr>
        <p:txBody>
          <a:bodyPr wrap="square" lIns="0" tIns="0" rIns="0" bIns="0" rtlCol="0" anchor="t"/>
          <a:lstStyle/>
          <a:p>
            <a:pPr algn="r" indent="0" marL="0">
              <a:buNone/>
            </a:pPr>
            <a:r>
              <a:rPr lang="en-US" sz="1200" dirty="0">
                <a:solidFill>
                  <a:schemeClr val="accent4"/>
                </a:solidFill>
              </a:rPr>
              <a:t>50.8 s</a:t>
            </a:r>
            <a:endParaRPr lang="en-US" sz="1200" dirty="0"/>
          </a:p>
        </p:txBody>
      </p:sp>
      <p:sp>
        <p:nvSpPr>
          <p:cNvPr id="24" name="Text 22"/>
          <p:cNvSpPr/>
          <p:nvPr/>
        </p:nvSpPr>
        <p:spPr>
          <a:xfrm>
            <a:off x="548640" y="3977640"/>
            <a:ext cx="384048" cy="384048"/>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5" name="pill APP"/>
          <p:cNvSpPr/>
          <p:nvPr/>
        </p:nvSpPr>
        <p:spPr>
          <a:xfrm>
            <a:off x="1143000" y="4032504"/>
            <a:ext cx="566928" cy="274320"/>
          </a:xfrm>
          <a:prstGeom prst="roundRect">
            <a:avLst>
              <a:gd name="adj" fmla="val 40000"/>
            </a:avLst>
          </a:prstGeom>
          <a:solidFill>
            <a:schemeClr val="accent2"/>
          </a:solidFill>
          <a:ln/>
        </p:spPr>
        <p:txBody>
          <a:bodyPr wrap="square" lIns="0" tIns="0" rIns="0" bIns="0" rtlCol="0" anchor="ctr"/>
          <a:lstStyle/>
          <a:p>
            <a:pPr algn="ctr" indent="0" marL="0">
              <a:buNone/>
            </a:pPr>
            <a:r>
              <a:rPr lang="en-US" sz="1000" b="1" dirty="0">
                <a:solidFill>
                  <a:schemeClr val="bg1"/>
                </a:solidFill>
              </a:rPr>
              <a:t>APP</a:t>
            </a:r>
            <a:endParaRPr lang="en-US" sz="1000" dirty="0"/>
          </a:p>
        </p:txBody>
      </p:sp>
      <p:sp>
        <p:nvSpPr>
          <p:cNvPr id="26" name="Text 24"/>
          <p:cNvSpPr txBox="1"/>
          <p:nvPr/>
        </p:nvSpPr>
        <p:spPr>
          <a:xfrm>
            <a:off x="1874520" y="4032504"/>
            <a:ext cx="6035040" cy="320040"/>
          </a:xfrm>
          <a:prstGeom prst="rect">
            <a:avLst/>
          </a:prstGeom>
          <a:noFill/>
          <a:ln/>
        </p:spPr>
        <p:txBody>
          <a:bodyPr wrap="square" lIns="0" tIns="0" rIns="0" bIns="0" rtlCol="0" anchor="t"/>
          <a:lstStyle/>
          <a:p>
            <a:pPr indent="0" marL="0">
              <a:buNone/>
            </a:pPr>
            <a:r>
              <a:rPr lang="en-US" sz="1400" dirty="0">
                <a:solidFill>
                  <a:schemeClr val="tx1"/>
                </a:solidFill>
              </a:rPr>
              <a:t>Arrive at destination, enter odometer 48215</a:t>
            </a:r>
            <a:endParaRPr lang="en-US" sz="1400" dirty="0"/>
          </a:p>
        </p:txBody>
      </p:sp>
      <p:sp>
        <p:nvSpPr>
          <p:cNvPr id="27" name="Text 25"/>
          <p:cNvSpPr txBox="1"/>
          <p:nvPr/>
        </p:nvSpPr>
        <p:spPr>
          <a:xfrm>
            <a:off x="7955280" y="4032504"/>
            <a:ext cx="822960" cy="320040"/>
          </a:xfrm>
          <a:prstGeom prst="rect">
            <a:avLst/>
          </a:prstGeom>
          <a:noFill/>
          <a:ln/>
        </p:spPr>
        <p:txBody>
          <a:bodyPr wrap="square" lIns="0" tIns="0" rIns="0" bIns="0" rtlCol="0" anchor="t"/>
          <a:lstStyle/>
          <a:p>
            <a:pPr algn="r" indent="0" marL="0">
              <a:buNone/>
            </a:pPr>
            <a:r>
              <a:rPr lang="en-US" sz="1200" dirty="0">
                <a:solidFill>
                  <a:schemeClr val="accent4"/>
                </a:solidFill>
              </a:rPr>
              <a:t>5.1 s</a:t>
            </a:r>
            <a:endParaRPr lang="en-US" sz="1200" dirty="0"/>
          </a:p>
        </p:txBody>
      </p:sp>
      <p:sp>
        <p:nvSpPr>
          <p:cNvPr id="28" name="Text 26"/>
          <p:cNvSpPr/>
          <p:nvPr/>
        </p:nvSpPr>
        <p:spPr>
          <a:xfrm>
            <a:off x="548640" y="4489704"/>
            <a:ext cx="384048" cy="384048"/>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29" name="pill APP"/>
          <p:cNvSpPr/>
          <p:nvPr/>
        </p:nvSpPr>
        <p:spPr>
          <a:xfrm>
            <a:off x="1143000" y="4544568"/>
            <a:ext cx="566928" cy="274320"/>
          </a:xfrm>
          <a:prstGeom prst="roundRect">
            <a:avLst>
              <a:gd name="adj" fmla="val 40000"/>
            </a:avLst>
          </a:prstGeom>
          <a:solidFill>
            <a:schemeClr val="accent2"/>
          </a:solidFill>
          <a:ln/>
        </p:spPr>
        <p:txBody>
          <a:bodyPr wrap="square" lIns="0" tIns="0" rIns="0" bIns="0" rtlCol="0" anchor="ctr"/>
          <a:lstStyle/>
          <a:p>
            <a:pPr algn="ctr" indent="0" marL="0">
              <a:buNone/>
            </a:pPr>
            <a:r>
              <a:rPr lang="en-US" sz="1000" b="1" dirty="0">
                <a:solidFill>
                  <a:schemeClr val="bg1"/>
                </a:solidFill>
              </a:rPr>
              <a:t>APP</a:t>
            </a:r>
            <a:endParaRPr lang="en-US" sz="1000" dirty="0"/>
          </a:p>
        </p:txBody>
      </p:sp>
      <p:sp>
        <p:nvSpPr>
          <p:cNvPr id="30" name="Text 28"/>
          <p:cNvSpPr txBox="1"/>
          <p:nvPr/>
        </p:nvSpPr>
        <p:spPr>
          <a:xfrm>
            <a:off x="1874520" y="4544568"/>
            <a:ext cx="6035040" cy="320040"/>
          </a:xfrm>
          <a:prstGeom prst="rect">
            <a:avLst/>
          </a:prstGeom>
          <a:noFill/>
          <a:ln/>
        </p:spPr>
        <p:txBody>
          <a:bodyPr wrap="square" lIns="0" tIns="0" rIns="0" bIns="0" rtlCol="0" anchor="t"/>
          <a:lstStyle/>
          <a:p>
            <a:pPr indent="0" marL="0">
              <a:buNone/>
            </a:pPr>
            <a:r>
              <a:rPr lang="en-US" sz="1400" dirty="0">
                <a:solidFill>
                  <a:schemeClr val="tx1"/>
                </a:solidFill>
              </a:rPr>
              <a:t>Take a photo with the camera, upload</a:t>
            </a:r>
            <a:endParaRPr lang="en-US" sz="1400" dirty="0"/>
          </a:p>
        </p:txBody>
      </p:sp>
      <p:sp>
        <p:nvSpPr>
          <p:cNvPr id="31" name="Text 29"/>
          <p:cNvSpPr txBox="1"/>
          <p:nvPr/>
        </p:nvSpPr>
        <p:spPr>
          <a:xfrm>
            <a:off x="7955280" y="4544568"/>
            <a:ext cx="822960" cy="320040"/>
          </a:xfrm>
          <a:prstGeom prst="rect">
            <a:avLst/>
          </a:prstGeom>
          <a:noFill/>
          <a:ln/>
        </p:spPr>
        <p:txBody>
          <a:bodyPr wrap="square" lIns="0" tIns="0" rIns="0" bIns="0" rtlCol="0" anchor="t"/>
          <a:lstStyle/>
          <a:p>
            <a:pPr algn="r" indent="0" marL="0">
              <a:buNone/>
            </a:pPr>
            <a:r>
              <a:rPr lang="en-US" sz="1200" dirty="0">
                <a:solidFill>
                  <a:schemeClr val="accent4"/>
                </a:solidFill>
              </a:rPr>
              <a:t>36.5 s</a:t>
            </a:r>
            <a:endParaRPr lang="en-US" sz="1200" dirty="0"/>
          </a:p>
        </p:txBody>
      </p:sp>
      <p:sp>
        <p:nvSpPr>
          <p:cNvPr id="32" name="Text 30"/>
          <p:cNvSpPr/>
          <p:nvPr/>
        </p:nvSpPr>
        <p:spPr>
          <a:xfrm>
            <a:off x="548640" y="5001768"/>
            <a:ext cx="384048" cy="384048"/>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33" name="pill APP"/>
          <p:cNvSpPr/>
          <p:nvPr/>
        </p:nvSpPr>
        <p:spPr>
          <a:xfrm>
            <a:off x="1143000" y="5056632"/>
            <a:ext cx="566928" cy="274320"/>
          </a:xfrm>
          <a:prstGeom prst="roundRect">
            <a:avLst>
              <a:gd name="adj" fmla="val 40000"/>
            </a:avLst>
          </a:prstGeom>
          <a:solidFill>
            <a:schemeClr val="accent2"/>
          </a:solidFill>
          <a:ln/>
        </p:spPr>
        <p:txBody>
          <a:bodyPr wrap="square" lIns="0" tIns="0" rIns="0" bIns="0" rtlCol="0" anchor="ctr"/>
          <a:lstStyle/>
          <a:p>
            <a:pPr algn="ctr" indent="0" marL="0">
              <a:buNone/>
            </a:pPr>
            <a:r>
              <a:rPr lang="en-US" sz="1000" b="1" dirty="0">
                <a:solidFill>
                  <a:schemeClr val="bg1"/>
                </a:solidFill>
              </a:rPr>
              <a:t>APP</a:t>
            </a:r>
            <a:endParaRPr lang="en-US" sz="1000" dirty="0"/>
          </a:p>
        </p:txBody>
      </p:sp>
      <p:sp>
        <p:nvSpPr>
          <p:cNvPr id="34" name="Text 32"/>
          <p:cNvSpPr txBox="1"/>
          <p:nvPr/>
        </p:nvSpPr>
        <p:spPr>
          <a:xfrm>
            <a:off x="1874520" y="5056632"/>
            <a:ext cx="6035040" cy="320040"/>
          </a:xfrm>
          <a:prstGeom prst="rect">
            <a:avLst/>
          </a:prstGeom>
          <a:noFill/>
          <a:ln/>
        </p:spPr>
        <p:txBody>
          <a:bodyPr wrap="square" lIns="0" tIns="0" rIns="0" bIns="0" rtlCol="0" anchor="t"/>
          <a:lstStyle/>
          <a:p>
            <a:pPr indent="0" marL="0">
              <a:buNone/>
            </a:pPr>
            <a:r>
              <a:rPr lang="en-US" sz="1400" dirty="0">
                <a:solidFill>
                  <a:schemeClr val="tx1"/>
                </a:solidFill>
              </a:rPr>
              <a:t>Finish job</a:t>
            </a:r>
            <a:endParaRPr lang="en-US" sz="1400" dirty="0"/>
          </a:p>
        </p:txBody>
      </p:sp>
      <p:sp>
        <p:nvSpPr>
          <p:cNvPr id="35" name="Text 33"/>
          <p:cNvSpPr txBox="1"/>
          <p:nvPr/>
        </p:nvSpPr>
        <p:spPr>
          <a:xfrm>
            <a:off x="7955280" y="5056632"/>
            <a:ext cx="822960" cy="320040"/>
          </a:xfrm>
          <a:prstGeom prst="rect">
            <a:avLst/>
          </a:prstGeom>
          <a:noFill/>
          <a:ln/>
        </p:spPr>
        <p:txBody>
          <a:bodyPr wrap="square" lIns="0" tIns="0" rIns="0" bIns="0" rtlCol="0" anchor="t"/>
          <a:lstStyle/>
          <a:p>
            <a:pPr algn="r" indent="0" marL="0">
              <a:buNone/>
            </a:pPr>
            <a:r>
              <a:rPr lang="en-US" sz="1200" dirty="0">
                <a:solidFill>
                  <a:schemeClr val="accent4"/>
                </a:solidFill>
              </a:rPr>
              <a:t>9.8 s</a:t>
            </a:r>
            <a:endParaRPr lang="en-US" sz="1200" dirty="0"/>
          </a:p>
        </p:txBody>
      </p:sp>
      <p:sp>
        <p:nvSpPr>
          <p:cNvPr id="36" name="Text 34"/>
          <p:cNvSpPr/>
          <p:nvPr/>
        </p:nvSpPr>
        <p:spPr>
          <a:xfrm>
            <a:off x="548640" y="5513832"/>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37" name="pill WEB"/>
          <p:cNvSpPr/>
          <p:nvPr/>
        </p:nvSpPr>
        <p:spPr>
          <a:xfrm>
            <a:off x="1143000" y="5568696"/>
            <a:ext cx="566928" cy="274320"/>
          </a:xfrm>
          <a:prstGeom prst="roundRect">
            <a:avLst>
              <a:gd name="adj" fmla="val 40000"/>
            </a:avLst>
          </a:prstGeom>
          <a:solidFill>
            <a:schemeClr val="accent1"/>
          </a:solidFill>
          <a:ln/>
        </p:spPr>
        <p:txBody>
          <a:bodyPr wrap="square" lIns="0" tIns="0" rIns="0" bIns="0" rtlCol="0" anchor="ctr"/>
          <a:lstStyle/>
          <a:p>
            <a:pPr algn="ctr" indent="0" marL="0">
              <a:buNone/>
            </a:pPr>
            <a:r>
              <a:rPr lang="en-US" sz="1000" b="1" dirty="0">
                <a:solidFill>
                  <a:schemeClr val="bg1"/>
                </a:solidFill>
              </a:rPr>
              <a:t>WEB</a:t>
            </a:r>
            <a:endParaRPr lang="en-US" sz="1000" dirty="0"/>
          </a:p>
        </p:txBody>
      </p:sp>
      <p:sp>
        <p:nvSpPr>
          <p:cNvPr id="38" name="Text 36"/>
          <p:cNvSpPr txBox="1"/>
          <p:nvPr/>
        </p:nvSpPr>
        <p:spPr>
          <a:xfrm>
            <a:off x="1874520" y="5568696"/>
            <a:ext cx="6035040" cy="320040"/>
          </a:xfrm>
          <a:prstGeom prst="rect">
            <a:avLst/>
          </a:prstGeom>
          <a:noFill/>
          <a:ln/>
        </p:spPr>
        <p:txBody>
          <a:bodyPr wrap="square" lIns="0" tIns="0" rIns="0" bIns="0" rtlCol="0" anchor="t"/>
          <a:lstStyle/>
          <a:p>
            <a:pPr indent="0" marL="0">
              <a:buNone/>
            </a:pPr>
            <a:r>
              <a:rPr lang="en-US" sz="1400" dirty="0">
                <a:solidFill>
                  <a:schemeClr val="tx1"/>
                </a:solidFill>
              </a:rPr>
              <a:t>Job is CLOSED, timestamps stamped by the truck</a:t>
            </a:r>
            <a:endParaRPr lang="en-US" sz="1400" dirty="0"/>
          </a:p>
        </p:txBody>
      </p:sp>
      <p:sp>
        <p:nvSpPr>
          <p:cNvPr id="39" name="Text 37"/>
          <p:cNvSpPr txBox="1"/>
          <p:nvPr/>
        </p:nvSpPr>
        <p:spPr>
          <a:xfrm>
            <a:off x="7955280" y="5568696"/>
            <a:ext cx="822960" cy="320040"/>
          </a:xfrm>
          <a:prstGeom prst="rect">
            <a:avLst/>
          </a:prstGeom>
          <a:noFill/>
          <a:ln/>
        </p:spPr>
        <p:txBody>
          <a:bodyPr wrap="square" lIns="0" tIns="0" rIns="0" bIns="0" rtlCol="0" anchor="t"/>
          <a:lstStyle/>
          <a:p>
            <a:pPr algn="r" indent="0" marL="0">
              <a:buNone/>
            </a:pPr>
            <a:r>
              <a:rPr lang="en-US" sz="1200" dirty="0">
                <a:solidFill>
                  <a:schemeClr val="accent4"/>
                </a:solidFill>
              </a:rPr>
              <a:t>10.1 s</a:t>
            </a:r>
            <a:endParaRPr lang="en-US" sz="1200" dirty="0"/>
          </a:p>
        </p:txBody>
      </p:sp>
      <p:sp>
        <p:nvSpPr>
          <p:cNvPr id="40" name="card One runner"/>
          <p:cNvSpPr/>
          <p:nvPr/>
        </p:nvSpPr>
        <p:spPr>
          <a:xfrm>
            <a:off x="9144000" y="1417320"/>
            <a:ext cx="2499055" cy="4434840"/>
          </a:xfrm>
          <a:prstGeom prst="rect">
            <a:avLst/>
          </a:prstGeom>
          <a:solidFill>
            <a:schemeClr val="bg2"/>
          </a:solidFill>
          <a:ln w="12700">
            <a:solidFill>
              <a:schemeClr val="bg2"/>
            </a:solidFill>
            <a:prstDash val="solid"/>
          </a:ln>
        </p:spPr>
      </p:sp>
      <p:sp>
        <p:nvSpPr>
          <p:cNvPr id="41" name="card edge One runner"/>
          <p:cNvSpPr/>
          <p:nvPr/>
        </p:nvSpPr>
        <p:spPr>
          <a:xfrm>
            <a:off x="9144000" y="1417320"/>
            <a:ext cx="64008" cy="4434840"/>
          </a:xfrm>
          <a:prstGeom prst="rect">
            <a:avLst/>
          </a:prstGeom>
          <a:solidFill>
            <a:schemeClr val="accent1"/>
          </a:solidFill>
          <a:ln w="12700">
            <a:solidFill>
              <a:schemeClr val="accent1"/>
            </a:solidFill>
            <a:prstDash val="solid"/>
          </a:ln>
        </p:spPr>
      </p:sp>
      <p:sp>
        <p:nvSpPr>
          <p:cNvPr id="42" name="Text 40"/>
          <p:cNvSpPr txBox="1"/>
          <p:nvPr/>
        </p:nvSpPr>
        <p:spPr>
          <a:xfrm>
            <a:off x="9372600" y="1581912"/>
            <a:ext cx="2133295" cy="365760"/>
          </a:xfrm>
          <a:prstGeom prst="rect">
            <a:avLst/>
          </a:prstGeom>
          <a:noFill/>
          <a:ln/>
        </p:spPr>
        <p:txBody>
          <a:bodyPr wrap="square" lIns="0" tIns="0" rIns="0" bIns="0" rtlCol="0" anchor="t"/>
          <a:lstStyle/>
          <a:p>
            <a:pPr indent="0" marL="0">
              <a:buNone/>
            </a:pPr>
            <a:r>
              <a:rPr lang="en-US" sz="1500" b="1" dirty="0">
                <a:solidFill>
                  <a:schemeClr val="tx1"/>
                </a:solidFill>
              </a:rPr>
              <a:t>One runner</a:t>
            </a:r>
            <a:endParaRPr lang="en-US" sz="1500" dirty="0"/>
          </a:p>
        </p:txBody>
      </p:sp>
      <p:sp>
        <p:nvSpPr>
          <p:cNvPr id="43" name="Text 41"/>
          <p:cNvSpPr txBox="1"/>
          <p:nvPr/>
        </p:nvSpPr>
        <p:spPr>
          <a:xfrm>
            <a:off x="9372600" y="1984248"/>
            <a:ext cx="2133295" cy="3749040"/>
          </a:xfrm>
          <a:prstGeom prst="rect">
            <a:avLst/>
          </a:prstGeom>
          <a:noFill/>
          <a:ln/>
        </p:spPr>
        <p:txBody>
          <a:bodyPr wrap="square" lIns="0" tIns="0" rIns="0" bIns="0" rtlCol="0" anchor="t"/>
          <a:lstStyle/>
          <a:p>
            <a:pPr indent="0" marL="0">
              <a:lnSpc>
                <a:spcPct val="115000"/>
              </a:lnSpc>
              <a:buNone/>
            </a:pPr>
            <a:r>
              <a:rPr lang="en-US" sz="1300" dirty="0">
                <a:solidFill>
                  <a:schemeClr val="tx1"/>
                </a:solidFill>
              </a:rPr>
              <a:t>All nine steps are one Playwright test. It drives the browser and, in the same test, the phone through Appium.</a:t>
            </a:r>
            <a:endParaRPr lang="en-US" sz="1300" dirty="0"/>
          </a:p>
          <a:p>
            <a:pPr indent="0" marL="0">
              <a:lnSpc>
                <a:spcPct val="115000"/>
              </a:lnSpc>
              <a:buNone/>
            </a:pPr>
            <a:r>
              <a:rPr lang="en-US" sz="600" dirty="0">
                <a:solidFill>
                  <a:schemeClr val="tx1"/>
                </a:solidFill>
              </a:rPr>
              <a:t> </a:t>
            </a:r>
            <a:endParaRPr lang="en-US" sz="1300" dirty="0"/>
          </a:p>
          <a:p>
            <a:pPr indent="0" marL="0">
              <a:lnSpc>
                <a:spcPct val="115000"/>
              </a:lnSpc>
              <a:buNone/>
            </a:pPr>
            <a:r>
              <a:rPr lang="en-US" sz="1300" dirty="0">
                <a:solidFill>
                  <a:schemeClr val="tx1"/>
                </a:solidFill>
              </a:rPr>
              <a:t>If any step fails, the whole test fails - with the video and trace showing exactly where.</a:t>
            </a:r>
            <a:endParaRPr lang="en-US" sz="1300" dirty="0"/>
          </a:p>
          <a:p>
            <a:pPr indent="0" marL="0">
              <a:lnSpc>
                <a:spcPct val="115000"/>
              </a:lnSpc>
              <a:buNone/>
            </a:pPr>
            <a:r>
              <a:rPr lang="en-US" sz="600" dirty="0">
                <a:solidFill>
                  <a:schemeClr val="tx1"/>
                </a:solidFill>
              </a:rPr>
              <a:t> </a:t>
            </a:r>
            <a:endParaRPr lang="en-US" sz="1300" dirty="0"/>
          </a:p>
          <a:p>
            <a:pPr indent="0" marL="0">
              <a:lnSpc>
                <a:spcPct val="115000"/>
              </a:lnSpc>
              <a:buNone/>
            </a:pPr>
            <a:r>
              <a:rPr lang="en-US" sz="1300" dirty="0">
                <a:solidFill>
                  <a:schemeClr val="accent4"/>
                </a:solidFill>
              </a:rPr>
              <a:t>No agent close step: Finish in the app closes the job.</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171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40080"/>
          </a:xfrm>
          <a:prstGeom prst="rect">
            <a:avLst/>
          </a:prstGeom>
          <a:noFill/>
          <a:ln/>
        </p:spPr>
        <p:txBody>
          <a:bodyPr wrap="square" rtlCol="0" anchor="t"/>
          <a:lstStyle/>
          <a:p>
            <a:pPr algn="l" indent="0" marL="0">
              <a:buNone/>
            </a:pPr>
            <a:r>
              <a:rPr lang="en-US" sz="2600" b="1" dirty="0">
                <a:solidFill>
                  <a:schemeClr val="tx1"/>
                </a:solidFill>
              </a:rPr>
              <a:t>Dispatch on the portal: the job reaches the phone in seconds</a:t>
            </a:r>
            <a:endParaRPr lang="en-US" sz="2600" dirty="0"/>
          </a:p>
        </p:txBody>
      </p:sp>
      <p:pic>
        <p:nvPicPr>
          <p:cNvPr id="3" name="t30.png" descr="C:\Projects\AspireDigital\ai-workshop\presentations\e2e-img\t30.png">    </p:cNvPr>
          <p:cNvPicPr>
            <a:picLocks noChangeAspect="1"/>
          </p:cNvPicPr>
          <p:nvPr/>
        </p:nvPicPr>
        <p:blipFill>
          <a:blip r:embed="rId1"/>
          <a:stretch>
            <a:fillRect/>
          </a:stretch>
        </p:blipFill>
        <p:spPr>
          <a:xfrm>
            <a:off x="548640" y="1371600"/>
            <a:ext cx="8138160" cy="4344214"/>
          </a:xfrm>
          <a:prstGeom prst="rect">
            <a:avLst/>
          </a:prstGeom>
        </p:spPr>
      </p:pic>
      <p:sp>
        <p:nvSpPr>
          <p:cNvPr id="4" name="frame t30.png"/>
          <p:cNvSpPr/>
          <p:nvPr/>
        </p:nvSpPr>
        <p:spPr>
          <a:xfrm>
            <a:off x="548640" y="1371600"/>
            <a:ext cx="8138160" cy="4344214"/>
          </a:xfrm>
          <a:prstGeom prst="rect">
            <a:avLst/>
          </a:prstGeom>
          <a:ln w="12700">
            <a:solidFill>
              <a:schemeClr val="accent5"/>
            </a:solidFill>
            <a:prstDash val="solid"/>
          </a:ln>
        </p:spPr>
      </p:sp>
      <p:sp>
        <p:nvSpPr>
          <p:cNvPr id="5" name="Text 2"/>
          <p:cNvSpPr/>
          <p:nvPr/>
        </p:nvSpPr>
        <p:spPr>
          <a:xfrm>
            <a:off x="8961120" y="1463040"/>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9509760" y="1444752"/>
            <a:ext cx="2133295" cy="320040"/>
          </a:xfrm>
          <a:prstGeom prst="rect">
            <a:avLst/>
          </a:prstGeom>
          <a:noFill/>
          <a:ln/>
        </p:spPr>
        <p:txBody>
          <a:bodyPr wrap="square" lIns="0" tIns="0" rIns="0" bIns="0" rtlCol="0" anchor="t"/>
          <a:lstStyle/>
          <a:p>
            <a:pPr indent="0" marL="0">
              <a:buNone/>
            </a:pPr>
            <a:r>
              <a:rPr lang="en-US" sz="1400" b="1" dirty="0">
                <a:solidFill>
                  <a:schemeClr val="tx1"/>
                </a:solidFill>
              </a:rPr>
              <a:t>Portal: job 26JB049153</a:t>
            </a:r>
            <a:endParaRPr lang="en-US" sz="1400" dirty="0"/>
          </a:p>
        </p:txBody>
      </p:sp>
      <p:sp>
        <p:nvSpPr>
          <p:cNvPr id="7" name="Text 4"/>
          <p:cNvSpPr txBox="1"/>
          <p:nvPr/>
        </p:nvSpPr>
        <p:spPr>
          <a:xfrm>
            <a:off x="9509760" y="1773936"/>
            <a:ext cx="2133295" cy="777240"/>
          </a:xfrm>
          <a:prstGeom prst="rect">
            <a:avLst/>
          </a:prstGeom>
          <a:noFill/>
          <a:ln/>
        </p:spPr>
        <p:txBody>
          <a:bodyPr wrap="square" lIns="0" tIns="0" rIns="0" bIns="0" rtlCol="0" anchor="t"/>
          <a:lstStyle/>
          <a:p>
            <a:pPr indent="0" marL="0">
              <a:buNone/>
            </a:pPr>
            <a:r>
              <a:rPr lang="en-US" sz="1150" dirty="0">
                <a:solidFill>
                  <a:schemeClr val="tx1"/>
                </a:solidFill>
              </a:rPr>
              <a:t>Real Thai incident address, district, province; truck v3036 assigned and dispatched at 10:22.</a:t>
            </a:r>
            <a:endParaRPr lang="en-US" sz="1150" dirty="0"/>
          </a:p>
        </p:txBody>
      </p:sp>
      <p:sp>
        <p:nvSpPr>
          <p:cNvPr id="8" name="Text 5"/>
          <p:cNvSpPr/>
          <p:nvPr/>
        </p:nvSpPr>
        <p:spPr>
          <a:xfrm>
            <a:off x="8961120" y="2606040"/>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6"/>
          <p:cNvSpPr txBox="1"/>
          <p:nvPr/>
        </p:nvSpPr>
        <p:spPr>
          <a:xfrm>
            <a:off x="9509760" y="2587752"/>
            <a:ext cx="2133295" cy="320040"/>
          </a:xfrm>
          <a:prstGeom prst="rect">
            <a:avLst/>
          </a:prstGeom>
          <a:noFill/>
          <a:ln/>
        </p:spPr>
        <p:txBody>
          <a:bodyPr wrap="square" lIns="0" tIns="0" rIns="0" bIns="0" rtlCol="0" anchor="t"/>
          <a:lstStyle/>
          <a:p>
            <a:pPr indent="0" marL="0">
              <a:buNone/>
            </a:pPr>
            <a:r>
              <a:rPr lang="en-US" sz="1400" b="1" dirty="0">
                <a:solidFill>
                  <a:schemeClr val="tx1"/>
                </a:solidFill>
              </a:rPr>
              <a:t>Phone: job card, 9.70 km</a:t>
            </a:r>
            <a:endParaRPr lang="en-US" sz="1400" dirty="0"/>
          </a:p>
        </p:txBody>
      </p:sp>
      <p:sp>
        <p:nvSpPr>
          <p:cNvPr id="10" name="Text 7"/>
          <p:cNvSpPr txBox="1"/>
          <p:nvPr/>
        </p:nvSpPr>
        <p:spPr>
          <a:xfrm>
            <a:off x="9509760" y="2916936"/>
            <a:ext cx="2133295" cy="777240"/>
          </a:xfrm>
          <a:prstGeom prst="rect">
            <a:avLst/>
          </a:prstGeom>
          <a:noFill/>
          <a:ln/>
        </p:spPr>
        <p:txBody>
          <a:bodyPr wrap="square" lIns="0" tIns="0" rIns="0" bIns="0" rtlCol="0" anchor="t"/>
          <a:lstStyle/>
          <a:p>
            <a:pPr indent="0" marL="0">
              <a:buNone/>
            </a:pPr>
            <a:r>
              <a:rPr lang="en-US" sz="1150" dirty="0">
                <a:solidFill>
                  <a:schemeClr val="tx1"/>
                </a:solidFill>
              </a:rPr>
              <a:t>The app polls the server while Ready. The job shows up without any tap, with the same job number.</a:t>
            </a:r>
            <a:endParaRPr lang="en-US" sz="1150" dirty="0"/>
          </a:p>
        </p:txBody>
      </p:sp>
      <p:sp>
        <p:nvSpPr>
          <p:cNvPr id="11" name="Text 8"/>
          <p:cNvSpPr/>
          <p:nvPr/>
        </p:nvSpPr>
        <p:spPr>
          <a:xfrm>
            <a:off x="8961120" y="3749040"/>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9"/>
          <p:cNvSpPr txBox="1"/>
          <p:nvPr/>
        </p:nvSpPr>
        <p:spPr>
          <a:xfrm>
            <a:off x="9509760" y="3730752"/>
            <a:ext cx="2133295" cy="320040"/>
          </a:xfrm>
          <a:prstGeom prst="rect">
            <a:avLst/>
          </a:prstGeom>
          <a:noFill/>
          <a:ln/>
        </p:spPr>
        <p:txBody>
          <a:bodyPr wrap="square" lIns="0" tIns="0" rIns="0" bIns="0" rtlCol="0" anchor="t"/>
          <a:lstStyle/>
          <a:p>
            <a:pPr indent="0" marL="0">
              <a:buNone/>
            </a:pPr>
            <a:r>
              <a:rPr lang="en-US" sz="1400" b="1" dirty="0">
                <a:solidFill>
                  <a:schemeClr val="tx1"/>
                </a:solidFill>
              </a:rPr>
              <a:t>Checked automatically</a:t>
            </a:r>
            <a:endParaRPr lang="en-US" sz="1400" dirty="0"/>
          </a:p>
        </p:txBody>
      </p:sp>
      <p:sp>
        <p:nvSpPr>
          <p:cNvPr id="13" name="Text 10"/>
          <p:cNvSpPr txBox="1"/>
          <p:nvPr/>
        </p:nvSpPr>
        <p:spPr>
          <a:xfrm>
            <a:off x="9509760" y="4059936"/>
            <a:ext cx="2133295" cy="777240"/>
          </a:xfrm>
          <a:prstGeom prst="rect">
            <a:avLst/>
          </a:prstGeom>
          <a:noFill/>
          <a:ln/>
        </p:spPr>
        <p:txBody>
          <a:bodyPr wrap="square" lIns="0" tIns="0" rIns="0" bIns="0" rtlCol="0" anchor="t"/>
          <a:lstStyle/>
          <a:p>
            <a:pPr indent="0" marL="0">
              <a:buNone/>
            </a:pPr>
            <a:r>
              <a:rPr lang="en-US" sz="1150" dirty="0">
                <a:solidFill>
                  <a:schemeClr val="tx1"/>
                </a:solidFill>
              </a:rPr>
              <a:t>Same job number on both sides; distance on the card is more than 2 km (a real trip, not 0 km).</a:t>
            </a:r>
            <a:endParaRPr lang="en-US" sz="115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171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40080"/>
          </a:xfrm>
          <a:prstGeom prst="rect">
            <a:avLst/>
          </a:prstGeom>
          <a:noFill/>
          <a:ln/>
        </p:spPr>
        <p:txBody>
          <a:bodyPr wrap="square" rtlCol="0" anchor="t"/>
          <a:lstStyle/>
          <a:p>
            <a:pPr algn="l" indent="0" marL="0">
              <a:buNone/>
            </a:pPr>
            <a:r>
              <a:rPr lang="en-US" sz="2600" b="1" dirty="0">
                <a:solidFill>
                  <a:schemeClr val="tx1"/>
                </a:solidFill>
              </a:rPr>
              <a:t>On the phone: drive, arrive, record mileage, like a real driver</a:t>
            </a:r>
            <a:endParaRPr lang="en-US" sz="2600" dirty="0"/>
          </a:p>
        </p:txBody>
      </p:sp>
      <p:pic>
        <p:nvPicPr>
          <p:cNvPr id="3" name="t105.png" descr="C:\Projects\AspireDigital\ai-workshop\presentations\e2e-img\t105.png">    </p:cNvPr>
          <p:cNvPicPr>
            <a:picLocks noChangeAspect="1"/>
          </p:cNvPicPr>
          <p:nvPr/>
        </p:nvPicPr>
        <p:blipFill>
          <a:blip r:embed="rId1"/>
          <a:stretch>
            <a:fillRect/>
          </a:stretch>
        </p:blipFill>
        <p:spPr>
          <a:xfrm>
            <a:off x="548640" y="1371600"/>
            <a:ext cx="8138160" cy="4344214"/>
          </a:xfrm>
          <a:prstGeom prst="rect">
            <a:avLst/>
          </a:prstGeom>
        </p:spPr>
      </p:pic>
      <p:sp>
        <p:nvSpPr>
          <p:cNvPr id="4" name="frame t105.png"/>
          <p:cNvSpPr/>
          <p:nvPr/>
        </p:nvSpPr>
        <p:spPr>
          <a:xfrm>
            <a:off x="548640" y="1371600"/>
            <a:ext cx="8138160" cy="4344214"/>
          </a:xfrm>
          <a:prstGeom prst="rect">
            <a:avLst/>
          </a:prstGeom>
          <a:ln w="12700">
            <a:solidFill>
              <a:schemeClr val="accent5"/>
            </a:solidFill>
            <a:prstDash val="solid"/>
          </a:ln>
        </p:spPr>
      </p:sp>
      <p:sp>
        <p:nvSpPr>
          <p:cNvPr id="5" name="Text 2"/>
          <p:cNvSpPr/>
          <p:nvPr/>
        </p:nvSpPr>
        <p:spPr>
          <a:xfrm>
            <a:off x="8961120" y="1463040"/>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9509760" y="1444752"/>
            <a:ext cx="2133295" cy="320040"/>
          </a:xfrm>
          <a:prstGeom prst="rect">
            <a:avLst/>
          </a:prstGeom>
          <a:noFill/>
          <a:ln/>
        </p:spPr>
        <p:txBody>
          <a:bodyPr wrap="square" lIns="0" tIns="0" rIns="0" bIns="0" rtlCol="0" anchor="t"/>
          <a:lstStyle/>
          <a:p>
            <a:pPr indent="0" marL="0">
              <a:buNone/>
            </a:pPr>
            <a:r>
              <a:rPr lang="en-US" sz="1400" b="1" dirty="0">
                <a:solidFill>
                  <a:schemeClr val="tx1"/>
                </a:solidFill>
              </a:rPr>
              <a:t>Truck moves by road</a:t>
            </a:r>
            <a:endParaRPr lang="en-US" sz="1400" dirty="0"/>
          </a:p>
        </p:txBody>
      </p:sp>
      <p:sp>
        <p:nvSpPr>
          <p:cNvPr id="7" name="Text 4"/>
          <p:cNvSpPr txBox="1"/>
          <p:nvPr/>
        </p:nvSpPr>
        <p:spPr>
          <a:xfrm>
            <a:off x="9509760" y="1773936"/>
            <a:ext cx="2133295" cy="777240"/>
          </a:xfrm>
          <a:prstGeom prst="rect">
            <a:avLst/>
          </a:prstGeom>
          <a:noFill/>
          <a:ln/>
        </p:spPr>
        <p:txBody>
          <a:bodyPr wrap="square" lIns="0" tIns="0" rIns="0" bIns="0" rtlCol="0" anchor="t"/>
          <a:lstStyle/>
          <a:p>
            <a:pPr indent="0" marL="0">
              <a:buNone/>
            </a:pPr>
            <a:r>
              <a:rPr lang="en-US" sz="1150" dirty="0">
                <a:solidFill>
                  <a:schemeClr val="tx1"/>
                </a:solidFill>
              </a:rPr>
              <a:t>Emulator GPS steps every ~150 m from Victory Monument through Phaya Thai and Ratchaprasong to the customer.</a:t>
            </a:r>
            <a:endParaRPr lang="en-US" sz="1150" dirty="0"/>
          </a:p>
        </p:txBody>
      </p:sp>
      <p:sp>
        <p:nvSpPr>
          <p:cNvPr id="8" name="Text 5"/>
          <p:cNvSpPr/>
          <p:nvPr/>
        </p:nvSpPr>
        <p:spPr>
          <a:xfrm>
            <a:off x="8961120" y="2606040"/>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6"/>
          <p:cNvSpPr txBox="1"/>
          <p:nvPr/>
        </p:nvSpPr>
        <p:spPr>
          <a:xfrm>
            <a:off x="9509760" y="2587752"/>
            <a:ext cx="2133295" cy="320040"/>
          </a:xfrm>
          <a:prstGeom prst="rect">
            <a:avLst/>
          </a:prstGeom>
          <a:noFill/>
          <a:ln/>
        </p:spPr>
        <p:txBody>
          <a:bodyPr wrap="square" lIns="0" tIns="0" rIns="0" bIns="0" rtlCol="0" anchor="t"/>
          <a:lstStyle/>
          <a:p>
            <a:pPr indent="0" marL="0">
              <a:buNone/>
            </a:pPr>
            <a:r>
              <a:rPr lang="en-US" sz="1400" b="1" dirty="0">
                <a:solidFill>
                  <a:schemeClr val="tx1"/>
                </a:solidFill>
              </a:rPr>
              <a:t>Arrive + mileage 48215</a:t>
            </a:r>
            <a:endParaRPr lang="en-US" sz="1400" dirty="0"/>
          </a:p>
        </p:txBody>
      </p:sp>
      <p:sp>
        <p:nvSpPr>
          <p:cNvPr id="10" name="Text 7"/>
          <p:cNvSpPr txBox="1"/>
          <p:nvPr/>
        </p:nvSpPr>
        <p:spPr>
          <a:xfrm>
            <a:off x="9509760" y="2916936"/>
            <a:ext cx="2133295" cy="777240"/>
          </a:xfrm>
          <a:prstGeom prst="rect">
            <a:avLst/>
          </a:prstGeom>
          <a:noFill/>
          <a:ln/>
        </p:spPr>
        <p:txBody>
          <a:bodyPr wrap="square" lIns="0" tIns="0" rIns="0" bIns="0" rtlCol="0" anchor="t"/>
          <a:lstStyle/>
          <a:p>
            <a:pPr indent="0" marL="0">
              <a:buNone/>
            </a:pPr>
            <a:r>
              <a:rPr lang="en-US" sz="1150" dirty="0">
                <a:solidFill>
                  <a:schemeClr val="tx1"/>
                </a:solidFill>
              </a:rPr>
              <a:t>The app asks for the odometer; the test types it and confirms, exactly as a driver taps.</a:t>
            </a:r>
            <a:endParaRPr lang="en-US" sz="1150" dirty="0"/>
          </a:p>
        </p:txBody>
      </p:sp>
      <p:sp>
        <p:nvSpPr>
          <p:cNvPr id="11" name="Text 8"/>
          <p:cNvSpPr/>
          <p:nvPr/>
        </p:nvSpPr>
        <p:spPr>
          <a:xfrm>
            <a:off x="8961120" y="3749040"/>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9"/>
          <p:cNvSpPr txBox="1"/>
          <p:nvPr/>
        </p:nvSpPr>
        <p:spPr>
          <a:xfrm>
            <a:off x="9509760" y="3730752"/>
            <a:ext cx="2133295" cy="320040"/>
          </a:xfrm>
          <a:prstGeom prst="rect">
            <a:avLst/>
          </a:prstGeom>
          <a:noFill/>
          <a:ln/>
        </p:spPr>
        <p:txBody>
          <a:bodyPr wrap="square" lIns="0" tIns="0" rIns="0" bIns="0" rtlCol="0" anchor="t"/>
          <a:lstStyle/>
          <a:p>
            <a:pPr indent="0" marL="0">
              <a:buNone/>
            </a:pPr>
            <a:r>
              <a:rPr lang="en-US" sz="1400" b="1" dirty="0">
                <a:solidFill>
                  <a:schemeClr val="tx1"/>
                </a:solidFill>
              </a:rPr>
              <a:t>Then photo and Finish</a:t>
            </a:r>
            <a:endParaRPr lang="en-US" sz="1400" dirty="0"/>
          </a:p>
        </p:txBody>
      </p:sp>
      <p:sp>
        <p:nvSpPr>
          <p:cNvPr id="13" name="Text 10"/>
          <p:cNvSpPr txBox="1"/>
          <p:nvPr/>
        </p:nvSpPr>
        <p:spPr>
          <a:xfrm>
            <a:off x="9509760" y="4059936"/>
            <a:ext cx="2133295" cy="777240"/>
          </a:xfrm>
          <a:prstGeom prst="rect">
            <a:avLst/>
          </a:prstGeom>
          <a:noFill/>
          <a:ln/>
        </p:spPr>
        <p:txBody>
          <a:bodyPr wrap="square" lIns="0" tIns="0" rIns="0" bIns="0" rtlCol="0" anchor="t"/>
          <a:lstStyle/>
          <a:p>
            <a:pPr indent="0" marL="0">
              <a:buNone/>
            </a:pPr>
            <a:r>
              <a:rPr lang="en-US" sz="1150" dirty="0">
                <a:solidFill>
                  <a:schemeClr val="tx1"/>
                </a:solidFill>
              </a:rPr>
              <a:t>Emulator camera takes a real photo, it uploads, and the driver finishes the job.</a:t>
            </a:r>
            <a:endParaRPr lang="en-US" sz="115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171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40080"/>
          </a:xfrm>
          <a:prstGeom prst="rect">
            <a:avLst/>
          </a:prstGeom>
          <a:noFill/>
          <a:ln/>
        </p:spPr>
        <p:txBody>
          <a:bodyPr wrap="square" rtlCol="0" anchor="t"/>
          <a:lstStyle/>
          <a:p>
            <a:pPr algn="l" indent="0" marL="0">
              <a:buNone/>
            </a:pPr>
            <a:r>
              <a:rPr lang="en-US" sz="2600" b="1" dirty="0">
                <a:solidFill>
                  <a:schemeClr val="tx1"/>
                </a:solidFill>
              </a:rPr>
              <a:t>Back on the portal: every driver action is there, stamped by the truck</a:t>
            </a:r>
            <a:endParaRPr lang="en-US" sz="2600" dirty="0"/>
          </a:p>
        </p:txBody>
      </p:sp>
      <p:pic>
        <p:nvPicPr>
          <p:cNvPr id="3" name="t165.png" descr="C:\Projects\AspireDigital\ai-workshop\presentations\e2e-img\t165.png">    </p:cNvPr>
          <p:cNvPicPr>
            <a:picLocks noChangeAspect="1"/>
          </p:cNvPicPr>
          <p:nvPr/>
        </p:nvPicPr>
        <p:blipFill>
          <a:blip r:embed="rId1"/>
          <a:stretch>
            <a:fillRect/>
          </a:stretch>
        </p:blipFill>
        <p:spPr>
          <a:xfrm>
            <a:off x="548640" y="1371600"/>
            <a:ext cx="8138160" cy="4344214"/>
          </a:xfrm>
          <a:prstGeom prst="rect">
            <a:avLst/>
          </a:prstGeom>
        </p:spPr>
      </p:pic>
      <p:sp>
        <p:nvSpPr>
          <p:cNvPr id="4" name="frame t165.png"/>
          <p:cNvSpPr/>
          <p:nvPr/>
        </p:nvSpPr>
        <p:spPr>
          <a:xfrm>
            <a:off x="548640" y="1371600"/>
            <a:ext cx="8138160" cy="4344214"/>
          </a:xfrm>
          <a:prstGeom prst="rect">
            <a:avLst/>
          </a:prstGeom>
          <a:ln w="12700">
            <a:solidFill>
              <a:schemeClr val="accent5"/>
            </a:solidFill>
            <a:prstDash val="solid"/>
          </a:ln>
        </p:spPr>
      </p:sp>
      <p:sp>
        <p:nvSpPr>
          <p:cNvPr id="5" name="Text 2"/>
          <p:cNvSpPr/>
          <p:nvPr/>
        </p:nvSpPr>
        <p:spPr>
          <a:xfrm>
            <a:off x="8961120" y="1463040"/>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9509760" y="1444752"/>
            <a:ext cx="2133295" cy="320040"/>
          </a:xfrm>
          <a:prstGeom prst="rect">
            <a:avLst/>
          </a:prstGeom>
          <a:noFill/>
          <a:ln/>
        </p:spPr>
        <p:txBody>
          <a:bodyPr wrap="square" lIns="0" tIns="0" rIns="0" bIns="0" rtlCol="0" anchor="t"/>
          <a:lstStyle/>
          <a:p>
            <a:pPr indent="0" marL="0">
              <a:buNone/>
            </a:pPr>
            <a:r>
              <a:rPr lang="en-US" sz="1400" b="1" dirty="0">
                <a:solidFill>
                  <a:schemeClr val="tx1"/>
                </a:solidFill>
              </a:rPr>
              <a:t>ACCEPT: ~5 km away</a:t>
            </a:r>
            <a:endParaRPr lang="en-US" sz="1400" dirty="0"/>
          </a:p>
        </p:txBody>
      </p:sp>
      <p:sp>
        <p:nvSpPr>
          <p:cNvPr id="7" name="Text 4"/>
          <p:cNvSpPr txBox="1"/>
          <p:nvPr/>
        </p:nvSpPr>
        <p:spPr>
          <a:xfrm>
            <a:off x="9509760" y="1773936"/>
            <a:ext cx="2133295" cy="777240"/>
          </a:xfrm>
          <a:prstGeom prst="rect">
            <a:avLst/>
          </a:prstGeom>
          <a:noFill/>
          <a:ln/>
        </p:spPr>
        <p:txBody>
          <a:bodyPr wrap="square" lIns="0" tIns="0" rIns="0" bIns="0" rtlCol="0" anchor="t"/>
          <a:lstStyle/>
          <a:p>
            <a:pPr indent="0" marL="0">
              <a:buNone/>
            </a:pPr>
            <a:r>
              <a:rPr lang="en-US" sz="1150" dirty="0">
                <a:solidFill>
                  <a:schemeClr val="tx1"/>
                </a:solidFill>
              </a:rPr>
              <a:t>GPS 13.7649, 100.5383 - where the truck really was when it took the job, not on top of the customer.</a:t>
            </a:r>
            <a:endParaRPr lang="en-US" sz="1150" dirty="0"/>
          </a:p>
        </p:txBody>
      </p:sp>
      <p:sp>
        <p:nvSpPr>
          <p:cNvPr id="8" name="Text 5"/>
          <p:cNvSpPr/>
          <p:nvPr/>
        </p:nvSpPr>
        <p:spPr>
          <a:xfrm>
            <a:off x="8961120" y="2606040"/>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6"/>
          <p:cNvSpPr txBox="1"/>
          <p:nvPr/>
        </p:nvSpPr>
        <p:spPr>
          <a:xfrm>
            <a:off x="9509760" y="2587752"/>
            <a:ext cx="2133295" cy="320040"/>
          </a:xfrm>
          <a:prstGeom prst="rect">
            <a:avLst/>
          </a:prstGeom>
          <a:noFill/>
          <a:ln/>
        </p:spPr>
        <p:txBody>
          <a:bodyPr wrap="square" lIns="0" tIns="0" rIns="0" bIns="0" rtlCol="0" anchor="t"/>
          <a:lstStyle/>
          <a:p>
            <a:pPr indent="0" marL="0">
              <a:buNone/>
            </a:pPr>
            <a:r>
              <a:rPr lang="en-US" sz="1400" b="1" dirty="0">
                <a:solidFill>
                  <a:schemeClr val="tx1"/>
                </a:solidFill>
              </a:rPr>
              <a:t>REACH + COMPLETE</a:t>
            </a:r>
            <a:endParaRPr lang="en-US" sz="1400" dirty="0"/>
          </a:p>
        </p:txBody>
      </p:sp>
      <p:sp>
        <p:nvSpPr>
          <p:cNvPr id="10" name="Text 7"/>
          <p:cNvSpPr txBox="1"/>
          <p:nvPr/>
        </p:nvSpPr>
        <p:spPr>
          <a:xfrm>
            <a:off x="9509760" y="2916936"/>
            <a:ext cx="2133295" cy="777240"/>
          </a:xfrm>
          <a:prstGeom prst="rect">
            <a:avLst/>
          </a:prstGeom>
          <a:noFill/>
          <a:ln/>
        </p:spPr>
        <p:txBody>
          <a:bodyPr wrap="square" lIns="0" tIns="0" rIns="0" bIns="0" rtlCol="0" anchor="t"/>
          <a:lstStyle/>
          <a:p>
            <a:pPr indent="0" marL="0">
              <a:buNone/>
            </a:pPr>
            <a:r>
              <a:rPr lang="en-US" sz="1150" dirty="0">
                <a:solidFill>
                  <a:schemeClr val="tx1"/>
                </a:solidFill>
              </a:rPr>
              <a:t>At the customer point. Truck v3036 and the driver name on each row; status CLOSED.</a:t>
            </a:r>
            <a:endParaRPr lang="en-US" sz="1150" dirty="0"/>
          </a:p>
        </p:txBody>
      </p:sp>
      <p:sp>
        <p:nvSpPr>
          <p:cNvPr id="11" name="Text 8"/>
          <p:cNvSpPr/>
          <p:nvPr/>
        </p:nvSpPr>
        <p:spPr>
          <a:xfrm>
            <a:off x="8961120" y="3749040"/>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9"/>
          <p:cNvSpPr txBox="1"/>
          <p:nvPr/>
        </p:nvSpPr>
        <p:spPr>
          <a:xfrm>
            <a:off x="9509760" y="3730752"/>
            <a:ext cx="2133295" cy="320040"/>
          </a:xfrm>
          <a:prstGeom prst="rect">
            <a:avLst/>
          </a:prstGeom>
          <a:noFill/>
          <a:ln/>
        </p:spPr>
        <p:txBody>
          <a:bodyPr wrap="square" lIns="0" tIns="0" rIns="0" bIns="0" rtlCol="0" anchor="t"/>
          <a:lstStyle/>
          <a:p>
            <a:pPr indent="0" marL="0">
              <a:buNone/>
            </a:pPr>
            <a:r>
              <a:rPr lang="en-US" sz="1400" b="1" dirty="0">
                <a:solidFill>
                  <a:schemeClr val="tx1"/>
                </a:solidFill>
              </a:rPr>
              <a:t>KPI: Pass on all three</a:t>
            </a:r>
            <a:endParaRPr lang="en-US" sz="1400" dirty="0"/>
          </a:p>
        </p:txBody>
      </p:sp>
      <p:sp>
        <p:nvSpPr>
          <p:cNvPr id="13" name="Text 10"/>
          <p:cNvSpPr txBox="1"/>
          <p:nvPr/>
        </p:nvSpPr>
        <p:spPr>
          <a:xfrm>
            <a:off x="9509760" y="4059936"/>
            <a:ext cx="2133295" cy="777240"/>
          </a:xfrm>
          <a:prstGeom prst="rect">
            <a:avLst/>
          </a:prstGeom>
          <a:noFill/>
          <a:ln/>
        </p:spPr>
        <p:txBody>
          <a:bodyPr wrap="square" lIns="0" tIns="0" rIns="0" bIns="0" rtlCol="0" anchor="t"/>
          <a:lstStyle/>
          <a:p>
            <a:pPr indent="0" marL="0">
              <a:buNone/>
            </a:pPr>
            <a:r>
              <a:rPr lang="en-US" sz="1150" dirty="0">
                <a:solidFill>
                  <a:schemeClr val="tx1"/>
                </a:solidFill>
              </a:rPr>
              <a:t>Accept, Reach and Complete within the expected times; reach distance 7.0 km.</a:t>
            </a:r>
            <a:endParaRPr lang="en-US" sz="115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171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40080"/>
          </a:xfrm>
          <a:prstGeom prst="rect">
            <a:avLst/>
          </a:prstGeom>
          <a:noFill/>
          <a:ln/>
        </p:spPr>
        <p:txBody>
          <a:bodyPr wrap="square" rtlCol="0" anchor="t"/>
          <a:lstStyle/>
          <a:p>
            <a:pPr algn="l" indent="0" marL="0">
              <a:buNone/>
            </a:pPr>
            <a:r>
              <a:rPr lang="en-US" sz="2600" b="1" dirty="0">
                <a:solidFill>
                  <a:schemeClr val="tx1"/>
                </a:solidFill>
              </a:rPr>
              <a:t>Under the hood: one Playwright test drives the browser and the phone</a:t>
            </a:r>
            <a:endParaRPr lang="en-US" sz="2600" dirty="0"/>
          </a:p>
        </p:txBody>
      </p:sp>
      <p:sp>
        <p:nvSpPr>
          <p:cNvPr id="3" name="Text 1"/>
          <p:cNvSpPr txBox="1"/>
          <p:nvPr/>
        </p:nvSpPr>
        <p:spPr>
          <a:xfrm>
            <a:off x="548640" y="1325880"/>
            <a:ext cx="10972800" cy="320040"/>
          </a:xfrm>
          <a:prstGeom prst="rect">
            <a:avLst/>
          </a:prstGeom>
          <a:noFill/>
          <a:ln/>
        </p:spPr>
        <p:txBody>
          <a:bodyPr wrap="square" lIns="0" tIns="0" rIns="0" bIns="0" rtlCol="0" anchor="t"/>
          <a:lstStyle/>
          <a:p>
            <a:pPr indent="0" marL="0">
              <a:buNone/>
            </a:pPr>
            <a:r>
              <a:rPr lang="en-US" sz="1400" b="1" dirty="0">
                <a:solidFill>
                  <a:schemeClr val="tx2"/>
                </a:solidFill>
              </a:rPr>
              <a:t>TC-23-001.spec.ts  -  one test, one report, one pass/fail</a:t>
            </a:r>
            <a:endParaRPr lang="en-US" sz="1400" dirty="0"/>
          </a:p>
        </p:txBody>
      </p:sp>
      <p:sp>
        <p:nvSpPr>
          <p:cNvPr id="4" name="pill WEB"/>
          <p:cNvSpPr/>
          <p:nvPr/>
        </p:nvSpPr>
        <p:spPr>
          <a:xfrm>
            <a:off x="548640" y="2103120"/>
            <a:ext cx="566928" cy="274320"/>
          </a:xfrm>
          <a:prstGeom prst="roundRect">
            <a:avLst>
              <a:gd name="adj" fmla="val 40000"/>
            </a:avLst>
          </a:prstGeom>
          <a:solidFill>
            <a:schemeClr val="accent1"/>
          </a:solidFill>
          <a:ln/>
        </p:spPr>
        <p:txBody>
          <a:bodyPr wrap="square" lIns="0" tIns="0" rIns="0" bIns="0" rtlCol="0" anchor="ctr"/>
          <a:lstStyle/>
          <a:p>
            <a:pPr algn="ctr" indent="0" marL="0">
              <a:buNone/>
            </a:pPr>
            <a:r>
              <a:rPr lang="en-US" sz="1000" b="1" dirty="0">
                <a:solidFill>
                  <a:schemeClr val="bg1"/>
                </a:solidFill>
              </a:rPr>
              <a:t>WEB</a:t>
            </a:r>
            <a:endParaRPr lang="en-US" sz="1000" dirty="0"/>
          </a:p>
        </p:txBody>
      </p:sp>
      <p:sp>
        <p:nvSpPr>
          <p:cNvPr id="5" name="WEB Playwright"/>
          <p:cNvSpPr/>
          <p:nvPr/>
        </p:nvSpPr>
        <p:spPr>
          <a:xfrm>
            <a:off x="1371600" y="1783080"/>
            <a:ext cx="2240280" cy="914400"/>
          </a:xfrm>
          <a:prstGeom prst="rect">
            <a:avLst/>
          </a:prstGeom>
          <a:solidFill>
            <a:schemeClr val="bg2"/>
          </a:solidFill>
          <a:ln w="19050">
            <a:solidFill>
              <a:schemeClr val="accent1"/>
            </a:solidFill>
            <a:prstDash val="solid"/>
          </a:ln>
        </p:spPr>
      </p:sp>
      <p:sp>
        <p:nvSpPr>
          <p:cNvPr id="6" name="Text 4"/>
          <p:cNvSpPr txBox="1"/>
          <p:nvPr/>
        </p:nvSpPr>
        <p:spPr>
          <a:xfrm>
            <a:off x="1481328" y="1874520"/>
            <a:ext cx="2057400" cy="320040"/>
          </a:xfrm>
          <a:prstGeom prst="rect">
            <a:avLst/>
          </a:prstGeom>
          <a:noFill/>
          <a:ln/>
        </p:spPr>
        <p:txBody>
          <a:bodyPr wrap="square" lIns="0" tIns="0" rIns="0" bIns="0" rtlCol="0" anchor="t"/>
          <a:lstStyle/>
          <a:p>
            <a:pPr indent="0" marL="0">
              <a:buNone/>
            </a:pPr>
            <a:r>
              <a:rPr lang="en-US" sz="1300" b="1" dirty="0">
                <a:solidFill>
                  <a:schemeClr val="accent1"/>
                </a:solidFill>
              </a:rPr>
              <a:t>Playwright</a:t>
            </a:r>
            <a:endParaRPr lang="en-US" sz="1300" dirty="0"/>
          </a:p>
        </p:txBody>
      </p:sp>
      <p:sp>
        <p:nvSpPr>
          <p:cNvPr id="7" name="Text 5"/>
          <p:cNvSpPr txBox="1"/>
          <p:nvPr/>
        </p:nvSpPr>
        <p:spPr>
          <a:xfrm>
            <a:off x="1481328" y="2194560"/>
            <a:ext cx="2057400" cy="457200"/>
          </a:xfrm>
          <a:prstGeom prst="rect">
            <a:avLst/>
          </a:prstGeom>
          <a:noFill/>
          <a:ln/>
        </p:spPr>
        <p:txBody>
          <a:bodyPr wrap="square" lIns="0" tIns="0" rIns="0" bIns="0" rtlCol="0" anchor="t"/>
          <a:lstStyle/>
          <a:p>
            <a:pPr indent="0" marL="0">
              <a:buNone/>
            </a:pPr>
            <a:r>
              <a:rPr lang="en-US" sz="1050" dirty="0">
                <a:solidFill>
                  <a:schemeClr val="tx1"/>
                </a:solidFill>
              </a:rPr>
              <a:t>Chromium, records web video + trace</a:t>
            </a:r>
            <a:endParaRPr lang="en-US" sz="1050" dirty="0"/>
          </a:p>
        </p:txBody>
      </p:sp>
      <p:sp>
        <p:nvSpPr>
          <p:cNvPr id="8" name="Shape 6"/>
          <p:cNvSpPr/>
          <p:nvPr/>
        </p:nvSpPr>
        <p:spPr>
          <a:xfrm>
            <a:off x="3639312" y="2130552"/>
            <a:ext cx="219456" cy="219456"/>
          </a:xfrm>
          <a:prstGeom prst="rightArrow">
            <a:avLst/>
          </a:prstGeom>
          <a:solidFill>
            <a:schemeClr val="accent4"/>
          </a:solidFill>
          <a:ln w="12700">
            <a:solidFill>
              <a:schemeClr val="accent4"/>
            </a:solidFill>
            <a:prstDash val="solid"/>
          </a:ln>
        </p:spPr>
      </p:sp>
      <p:sp>
        <p:nvSpPr>
          <p:cNvPr id="9" name="WEB Agent portal"/>
          <p:cNvSpPr/>
          <p:nvPr/>
        </p:nvSpPr>
        <p:spPr>
          <a:xfrm>
            <a:off x="3886200" y="1783080"/>
            <a:ext cx="2240280" cy="914400"/>
          </a:xfrm>
          <a:prstGeom prst="rect">
            <a:avLst/>
          </a:prstGeom>
          <a:solidFill>
            <a:schemeClr val="bg2"/>
          </a:solidFill>
          <a:ln w="19050">
            <a:solidFill>
              <a:schemeClr val="accent1"/>
            </a:solidFill>
            <a:prstDash val="solid"/>
          </a:ln>
        </p:spPr>
      </p:sp>
      <p:sp>
        <p:nvSpPr>
          <p:cNvPr id="10" name="Text 8"/>
          <p:cNvSpPr txBox="1"/>
          <p:nvPr/>
        </p:nvSpPr>
        <p:spPr>
          <a:xfrm>
            <a:off x="3995928" y="1874520"/>
            <a:ext cx="2057400" cy="320040"/>
          </a:xfrm>
          <a:prstGeom prst="rect">
            <a:avLst/>
          </a:prstGeom>
          <a:noFill/>
          <a:ln/>
        </p:spPr>
        <p:txBody>
          <a:bodyPr wrap="square" lIns="0" tIns="0" rIns="0" bIns="0" rtlCol="0" anchor="t"/>
          <a:lstStyle/>
          <a:p>
            <a:pPr indent="0" marL="0">
              <a:buNone/>
            </a:pPr>
            <a:r>
              <a:rPr lang="en-US" sz="1300" b="1" dirty="0">
                <a:solidFill>
                  <a:schemeClr val="accent1"/>
                </a:solidFill>
              </a:rPr>
              <a:t>Agent portal</a:t>
            </a:r>
            <a:endParaRPr lang="en-US" sz="1300" dirty="0"/>
          </a:p>
        </p:txBody>
      </p:sp>
      <p:sp>
        <p:nvSpPr>
          <p:cNvPr id="11" name="Text 9"/>
          <p:cNvSpPr txBox="1"/>
          <p:nvPr/>
        </p:nvSpPr>
        <p:spPr>
          <a:xfrm>
            <a:off x="3995928" y="2194560"/>
            <a:ext cx="2057400" cy="457200"/>
          </a:xfrm>
          <a:prstGeom prst="rect">
            <a:avLst/>
          </a:prstGeom>
          <a:noFill/>
          <a:ln/>
        </p:spPr>
        <p:txBody>
          <a:bodyPr wrap="square" lIns="0" tIns="0" rIns="0" bIns="0" rtlCol="0" anchor="t"/>
          <a:lstStyle/>
          <a:p>
            <a:pPr indent="0" marL="0">
              <a:buNone/>
            </a:pPr>
            <a:r>
              <a:rPr lang="en-US" sz="1050" dirty="0">
                <a:solidFill>
                  <a:schemeClr val="tx1"/>
                </a:solidFill>
              </a:rPr>
              <a:t>roadside-uat, page objects JobPage.ts</a:t>
            </a:r>
            <a:endParaRPr lang="en-US" sz="1050" dirty="0"/>
          </a:p>
        </p:txBody>
      </p:sp>
      <p:sp>
        <p:nvSpPr>
          <p:cNvPr id="12" name="Shape 10"/>
          <p:cNvSpPr/>
          <p:nvPr/>
        </p:nvSpPr>
        <p:spPr>
          <a:xfrm>
            <a:off x="6153912" y="2130552"/>
            <a:ext cx="219456" cy="219456"/>
          </a:xfrm>
          <a:prstGeom prst="rightArrow">
            <a:avLst/>
          </a:prstGeom>
          <a:solidFill>
            <a:schemeClr val="accent4"/>
          </a:solidFill>
          <a:ln w="12700">
            <a:solidFill>
              <a:schemeClr val="accent4"/>
            </a:solidFill>
            <a:prstDash val="solid"/>
          </a:ln>
        </p:spPr>
      </p:sp>
      <p:sp>
        <p:nvSpPr>
          <p:cNvPr id="13" name="WEB RSA server"/>
          <p:cNvSpPr/>
          <p:nvPr/>
        </p:nvSpPr>
        <p:spPr>
          <a:xfrm>
            <a:off x="6400800" y="1783080"/>
            <a:ext cx="2240280" cy="914400"/>
          </a:xfrm>
          <a:prstGeom prst="rect">
            <a:avLst/>
          </a:prstGeom>
          <a:solidFill>
            <a:schemeClr val="bg2"/>
          </a:solidFill>
          <a:ln w="19050">
            <a:solidFill>
              <a:schemeClr val="accent1"/>
            </a:solidFill>
            <a:prstDash val="solid"/>
          </a:ln>
        </p:spPr>
      </p:sp>
      <p:sp>
        <p:nvSpPr>
          <p:cNvPr id="14" name="Text 12"/>
          <p:cNvSpPr txBox="1"/>
          <p:nvPr/>
        </p:nvSpPr>
        <p:spPr>
          <a:xfrm>
            <a:off x="6510528" y="1874520"/>
            <a:ext cx="2057400" cy="320040"/>
          </a:xfrm>
          <a:prstGeom prst="rect">
            <a:avLst/>
          </a:prstGeom>
          <a:noFill/>
          <a:ln/>
        </p:spPr>
        <p:txBody>
          <a:bodyPr wrap="square" lIns="0" tIns="0" rIns="0" bIns="0" rtlCol="0" anchor="t"/>
          <a:lstStyle/>
          <a:p>
            <a:pPr indent="0" marL="0">
              <a:buNone/>
            </a:pPr>
            <a:r>
              <a:rPr lang="en-US" sz="1300" b="1" dirty="0">
                <a:solidFill>
                  <a:schemeClr val="accent1"/>
                </a:solidFill>
              </a:rPr>
              <a:t>RSA server</a:t>
            </a:r>
            <a:endParaRPr lang="en-US" sz="1300" dirty="0"/>
          </a:p>
        </p:txBody>
      </p:sp>
      <p:sp>
        <p:nvSpPr>
          <p:cNvPr id="15" name="Text 13"/>
          <p:cNvSpPr txBox="1"/>
          <p:nvPr/>
        </p:nvSpPr>
        <p:spPr>
          <a:xfrm>
            <a:off x="6510528" y="2194560"/>
            <a:ext cx="2057400" cy="457200"/>
          </a:xfrm>
          <a:prstGeom prst="rect">
            <a:avLst/>
          </a:prstGeom>
          <a:noFill/>
          <a:ln/>
        </p:spPr>
        <p:txBody>
          <a:bodyPr wrap="square" lIns="0" tIns="0" rIns="0" bIns="0" rtlCol="0" anchor="t"/>
          <a:lstStyle/>
          <a:p>
            <a:pPr indent="0" marL="0">
              <a:buNone/>
            </a:pPr>
            <a:r>
              <a:rPr lang="en-US" sz="1050" dirty="0">
                <a:solidFill>
                  <a:schemeClr val="tx1"/>
                </a:solidFill>
              </a:rPr>
              <a:t>job, dispatch, read job model</a:t>
            </a:r>
            <a:endParaRPr lang="en-US" sz="1050" dirty="0"/>
          </a:p>
        </p:txBody>
      </p:sp>
      <p:sp>
        <p:nvSpPr>
          <p:cNvPr id="16" name="Shape 14"/>
          <p:cNvSpPr/>
          <p:nvPr/>
        </p:nvSpPr>
        <p:spPr>
          <a:xfrm>
            <a:off x="8668512" y="2130552"/>
            <a:ext cx="219456" cy="219456"/>
          </a:xfrm>
          <a:prstGeom prst="rightArrow">
            <a:avLst/>
          </a:prstGeom>
          <a:solidFill>
            <a:schemeClr val="accent4"/>
          </a:solidFill>
          <a:ln w="12700">
            <a:solidFill>
              <a:schemeClr val="accent4"/>
            </a:solidFill>
            <a:prstDash val="solid"/>
          </a:ln>
        </p:spPr>
      </p:sp>
      <p:sp>
        <p:nvSpPr>
          <p:cNvPr id="17" name="WEB Assertions"/>
          <p:cNvSpPr/>
          <p:nvPr/>
        </p:nvSpPr>
        <p:spPr>
          <a:xfrm>
            <a:off x="8915400" y="1783080"/>
            <a:ext cx="2240280" cy="914400"/>
          </a:xfrm>
          <a:prstGeom prst="rect">
            <a:avLst/>
          </a:prstGeom>
          <a:solidFill>
            <a:schemeClr val="bg2"/>
          </a:solidFill>
          <a:ln w="19050">
            <a:solidFill>
              <a:schemeClr val="accent1"/>
            </a:solidFill>
            <a:prstDash val="solid"/>
          </a:ln>
        </p:spPr>
      </p:sp>
      <p:sp>
        <p:nvSpPr>
          <p:cNvPr id="18" name="Text 16"/>
          <p:cNvSpPr txBox="1"/>
          <p:nvPr/>
        </p:nvSpPr>
        <p:spPr>
          <a:xfrm>
            <a:off x="9025128" y="1874520"/>
            <a:ext cx="2057400" cy="320040"/>
          </a:xfrm>
          <a:prstGeom prst="rect">
            <a:avLst/>
          </a:prstGeom>
          <a:noFill/>
          <a:ln/>
        </p:spPr>
        <p:txBody>
          <a:bodyPr wrap="square" lIns="0" tIns="0" rIns="0" bIns="0" rtlCol="0" anchor="t"/>
          <a:lstStyle/>
          <a:p>
            <a:pPr indent="0" marL="0">
              <a:buNone/>
            </a:pPr>
            <a:r>
              <a:rPr lang="en-US" sz="1300" b="1" dirty="0">
                <a:solidFill>
                  <a:schemeClr val="accent1"/>
                </a:solidFill>
              </a:rPr>
              <a:t>Assertions</a:t>
            </a:r>
            <a:endParaRPr lang="en-US" sz="1300" dirty="0"/>
          </a:p>
        </p:txBody>
      </p:sp>
      <p:sp>
        <p:nvSpPr>
          <p:cNvPr id="19" name="Text 17"/>
          <p:cNvSpPr txBox="1"/>
          <p:nvPr/>
        </p:nvSpPr>
        <p:spPr>
          <a:xfrm>
            <a:off x="9025128" y="2194560"/>
            <a:ext cx="2057400" cy="457200"/>
          </a:xfrm>
          <a:prstGeom prst="rect">
            <a:avLst/>
          </a:prstGeom>
          <a:noFill/>
          <a:ln/>
        </p:spPr>
        <p:txBody>
          <a:bodyPr wrap="square" lIns="0" tIns="0" rIns="0" bIns="0" rtlCol="0" anchor="t"/>
          <a:lstStyle/>
          <a:p>
            <a:pPr indent="0" marL="0">
              <a:buNone/>
            </a:pPr>
            <a:r>
              <a:rPr lang="en-US" sz="1050" dirty="0">
                <a:solidFill>
                  <a:schemeClr val="tx1"/>
                </a:solidFill>
              </a:rPr>
              <a:t>status, timestamps, mileage, photo</a:t>
            </a:r>
            <a:endParaRPr lang="en-US" sz="1050" dirty="0"/>
          </a:p>
        </p:txBody>
      </p:sp>
      <p:sp>
        <p:nvSpPr>
          <p:cNvPr id="20" name="pill APP"/>
          <p:cNvSpPr/>
          <p:nvPr/>
        </p:nvSpPr>
        <p:spPr>
          <a:xfrm>
            <a:off x="548640" y="3246120"/>
            <a:ext cx="566928" cy="274320"/>
          </a:xfrm>
          <a:prstGeom prst="roundRect">
            <a:avLst>
              <a:gd name="adj" fmla="val 40000"/>
            </a:avLst>
          </a:prstGeom>
          <a:solidFill>
            <a:schemeClr val="accent2"/>
          </a:solidFill>
          <a:ln/>
        </p:spPr>
        <p:txBody>
          <a:bodyPr wrap="square" lIns="0" tIns="0" rIns="0" bIns="0" rtlCol="0" anchor="ctr"/>
          <a:lstStyle/>
          <a:p>
            <a:pPr algn="ctr" indent="0" marL="0">
              <a:buNone/>
            </a:pPr>
            <a:r>
              <a:rPr lang="en-US" sz="1000" b="1" dirty="0">
                <a:solidFill>
                  <a:schemeClr val="bg1"/>
                </a:solidFill>
              </a:rPr>
              <a:t>APP</a:t>
            </a:r>
            <a:endParaRPr lang="en-US" sz="1000" dirty="0"/>
          </a:p>
        </p:txBody>
      </p:sp>
      <p:sp>
        <p:nvSpPr>
          <p:cNvPr id="21" name="APP WebdriverIO"/>
          <p:cNvSpPr/>
          <p:nvPr/>
        </p:nvSpPr>
        <p:spPr>
          <a:xfrm>
            <a:off x="1371600" y="2926080"/>
            <a:ext cx="2240280" cy="914400"/>
          </a:xfrm>
          <a:prstGeom prst="rect">
            <a:avLst/>
          </a:prstGeom>
          <a:solidFill>
            <a:schemeClr val="bg2"/>
          </a:solidFill>
          <a:ln w="19050">
            <a:solidFill>
              <a:schemeClr val="accent2"/>
            </a:solidFill>
            <a:prstDash val="solid"/>
          </a:ln>
        </p:spPr>
      </p:sp>
      <p:sp>
        <p:nvSpPr>
          <p:cNvPr id="22" name="Text 20"/>
          <p:cNvSpPr txBox="1"/>
          <p:nvPr/>
        </p:nvSpPr>
        <p:spPr>
          <a:xfrm>
            <a:off x="1481328" y="3017520"/>
            <a:ext cx="2057400" cy="320040"/>
          </a:xfrm>
          <a:prstGeom prst="rect">
            <a:avLst/>
          </a:prstGeom>
          <a:noFill/>
          <a:ln/>
        </p:spPr>
        <p:txBody>
          <a:bodyPr wrap="square" lIns="0" tIns="0" rIns="0" bIns="0" rtlCol="0" anchor="t"/>
          <a:lstStyle/>
          <a:p>
            <a:pPr indent="0" marL="0">
              <a:buNone/>
            </a:pPr>
            <a:r>
              <a:rPr lang="en-US" sz="1300" b="1" dirty="0">
                <a:solidFill>
                  <a:schemeClr val="accent2"/>
                </a:solidFill>
              </a:rPr>
              <a:t>WebdriverIO</a:t>
            </a:r>
            <a:endParaRPr lang="en-US" sz="1300" dirty="0"/>
          </a:p>
        </p:txBody>
      </p:sp>
      <p:sp>
        <p:nvSpPr>
          <p:cNvPr id="23" name="Text 21"/>
          <p:cNvSpPr txBox="1"/>
          <p:nvPr/>
        </p:nvSpPr>
        <p:spPr>
          <a:xfrm>
            <a:off x="1481328" y="3337560"/>
            <a:ext cx="2057400" cy="457200"/>
          </a:xfrm>
          <a:prstGeom prst="rect">
            <a:avLst/>
          </a:prstGeom>
          <a:noFill/>
          <a:ln/>
        </p:spPr>
        <p:txBody>
          <a:bodyPr wrap="square" lIns="0" tIns="0" rIns="0" bIns="0" rtlCol="0" anchor="t"/>
          <a:lstStyle/>
          <a:p>
            <a:pPr indent="0" marL="0">
              <a:buNone/>
            </a:pPr>
            <a:r>
              <a:rPr lang="en-US" sz="1050" dirty="0">
                <a:solidFill>
                  <a:schemeClr val="tx1"/>
                </a:solidFill>
              </a:rPr>
              <a:t>remote() session in the same test</a:t>
            </a:r>
            <a:endParaRPr lang="en-US" sz="1050" dirty="0"/>
          </a:p>
        </p:txBody>
      </p:sp>
      <p:sp>
        <p:nvSpPr>
          <p:cNvPr id="24" name="Shape 22"/>
          <p:cNvSpPr/>
          <p:nvPr/>
        </p:nvSpPr>
        <p:spPr>
          <a:xfrm>
            <a:off x="3639312" y="3273552"/>
            <a:ext cx="219456" cy="219456"/>
          </a:xfrm>
          <a:prstGeom prst="rightArrow">
            <a:avLst/>
          </a:prstGeom>
          <a:solidFill>
            <a:schemeClr val="accent4"/>
          </a:solidFill>
          <a:ln w="12700">
            <a:solidFill>
              <a:schemeClr val="accent4"/>
            </a:solidFill>
            <a:prstDash val="solid"/>
          </a:ln>
        </p:spPr>
      </p:sp>
      <p:sp>
        <p:nvSpPr>
          <p:cNvPr id="25" name="APP Appium 2"/>
          <p:cNvSpPr/>
          <p:nvPr/>
        </p:nvSpPr>
        <p:spPr>
          <a:xfrm>
            <a:off x="3886200" y="2926080"/>
            <a:ext cx="2240280" cy="914400"/>
          </a:xfrm>
          <a:prstGeom prst="rect">
            <a:avLst/>
          </a:prstGeom>
          <a:solidFill>
            <a:schemeClr val="bg2"/>
          </a:solidFill>
          <a:ln w="19050">
            <a:solidFill>
              <a:schemeClr val="accent2"/>
            </a:solidFill>
            <a:prstDash val="solid"/>
          </a:ln>
        </p:spPr>
      </p:sp>
      <p:sp>
        <p:nvSpPr>
          <p:cNvPr id="26" name="Text 24"/>
          <p:cNvSpPr txBox="1"/>
          <p:nvPr/>
        </p:nvSpPr>
        <p:spPr>
          <a:xfrm>
            <a:off x="3995928" y="3017520"/>
            <a:ext cx="2057400" cy="320040"/>
          </a:xfrm>
          <a:prstGeom prst="rect">
            <a:avLst/>
          </a:prstGeom>
          <a:noFill/>
          <a:ln/>
        </p:spPr>
        <p:txBody>
          <a:bodyPr wrap="square" lIns="0" tIns="0" rIns="0" bIns="0" rtlCol="0" anchor="t"/>
          <a:lstStyle/>
          <a:p>
            <a:pPr indent="0" marL="0">
              <a:buNone/>
            </a:pPr>
            <a:r>
              <a:rPr lang="en-US" sz="1300" b="1" dirty="0">
                <a:solidFill>
                  <a:schemeClr val="accent2"/>
                </a:solidFill>
              </a:rPr>
              <a:t>Appium 2</a:t>
            </a:r>
            <a:endParaRPr lang="en-US" sz="1300" dirty="0"/>
          </a:p>
        </p:txBody>
      </p:sp>
      <p:sp>
        <p:nvSpPr>
          <p:cNvPr id="27" name="Text 25"/>
          <p:cNvSpPr txBox="1"/>
          <p:nvPr/>
        </p:nvSpPr>
        <p:spPr>
          <a:xfrm>
            <a:off x="3995928" y="3337560"/>
            <a:ext cx="2057400" cy="457200"/>
          </a:xfrm>
          <a:prstGeom prst="rect">
            <a:avLst/>
          </a:prstGeom>
          <a:noFill/>
          <a:ln/>
        </p:spPr>
        <p:txBody>
          <a:bodyPr wrap="square" lIns="0" tIns="0" rIns="0" bIns="0" rtlCol="0" anchor="t"/>
          <a:lstStyle/>
          <a:p>
            <a:pPr indent="0" marL="0">
              <a:buNone/>
            </a:pPr>
            <a:r>
              <a:rPr lang="en-US" sz="1050" dirty="0">
                <a:solidFill>
                  <a:schemeClr val="tx1"/>
                </a:solidFill>
              </a:rPr>
              <a:t>UiAutomator2, taps by test ids</a:t>
            </a:r>
            <a:endParaRPr lang="en-US" sz="1050" dirty="0"/>
          </a:p>
        </p:txBody>
      </p:sp>
      <p:sp>
        <p:nvSpPr>
          <p:cNvPr id="28" name="Shape 26"/>
          <p:cNvSpPr/>
          <p:nvPr/>
        </p:nvSpPr>
        <p:spPr>
          <a:xfrm>
            <a:off x="6153912" y="3273552"/>
            <a:ext cx="219456" cy="219456"/>
          </a:xfrm>
          <a:prstGeom prst="rightArrow">
            <a:avLst/>
          </a:prstGeom>
          <a:solidFill>
            <a:schemeClr val="accent4"/>
          </a:solidFill>
          <a:ln w="12700">
            <a:solidFill>
              <a:schemeClr val="accent4"/>
            </a:solidFill>
            <a:prstDash val="solid"/>
          </a:ln>
        </p:spPr>
      </p:sp>
      <p:sp>
        <p:nvSpPr>
          <p:cNvPr id="29" name="APP Android emulator"/>
          <p:cNvSpPr/>
          <p:nvPr/>
        </p:nvSpPr>
        <p:spPr>
          <a:xfrm>
            <a:off x="6400800" y="2926080"/>
            <a:ext cx="2240280" cy="914400"/>
          </a:xfrm>
          <a:prstGeom prst="rect">
            <a:avLst/>
          </a:prstGeom>
          <a:solidFill>
            <a:schemeClr val="bg2"/>
          </a:solidFill>
          <a:ln w="19050">
            <a:solidFill>
              <a:schemeClr val="accent2"/>
            </a:solidFill>
            <a:prstDash val="solid"/>
          </a:ln>
        </p:spPr>
      </p:sp>
      <p:sp>
        <p:nvSpPr>
          <p:cNvPr id="30" name="Text 28"/>
          <p:cNvSpPr txBox="1"/>
          <p:nvPr/>
        </p:nvSpPr>
        <p:spPr>
          <a:xfrm>
            <a:off x="6510528" y="3017520"/>
            <a:ext cx="2057400" cy="320040"/>
          </a:xfrm>
          <a:prstGeom prst="rect">
            <a:avLst/>
          </a:prstGeom>
          <a:noFill/>
          <a:ln/>
        </p:spPr>
        <p:txBody>
          <a:bodyPr wrap="square" lIns="0" tIns="0" rIns="0" bIns="0" rtlCol="0" anchor="t"/>
          <a:lstStyle/>
          <a:p>
            <a:pPr indent="0" marL="0">
              <a:buNone/>
            </a:pPr>
            <a:r>
              <a:rPr lang="en-US" sz="1300" b="1" dirty="0">
                <a:solidFill>
                  <a:schemeClr val="accent2"/>
                </a:solidFill>
              </a:rPr>
              <a:t>Android emulator</a:t>
            </a:r>
            <a:endParaRPr lang="en-US" sz="1300" dirty="0"/>
          </a:p>
        </p:txBody>
      </p:sp>
      <p:sp>
        <p:nvSpPr>
          <p:cNvPr id="31" name="Text 29"/>
          <p:cNvSpPr txBox="1"/>
          <p:nvPr/>
        </p:nvSpPr>
        <p:spPr>
          <a:xfrm>
            <a:off x="6510528" y="3337560"/>
            <a:ext cx="2057400" cy="457200"/>
          </a:xfrm>
          <a:prstGeom prst="rect">
            <a:avLst/>
          </a:prstGeom>
          <a:noFill/>
          <a:ln/>
        </p:spPr>
        <p:txBody>
          <a:bodyPr wrap="square" lIns="0" tIns="0" rIns="0" bIns="0" rtlCol="0" anchor="t"/>
          <a:lstStyle/>
          <a:p>
            <a:pPr indent="0" marL="0">
              <a:buNone/>
            </a:pPr>
            <a:r>
              <a:rPr lang="en-US" sz="1050" dirty="0">
                <a:solidFill>
                  <a:schemeClr val="tx1"/>
                </a:solidFill>
              </a:rPr>
              <a:t>UAT app, GPS route, camera</a:t>
            </a:r>
            <a:endParaRPr lang="en-US" sz="1050" dirty="0"/>
          </a:p>
        </p:txBody>
      </p:sp>
      <p:sp>
        <p:nvSpPr>
          <p:cNvPr id="32" name="Shape 30"/>
          <p:cNvSpPr/>
          <p:nvPr/>
        </p:nvSpPr>
        <p:spPr>
          <a:xfrm>
            <a:off x="8668512" y="3273552"/>
            <a:ext cx="219456" cy="219456"/>
          </a:xfrm>
          <a:prstGeom prst="rightArrow">
            <a:avLst/>
          </a:prstGeom>
          <a:solidFill>
            <a:schemeClr val="accent4"/>
          </a:solidFill>
          <a:ln w="12700">
            <a:solidFill>
              <a:schemeClr val="accent4"/>
            </a:solidFill>
            <a:prstDash val="solid"/>
          </a:ln>
        </p:spPr>
      </p:sp>
      <p:sp>
        <p:nvSpPr>
          <p:cNvPr id="33" name="APP RSA server"/>
          <p:cNvSpPr/>
          <p:nvPr/>
        </p:nvSpPr>
        <p:spPr>
          <a:xfrm>
            <a:off x="8915400" y="2926080"/>
            <a:ext cx="2240280" cy="914400"/>
          </a:xfrm>
          <a:prstGeom prst="rect">
            <a:avLst/>
          </a:prstGeom>
          <a:solidFill>
            <a:schemeClr val="bg2"/>
          </a:solidFill>
          <a:ln w="19050">
            <a:solidFill>
              <a:schemeClr val="accent2"/>
            </a:solidFill>
            <a:prstDash val="solid"/>
          </a:ln>
        </p:spPr>
      </p:sp>
      <p:sp>
        <p:nvSpPr>
          <p:cNvPr id="34" name="Text 32"/>
          <p:cNvSpPr txBox="1"/>
          <p:nvPr/>
        </p:nvSpPr>
        <p:spPr>
          <a:xfrm>
            <a:off x="9025128" y="3017520"/>
            <a:ext cx="2057400" cy="320040"/>
          </a:xfrm>
          <a:prstGeom prst="rect">
            <a:avLst/>
          </a:prstGeom>
          <a:noFill/>
          <a:ln/>
        </p:spPr>
        <p:txBody>
          <a:bodyPr wrap="square" lIns="0" tIns="0" rIns="0" bIns="0" rtlCol="0" anchor="t"/>
          <a:lstStyle/>
          <a:p>
            <a:pPr indent="0" marL="0">
              <a:buNone/>
            </a:pPr>
            <a:r>
              <a:rPr lang="en-US" sz="1300" b="1" dirty="0">
                <a:solidFill>
                  <a:schemeClr val="accent2"/>
                </a:solidFill>
              </a:rPr>
              <a:t>RSA server</a:t>
            </a:r>
            <a:endParaRPr lang="en-US" sz="1300" dirty="0"/>
          </a:p>
        </p:txBody>
      </p:sp>
      <p:sp>
        <p:nvSpPr>
          <p:cNvPr id="35" name="Text 33"/>
          <p:cNvSpPr txBox="1"/>
          <p:nvPr/>
        </p:nvSpPr>
        <p:spPr>
          <a:xfrm>
            <a:off x="9025128" y="3337560"/>
            <a:ext cx="2057400" cy="457200"/>
          </a:xfrm>
          <a:prstGeom prst="rect">
            <a:avLst/>
          </a:prstGeom>
          <a:noFill/>
          <a:ln/>
        </p:spPr>
        <p:txBody>
          <a:bodyPr wrap="square" lIns="0" tIns="0" rIns="0" bIns="0" rtlCol="0" anchor="t"/>
          <a:lstStyle/>
          <a:p>
            <a:pPr indent="0" marL="0">
              <a:buNone/>
            </a:pPr>
            <a:r>
              <a:rPr lang="en-US" sz="1050" dirty="0">
                <a:solidFill>
                  <a:schemeClr val="tx1"/>
                </a:solidFill>
              </a:rPr>
              <a:t>api/pmws: whenready, job/{id}</a:t>
            </a:r>
            <a:endParaRPr lang="en-US" sz="1050" dirty="0"/>
          </a:p>
        </p:txBody>
      </p:sp>
      <p:sp>
        <p:nvSpPr>
          <p:cNvPr id="36" name="card Test ids in the app"/>
          <p:cNvSpPr/>
          <p:nvPr/>
        </p:nvSpPr>
        <p:spPr>
          <a:xfrm>
            <a:off x="548640" y="4206240"/>
            <a:ext cx="3566160" cy="1645920"/>
          </a:xfrm>
          <a:prstGeom prst="rect">
            <a:avLst/>
          </a:prstGeom>
          <a:solidFill>
            <a:schemeClr val="bg2"/>
          </a:solidFill>
          <a:ln w="12700">
            <a:solidFill>
              <a:schemeClr val="bg2"/>
            </a:solidFill>
            <a:prstDash val="solid"/>
          </a:ln>
        </p:spPr>
      </p:sp>
      <p:sp>
        <p:nvSpPr>
          <p:cNvPr id="37" name="card edge Test ids in the app"/>
          <p:cNvSpPr/>
          <p:nvPr/>
        </p:nvSpPr>
        <p:spPr>
          <a:xfrm>
            <a:off x="548640" y="4206240"/>
            <a:ext cx="64008" cy="1645920"/>
          </a:xfrm>
          <a:prstGeom prst="rect">
            <a:avLst/>
          </a:prstGeom>
          <a:solidFill>
            <a:schemeClr val="tx2"/>
          </a:solidFill>
          <a:ln w="12700">
            <a:solidFill>
              <a:schemeClr val="tx2"/>
            </a:solidFill>
            <a:prstDash val="solid"/>
          </a:ln>
        </p:spPr>
      </p:sp>
      <p:sp>
        <p:nvSpPr>
          <p:cNvPr id="38" name="Text 36"/>
          <p:cNvSpPr txBox="1"/>
          <p:nvPr/>
        </p:nvSpPr>
        <p:spPr>
          <a:xfrm>
            <a:off x="777240" y="4370832"/>
            <a:ext cx="3200400" cy="365760"/>
          </a:xfrm>
          <a:prstGeom prst="rect">
            <a:avLst/>
          </a:prstGeom>
          <a:noFill/>
          <a:ln/>
        </p:spPr>
        <p:txBody>
          <a:bodyPr wrap="square" lIns="0" tIns="0" rIns="0" bIns="0" rtlCol="0" anchor="t"/>
          <a:lstStyle/>
          <a:p>
            <a:pPr indent="0" marL="0">
              <a:buNone/>
            </a:pPr>
            <a:r>
              <a:rPr lang="en-US" sz="1400" b="1" dirty="0">
                <a:solidFill>
                  <a:schemeClr val="tx1"/>
                </a:solidFill>
              </a:rPr>
              <a:t>Test ids in the app</a:t>
            </a:r>
            <a:endParaRPr lang="en-US" sz="1400" dirty="0"/>
          </a:p>
        </p:txBody>
      </p:sp>
      <p:sp>
        <p:nvSpPr>
          <p:cNvPr id="39" name="Text 37"/>
          <p:cNvSpPr txBox="1"/>
          <p:nvPr/>
        </p:nvSpPr>
        <p:spPr>
          <a:xfrm>
            <a:off x="777240" y="4773168"/>
            <a:ext cx="3200400" cy="960120"/>
          </a:xfrm>
          <a:prstGeom prst="rect">
            <a:avLst/>
          </a:prstGeom>
          <a:noFill/>
          <a:ln/>
        </p:spPr>
        <p:txBody>
          <a:bodyPr wrap="square" lIns="0" tIns="0" rIns="0" bIns="0" rtlCol="0" anchor="t"/>
          <a:lstStyle/>
          <a:p>
            <a:pPr indent="0" marL="0">
              <a:lnSpc>
                <a:spcPct val="115000"/>
              </a:lnSpc>
              <a:buNone/>
            </a:pPr>
            <a:r>
              <a:rPr lang="en-US" sz="1150" dirty="0">
                <a:solidFill>
                  <a:schemeClr val="tx1"/>
                </a:solidFill>
              </a:rPr>
              <a:t>The app ships ~229 ids; tests click by id, not by screen position or text, so Thai/English and layout changes do not break them.</a:t>
            </a:r>
            <a:endParaRPr lang="en-US" sz="1150" dirty="0"/>
          </a:p>
        </p:txBody>
      </p:sp>
      <p:sp>
        <p:nvSpPr>
          <p:cNvPr id="40" name="card ffmpeg side-by-side"/>
          <p:cNvSpPr/>
          <p:nvPr/>
        </p:nvSpPr>
        <p:spPr>
          <a:xfrm>
            <a:off x="4279392" y="4206240"/>
            <a:ext cx="3566160" cy="1645920"/>
          </a:xfrm>
          <a:prstGeom prst="rect">
            <a:avLst/>
          </a:prstGeom>
          <a:solidFill>
            <a:schemeClr val="bg2"/>
          </a:solidFill>
          <a:ln w="12700">
            <a:solidFill>
              <a:schemeClr val="bg2"/>
            </a:solidFill>
            <a:prstDash val="solid"/>
          </a:ln>
        </p:spPr>
      </p:sp>
      <p:sp>
        <p:nvSpPr>
          <p:cNvPr id="41" name="card edge ffmpeg side-by-side"/>
          <p:cNvSpPr/>
          <p:nvPr/>
        </p:nvSpPr>
        <p:spPr>
          <a:xfrm>
            <a:off x="4279392" y="4206240"/>
            <a:ext cx="64008" cy="1645920"/>
          </a:xfrm>
          <a:prstGeom prst="rect">
            <a:avLst/>
          </a:prstGeom>
          <a:solidFill>
            <a:schemeClr val="tx2"/>
          </a:solidFill>
          <a:ln w="12700">
            <a:solidFill>
              <a:schemeClr val="tx2"/>
            </a:solidFill>
            <a:prstDash val="solid"/>
          </a:ln>
        </p:spPr>
      </p:sp>
      <p:sp>
        <p:nvSpPr>
          <p:cNvPr id="42" name="Text 40"/>
          <p:cNvSpPr txBox="1"/>
          <p:nvPr/>
        </p:nvSpPr>
        <p:spPr>
          <a:xfrm>
            <a:off x="4507992" y="4370832"/>
            <a:ext cx="3200400" cy="365760"/>
          </a:xfrm>
          <a:prstGeom prst="rect">
            <a:avLst/>
          </a:prstGeom>
          <a:noFill/>
          <a:ln/>
        </p:spPr>
        <p:txBody>
          <a:bodyPr wrap="square" lIns="0" tIns="0" rIns="0" bIns="0" rtlCol="0" anchor="t"/>
          <a:lstStyle/>
          <a:p>
            <a:pPr indent="0" marL="0">
              <a:buNone/>
            </a:pPr>
            <a:r>
              <a:rPr lang="en-US" sz="1400" b="1" dirty="0">
                <a:solidFill>
                  <a:schemeClr val="tx1"/>
                </a:solidFill>
              </a:rPr>
              <a:t>ffmpeg side-by-side</a:t>
            </a:r>
            <a:endParaRPr lang="en-US" sz="1400" dirty="0"/>
          </a:p>
        </p:txBody>
      </p:sp>
      <p:sp>
        <p:nvSpPr>
          <p:cNvPr id="43" name="Text 41"/>
          <p:cNvSpPr txBox="1"/>
          <p:nvPr/>
        </p:nvSpPr>
        <p:spPr>
          <a:xfrm>
            <a:off x="4507992" y="4773168"/>
            <a:ext cx="3200400" cy="960120"/>
          </a:xfrm>
          <a:prstGeom prst="rect">
            <a:avLst/>
          </a:prstGeom>
          <a:noFill/>
          <a:ln/>
        </p:spPr>
        <p:txBody>
          <a:bodyPr wrap="square" lIns="0" tIns="0" rIns="0" bIns="0" rtlCol="0" anchor="t"/>
          <a:lstStyle/>
          <a:p>
            <a:pPr indent="0" marL="0">
              <a:lnSpc>
                <a:spcPct val="115000"/>
              </a:lnSpc>
              <a:buNone/>
            </a:pPr>
            <a:r>
              <a:rPr lang="en-US" sz="1150" dirty="0">
                <a:solidFill>
                  <a:schemeClr val="tx1"/>
                </a:solidFill>
              </a:rPr>
              <a:t>Web video and phone recording are joined into one MP4 after the run. Nothing to install.</a:t>
            </a:r>
            <a:endParaRPr lang="en-US" sz="1150" dirty="0"/>
          </a:p>
        </p:txBody>
      </p:sp>
      <p:sp>
        <p:nvSpPr>
          <p:cNvPr id="44" name="card Self-healing setup"/>
          <p:cNvSpPr/>
          <p:nvPr/>
        </p:nvSpPr>
        <p:spPr>
          <a:xfrm>
            <a:off x="8010144" y="4206240"/>
            <a:ext cx="3566160" cy="1645920"/>
          </a:xfrm>
          <a:prstGeom prst="rect">
            <a:avLst/>
          </a:prstGeom>
          <a:solidFill>
            <a:schemeClr val="bg2"/>
          </a:solidFill>
          <a:ln w="12700">
            <a:solidFill>
              <a:schemeClr val="bg2"/>
            </a:solidFill>
            <a:prstDash val="solid"/>
          </a:ln>
        </p:spPr>
      </p:sp>
      <p:sp>
        <p:nvSpPr>
          <p:cNvPr id="45" name="card edge Self-healing setup"/>
          <p:cNvSpPr/>
          <p:nvPr/>
        </p:nvSpPr>
        <p:spPr>
          <a:xfrm>
            <a:off x="8010144" y="4206240"/>
            <a:ext cx="64008" cy="1645920"/>
          </a:xfrm>
          <a:prstGeom prst="rect">
            <a:avLst/>
          </a:prstGeom>
          <a:solidFill>
            <a:schemeClr val="tx2"/>
          </a:solidFill>
          <a:ln w="12700">
            <a:solidFill>
              <a:schemeClr val="tx2"/>
            </a:solidFill>
            <a:prstDash val="solid"/>
          </a:ln>
        </p:spPr>
      </p:sp>
      <p:sp>
        <p:nvSpPr>
          <p:cNvPr id="46" name="Text 44"/>
          <p:cNvSpPr txBox="1"/>
          <p:nvPr/>
        </p:nvSpPr>
        <p:spPr>
          <a:xfrm>
            <a:off x="8238744" y="4370832"/>
            <a:ext cx="3200400" cy="365760"/>
          </a:xfrm>
          <a:prstGeom prst="rect">
            <a:avLst/>
          </a:prstGeom>
          <a:noFill/>
          <a:ln/>
        </p:spPr>
        <p:txBody>
          <a:bodyPr wrap="square" lIns="0" tIns="0" rIns="0" bIns="0" rtlCol="0" anchor="t"/>
          <a:lstStyle/>
          <a:p>
            <a:pPr indent="0" marL="0">
              <a:buNone/>
            </a:pPr>
            <a:r>
              <a:rPr lang="en-US" sz="1400" b="1" dirty="0">
                <a:solidFill>
                  <a:schemeClr val="tx1"/>
                </a:solidFill>
              </a:rPr>
              <a:t>Self-healing setup</a:t>
            </a:r>
            <a:endParaRPr lang="en-US" sz="1400" dirty="0"/>
          </a:p>
        </p:txBody>
      </p:sp>
      <p:sp>
        <p:nvSpPr>
          <p:cNvPr id="47" name="Text 45"/>
          <p:cNvSpPr txBox="1"/>
          <p:nvPr/>
        </p:nvSpPr>
        <p:spPr>
          <a:xfrm>
            <a:off x="8238744" y="4773168"/>
            <a:ext cx="3200400" cy="960120"/>
          </a:xfrm>
          <a:prstGeom prst="rect">
            <a:avLst/>
          </a:prstGeom>
          <a:noFill/>
          <a:ln/>
        </p:spPr>
        <p:txBody>
          <a:bodyPr wrap="square" lIns="0" tIns="0" rIns="0" bIns="0" rtlCol="0" anchor="t"/>
          <a:lstStyle/>
          <a:p>
            <a:pPr indent="0" marL="0">
              <a:lnSpc>
                <a:spcPct val="115000"/>
              </a:lnSpc>
              <a:buNone/>
            </a:pPr>
            <a:r>
              <a:rPr lang="en-US" sz="1150" dirty="0">
                <a:solidFill>
                  <a:schemeClr val="tx1"/>
                </a:solidFill>
              </a:rPr>
              <a:t>If the truck is not Ready, not bound, or holds a job from an aborted run, the test fixes it first.</a:t>
            </a:r>
            <a:endParaRPr lang="en-US" sz="115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171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40080"/>
          </a:xfrm>
          <a:prstGeom prst="rect">
            <a:avLst/>
          </a:prstGeom>
          <a:noFill/>
          <a:ln/>
        </p:spPr>
        <p:txBody>
          <a:bodyPr wrap="square" rtlCol="0" anchor="t"/>
          <a:lstStyle/>
          <a:p>
            <a:pPr algn="l" indent="0" marL="0">
              <a:buNone/>
            </a:pPr>
            <a:r>
              <a:rPr lang="en-US" sz="2600" b="1" dirty="0">
                <a:solidFill>
                  <a:schemeClr val="tx1"/>
                </a:solidFill>
              </a:rPr>
              <a:t>Made to look like a real call, not a lab shortcut</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3017520"/>
                <a:gridCol w="3931920"/>
              </a:tblGrid>
              <a:tr h="457200">
                <a:tc>
                  <a:txBody>
                    <a:bodyPr/>
                    <a:lstStyle/>
                    <a:p>
                      <a:pPr indent="0" marL="0">
                        <a:buNone/>
                      </a:pPr>
                      <a:r>
                        <a:rPr lang="en-US" sz="1300" b="1" dirty="0">
                          <a:solidFill>
                            <a:schemeClr val="bg1"/>
                          </a:solidFill>
                        </a:rPr>
                        <a:t>Before</a:t>
                      </a:r>
                      <a:endParaRPr lang="en-US" sz="1300" dirty="0"/>
                    </a:p>
                  </a:txBody>
                  <a:tcPr marL="73152" marR="73152" marT="73152" marB="73152">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accent4"/>
                    </a:solidFill>
                  </a:tcPr>
                </a:tc>
                <a:tc>
                  <a:txBody>
                    <a:bodyPr/>
                    <a:lstStyle/>
                    <a:p>
                      <a:pPr indent="0" marL="0">
                        <a:buNone/>
                      </a:pPr>
                      <a:r>
                        <a:rPr lang="en-US" sz="1300" b="1" dirty="0">
                          <a:solidFill>
                            <a:schemeClr val="bg1"/>
                          </a:solidFill>
                        </a:rPr>
                        <a:t>Now (20 Oct run)</a:t>
                      </a:r>
                      <a:endParaRPr lang="en-US" sz="1300" dirty="0"/>
                    </a:p>
                  </a:txBody>
                  <a:tcPr marL="73152" marR="73152" marT="73152" marB="73152">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accent2"/>
                    </a:solidFill>
                  </a:tcPr>
                </a:tc>
              </a:tr>
              <a:tr h="457200">
                <a:tc>
                  <a:txBody>
                    <a:bodyPr/>
                    <a:lstStyle/>
                    <a:p>
                      <a:pPr indent="0" marL="0">
                        <a:buNone/>
                      </a:pPr>
                      <a:r>
                        <a:rPr lang="en-US" sz="1250" dirty="0">
                          <a:solidFill>
                            <a:schemeClr val="tx1"/>
                          </a:solidFill>
                        </a:rPr>
                        <a:t>Truck GPS set on the incident point: distance 0 km</a:t>
                      </a:r>
                      <a:endParaRPr lang="en-US" sz="1250" dirty="0"/>
                    </a:p>
                  </a:txBody>
                  <a:tcPr marL="73152" marR="73152" marT="73152" marB="73152">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Truck starts ~5 km away at Victory Monument</a:t>
                      </a:r>
                      <a:endParaRPr lang="en-US" sz="1250" dirty="0"/>
                    </a:p>
                  </a:txBody>
                  <a:tcPr marL="73152" marR="73152" marT="73152" marB="73152">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2"/>
                    </a:solidFill>
                  </a:tcPr>
                </a:tc>
              </a:tr>
              <a:tr h="457200">
                <a:tc>
                  <a:txBody>
                    <a:bodyPr/>
                    <a:lstStyle/>
                    <a:p>
                      <a:pPr indent="0" marL="0">
                        <a:buNone/>
                      </a:pPr>
                      <a:r>
                        <a:rPr lang="en-US" sz="1250" dirty="0">
                          <a:solidFill>
                            <a:schemeClr val="tx1"/>
                          </a:solidFill>
                        </a:rPr>
                        <a:t>Phone teleports to the customer</a:t>
                      </a:r>
                      <a:endParaRPr lang="en-US" sz="1250" dirty="0"/>
                    </a:p>
                  </a:txBody>
                  <a:tcPr marL="73152" marR="73152" marT="73152" marB="73152">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Drives the road route, a GPS point every ~150 m</a:t>
                      </a:r>
                      <a:endParaRPr lang="en-US" sz="1250" dirty="0"/>
                    </a:p>
                  </a:txBody>
                  <a:tcPr marL="73152" marR="73152" marT="73152" marB="73152">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1"/>
                    </a:solidFill>
                  </a:tcPr>
                </a:tc>
              </a:tr>
              <a:tr h="457200">
                <a:tc>
                  <a:txBody>
                    <a:bodyPr/>
                    <a:lstStyle/>
                    <a:p>
                      <a:pPr indent="0" marL="0">
                        <a:buNone/>
                      </a:pPr>
                      <a:r>
                        <a:rPr lang="en-US" sz="1250" dirty="0">
                          <a:solidFill>
                            <a:schemeClr val="tx1"/>
                          </a:solidFill>
                        </a:rPr>
                        <a:t>Placeholder customer details</a:t>
                      </a:r>
                      <a:endParaRPr lang="en-US" sz="1250" dirty="0"/>
                    </a:p>
                  </a:txBody>
                  <a:tcPr marL="73152" marR="73152" marT="73152" marB="73152">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Thai address, district, province, licence plate, location note, service condition</a:t>
                      </a:r>
                      <a:endParaRPr lang="en-US" sz="1250" dirty="0"/>
                    </a:p>
                  </a:txBody>
                  <a:tcPr marL="73152" marR="73152" marT="73152" marB="73152">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2"/>
                    </a:solidFill>
                  </a:tcPr>
                </a:tc>
              </a:tr>
              <a:tr h="457200">
                <a:tc>
                  <a:txBody>
                    <a:bodyPr/>
                    <a:lstStyle/>
                    <a:p>
                      <a:pPr indent="0" marL="0">
                        <a:buNone/>
                      </a:pPr>
                      <a:r>
                        <a:rPr lang="en-US" sz="1250" dirty="0">
                          <a:solidFill>
                            <a:schemeClr val="tx1"/>
                          </a:solidFill>
                        </a:rPr>
                        <a:t>Odometer 12345</a:t>
                      </a:r>
                      <a:endParaRPr lang="en-US" sz="1250" dirty="0"/>
                    </a:p>
                  </a:txBody>
                  <a:tcPr marL="73152" marR="73152" marT="73152" marB="73152">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Odometer 48215</a:t>
                      </a:r>
                      <a:endParaRPr lang="en-US" sz="1250" dirty="0"/>
                    </a:p>
                  </a:txBody>
                  <a:tcPr marL="73152" marR="73152" marT="73152" marB="73152">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1"/>
                    </a:solidFill>
                  </a:tcPr>
                </a:tc>
              </a:tr>
              <a:tr h="457200">
                <a:tc>
                  <a:txBody>
                    <a:bodyPr/>
                    <a:lstStyle/>
                    <a:p>
                      <a:pPr indent="0" marL="0">
                        <a:buNone/>
                      </a:pPr>
                      <a:r>
                        <a:rPr lang="en-US" sz="1250" dirty="0">
                          <a:solidFill>
                            <a:schemeClr val="tx1"/>
                          </a:solidFill>
                        </a:rPr>
                        <a:t>Distance not checked</a:t>
                      </a:r>
                      <a:endParaRPr lang="en-US" sz="1250" dirty="0"/>
                    </a:p>
                  </a:txBody>
                  <a:tcPr marL="73152" marR="73152" marT="73152" marB="73152">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Card shows 9.70 km, web distanceKm 7 - both asserted &gt; 2 km</a:t>
                      </a:r>
                      <a:endParaRPr lang="en-US" sz="1250" dirty="0"/>
                    </a:p>
                  </a:txBody>
                  <a:tcPr marL="73152" marR="73152" marT="73152" marB="73152">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2"/>
                    </a:solidFill>
                  </a:tcPr>
                </a:tc>
              </a:tr>
            </a:tbl>
          </a:graphicData>
        </a:graphic>
      </p:graphicFrame>
      <p:sp>
        <p:nvSpPr>
          <p:cNvPr id="4" name="card The server rule we test against"/>
          <p:cNvSpPr/>
          <p:nvPr/>
        </p:nvSpPr>
        <p:spPr>
          <a:xfrm>
            <a:off x="7863840" y="1371600"/>
            <a:ext cx="3779215" cy="4480560"/>
          </a:xfrm>
          <a:prstGeom prst="rect">
            <a:avLst/>
          </a:prstGeom>
          <a:solidFill>
            <a:schemeClr val="bg2"/>
          </a:solidFill>
          <a:ln w="12700">
            <a:solidFill>
              <a:schemeClr val="bg2"/>
            </a:solidFill>
            <a:prstDash val="solid"/>
          </a:ln>
        </p:spPr>
      </p:sp>
      <p:sp>
        <p:nvSpPr>
          <p:cNvPr id="5" name="card edge The server rule we test against"/>
          <p:cNvSpPr/>
          <p:nvPr/>
        </p:nvSpPr>
        <p:spPr>
          <a:xfrm>
            <a:off x="7863840" y="1371600"/>
            <a:ext cx="64008" cy="4480560"/>
          </a:xfrm>
          <a:prstGeom prst="rect">
            <a:avLst/>
          </a:prstGeom>
          <a:solidFill>
            <a:schemeClr val="accent2"/>
          </a:solidFill>
          <a:ln w="12700">
            <a:solidFill>
              <a:schemeClr val="accent2"/>
            </a:solidFill>
            <a:prstDash val="solid"/>
          </a:ln>
        </p:spPr>
      </p:sp>
      <p:sp>
        <p:nvSpPr>
          <p:cNvPr id="6" name="Text 3"/>
          <p:cNvSpPr txBox="1"/>
          <p:nvPr/>
        </p:nvSpPr>
        <p:spPr>
          <a:xfrm>
            <a:off x="8092440" y="1536192"/>
            <a:ext cx="3413455" cy="365760"/>
          </a:xfrm>
          <a:prstGeom prst="rect">
            <a:avLst/>
          </a:prstGeom>
          <a:noFill/>
          <a:ln/>
        </p:spPr>
        <p:txBody>
          <a:bodyPr wrap="square" lIns="0" tIns="0" rIns="0" bIns="0" rtlCol="0" anchor="t"/>
          <a:lstStyle/>
          <a:p>
            <a:pPr indent="0" marL="0">
              <a:buNone/>
            </a:pPr>
            <a:r>
              <a:rPr lang="en-US" sz="1500" b="1" dirty="0">
                <a:solidFill>
                  <a:schemeClr val="tx1"/>
                </a:solidFill>
              </a:rPr>
              <a:t>The server rule we test against</a:t>
            </a:r>
            <a:endParaRPr lang="en-US" sz="1500" dirty="0"/>
          </a:p>
        </p:txBody>
      </p:sp>
      <p:sp>
        <p:nvSpPr>
          <p:cNvPr id="7" name="Text 4"/>
          <p:cNvSpPr txBox="1"/>
          <p:nvPr/>
        </p:nvSpPr>
        <p:spPr>
          <a:xfrm>
            <a:off x="8092440" y="1938528"/>
            <a:ext cx="3413455" cy="3794760"/>
          </a:xfrm>
          <a:prstGeom prst="rect">
            <a:avLst/>
          </a:prstGeom>
          <a:noFill/>
          <a:ln/>
        </p:spPr>
        <p:txBody>
          <a:bodyPr wrap="square" lIns="0" tIns="0" rIns="0" bIns="0" rtlCol="0" anchor="t"/>
          <a:lstStyle/>
          <a:p>
            <a:pPr indent="0" marL="0">
              <a:lnSpc>
                <a:spcPct val="115000"/>
              </a:lnSpc>
              <a:buNone/>
            </a:pPr>
            <a:r>
              <a:rPr lang="en-US" sz="1250" dirty="0">
                <a:solidFill>
                  <a:schemeClr val="tx1"/>
                </a:solidFill>
              </a:rPr>
              <a:t>The app does not get a push. While Ready, it asks the server every few seconds: "any job for me here?" (whenready).</a:t>
            </a:r>
            <a:endParaRPr lang="en-US" sz="1250" dirty="0"/>
          </a:p>
          <a:p>
            <a:pPr indent="0" marL="0">
              <a:lnSpc>
                <a:spcPct val="115000"/>
              </a:lnSpc>
              <a:buNone/>
            </a:pPr>
            <a:r>
              <a:rPr lang="en-US" sz="600" dirty="0">
                <a:solidFill>
                  <a:schemeClr val="tx1"/>
                </a:solidFill>
              </a:rPr>
              <a:t> </a:t>
            </a:r>
            <a:endParaRPr lang="en-US" sz="1250" dirty="0"/>
          </a:p>
          <a:p>
            <a:pPr indent="0" marL="0">
              <a:lnSpc>
                <a:spcPct val="115000"/>
              </a:lnSpc>
              <a:buNone/>
            </a:pPr>
            <a:r>
              <a:rPr lang="en-US" sz="1250" dirty="0">
                <a:solidFill>
                  <a:schemeClr val="tx1"/>
                </a:solidFill>
              </a:rPr>
              <a:t>The server offers a job only if the truck is within the service area (10 km in the first minute, then 20 km), measured by Google road distance - or if the agent dispatched to that exact truck.</a:t>
            </a:r>
            <a:endParaRPr lang="en-US" sz="1250" dirty="0"/>
          </a:p>
          <a:p>
            <a:pPr indent="0" marL="0">
              <a:lnSpc>
                <a:spcPct val="115000"/>
              </a:lnSpc>
              <a:buNone/>
            </a:pPr>
            <a:r>
              <a:rPr lang="en-US" sz="600" dirty="0">
                <a:solidFill>
                  <a:schemeClr val="tx1"/>
                </a:solidFill>
              </a:rPr>
              <a:t> </a:t>
            </a:r>
            <a:endParaRPr lang="en-US" sz="1250" dirty="0"/>
          </a:p>
          <a:p>
            <a:pPr indent="0" marL="0">
              <a:lnSpc>
                <a:spcPct val="115000"/>
              </a:lnSpc>
              <a:buNone/>
            </a:pPr>
            <a:r>
              <a:rPr lang="en-US" sz="1250" dirty="0">
                <a:solidFill>
                  <a:schemeClr val="accent4"/>
                </a:solidFill>
              </a:rPr>
              <a:t>So the test places the truck inside that area but far enough to be a real trip.</a:t>
            </a:r>
            <a:endParaRPr lang="en-US" sz="125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171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40080"/>
          </a:xfrm>
          <a:prstGeom prst="rect">
            <a:avLst/>
          </a:prstGeom>
          <a:noFill/>
          <a:ln/>
        </p:spPr>
        <p:txBody>
          <a:bodyPr wrap="square" rtlCol="0" anchor="t"/>
          <a:lstStyle/>
          <a:p>
            <a:pPr algn="l" indent="0" marL="0">
              <a:buNone/>
            </a:pPr>
            <a:r>
              <a:rPr lang="en-US" sz="2600" b="1" dirty="0">
                <a:solidFill>
                  <a:schemeClr val="tx1"/>
                </a:solidFill>
              </a:rPr>
              <a:t>What is checked at each hand-off</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94560"/>
                <a:gridCol w="3931920"/>
                <a:gridCol w="4965192"/>
              </a:tblGrid>
              <a:tr h="512064">
                <a:tc>
                  <a:txBody>
                    <a:bodyPr/>
                    <a:lstStyle/>
                    <a:p>
                      <a:pPr indent="0" marL="0">
                        <a:buNone/>
                      </a:pPr>
                      <a:r>
                        <a:rPr lang="en-US" sz="1300" b="1" dirty="0">
                          <a:solidFill>
                            <a:schemeClr val="bg1"/>
                          </a:solidFill>
                        </a:rPr>
                        <a:t>Hand-off</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Driver does (app)</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accent2"/>
                    </a:solidFill>
                  </a:tcPr>
                </a:tc>
                <a:tc>
                  <a:txBody>
                    <a:bodyPr/>
                    <a:lstStyle/>
                    <a:p>
                      <a:pPr indent="0" marL="0">
                        <a:buNone/>
                      </a:pPr>
                      <a:r>
                        <a:rPr lang="en-US" sz="1300" b="1" dirty="0">
                          <a:solidFill>
                            <a:schemeClr val="bg1"/>
                          </a:solidFill>
                        </a:rPr>
                        <a:t>Portal / server must show (web)</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accent1"/>
                    </a:solidFill>
                  </a:tcPr>
                </a:tc>
              </a:tr>
              <a:tr h="512064">
                <a:tc>
                  <a:txBody>
                    <a:bodyPr/>
                    <a:lstStyle/>
                    <a:p>
                      <a:pPr indent="0" marL="0">
                        <a:buNone/>
                      </a:pPr>
                      <a:r>
                        <a:rPr lang="en-US" sz="1300" b="1" dirty="0">
                          <a:solidFill>
                            <a:schemeClr val="tx1"/>
                          </a:solidFill>
                        </a:rPr>
                        <a:t>Dispatch → phone</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Job card appears, same job number</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Truck VIN on the job, dtRequest set</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2"/>
                    </a:solidFill>
                  </a:tcPr>
                </a:tc>
              </a:tr>
              <a:tr h="512064">
                <a:tc>
                  <a:txBody>
                    <a:bodyPr/>
                    <a:lstStyle/>
                    <a:p>
                      <a:pPr indent="0" marL="0">
                        <a:buNone/>
                      </a:pPr>
                      <a:r>
                        <a:rPr lang="en-US" sz="1300" b="1" dirty="0">
                          <a:solidFill>
                            <a:schemeClr val="tx1"/>
                          </a:solidFill>
                        </a:rPr>
                        <a:t>Take job</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Taps Take Job (ACCEPT)</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dtAccept; timestamp row with truck + GPS</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1"/>
                    </a:solidFill>
                  </a:tcPr>
                </a:tc>
              </a:tr>
              <a:tr h="512064">
                <a:tc>
                  <a:txBody>
                    <a:bodyPr/>
                    <a:lstStyle/>
                    <a:p>
                      <a:pPr indent="0" marL="0">
                        <a:buNone/>
                      </a:pPr>
                      <a:r>
                        <a:rPr lang="en-US" sz="1300" b="1" dirty="0">
                          <a:solidFill>
                            <a:schemeClr val="tx1"/>
                          </a:solidFill>
                        </a:rPr>
                        <a:t>Travel</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GPS moves along the road</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distanceKm &gt; 2; card distance &gt; 2 km</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2"/>
                    </a:solidFill>
                  </a:tcPr>
                </a:tc>
              </a:tr>
              <a:tr h="512064">
                <a:tc>
                  <a:txBody>
                    <a:bodyPr/>
                    <a:lstStyle/>
                    <a:p>
                      <a:pPr indent="0" marL="0">
                        <a:buNone/>
                      </a:pPr>
                      <a:r>
                        <a:rPr lang="en-US" sz="1300" b="1" dirty="0">
                          <a:solidFill>
                            <a:schemeClr val="tx1"/>
                          </a:solidFill>
                        </a:rPr>
                        <a:t>Arrive</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Arrive + odometer 48215 (REACH)</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dtReach; mileage = 48215</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1"/>
                    </a:solidFill>
                  </a:tcPr>
                </a:tc>
              </a:tr>
              <a:tr h="512064">
                <a:tc>
                  <a:txBody>
                    <a:bodyPr/>
                    <a:lstStyle/>
                    <a:p>
                      <a:pPr indent="0" marL="0">
                        <a:buNone/>
                      </a:pPr>
                      <a:r>
                        <a:rPr lang="en-US" sz="1300" b="1" dirty="0">
                          <a:solidFill>
                            <a:schemeClr val="tx1"/>
                          </a:solidFill>
                        </a:rPr>
                        <a:t>Photo</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Camera photo, upload</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nPhoto = 1</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2"/>
                    </a:solidFill>
                  </a:tcPr>
                </a:tc>
              </a:tr>
              <a:tr h="512064">
                <a:tc>
                  <a:txBody>
                    <a:bodyPr/>
                    <a:lstStyle/>
                    <a:p>
                      <a:pPr indent="0" marL="0">
                        <a:buNone/>
                      </a:pPr>
                      <a:r>
                        <a:rPr lang="en-US" sz="1300" b="1" dirty="0">
                          <a:solidFill>
                            <a:schemeClr val="tx1"/>
                          </a:solidFill>
                        </a:rPr>
                        <a:t>Finish</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Finish job (COMPLETE)</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Status CLOSED; dtRequest &lt; dtAccept &lt; dtReach &lt; dtComplete</a:t>
                      </a:r>
                      <a:endParaRPr lang="en-US" sz="1300" dirty="0"/>
                    </a:p>
                  </a:txBody>
                  <a:tcPr marL="91440" marR="91440" marT="91440" marB="91440">
                    <a:lnL w="6350" cap="flat" cmpd="sng" algn="ctr">
                      <a:solidFill>
                        <a:srgbClr val="D9D9DE"/>
                      </a:solidFill>
                      <a:prstDash val="solid"/>
                      <a:round/>
                      <a:headEnd type="none" w="med" len="med"/>
                      <a:tailEnd type="none" w="med" len="med"/>
                    </a:lnL>
                    <a:lnR w="6350" cap="flat" cmpd="sng" algn="ctr">
                      <a:solidFill>
                        <a:srgbClr val="D9D9DE"/>
                      </a:solidFill>
                      <a:prstDash val="solid"/>
                      <a:round/>
                      <a:headEnd type="none" w="med" len="med"/>
                      <a:tailEnd type="none" w="med" len="med"/>
                    </a:lnR>
                    <a:lnT w="6350" cap="flat" cmpd="sng" algn="ctr">
                      <a:solidFill>
                        <a:srgbClr val="D9D9DE"/>
                      </a:solidFill>
                      <a:prstDash val="solid"/>
                      <a:round/>
                      <a:headEnd type="none" w="med" len="med"/>
                      <a:tailEnd type="none" w="med" len="med"/>
                    </a:lnT>
                    <a:lnB w="6350" cap="flat" cmpd="sng" algn="ctr">
                      <a:solidFill>
                        <a:srgbClr val="D9D9DE"/>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257800"/>
            <a:ext cx="11094415" cy="548640"/>
          </a:xfrm>
          <a:prstGeom prst="rect">
            <a:avLst/>
          </a:prstGeom>
          <a:noFill/>
          <a:ln/>
        </p:spPr>
        <p:txBody>
          <a:bodyPr wrap="square" lIns="0" tIns="0" rIns="0" bIns="0" rtlCol="0" anchor="t"/>
          <a:lstStyle/>
          <a:p>
            <a:pPr indent="0" marL="0">
              <a:buNone/>
            </a:pPr>
            <a:r>
              <a:rPr lang="en-US" sz="1300" dirty="0">
                <a:solidFill>
                  <a:schemeClr val="accent4"/>
                </a:solidFill>
              </a:rPr>
              <a:t>The web checks read the job straight from the portal's own data, so they prove what an agent would see - not just what the app thinks it sent.</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171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40080"/>
          </a:xfrm>
          <a:prstGeom prst="rect">
            <a:avLst/>
          </a:prstGeom>
          <a:noFill/>
          <a:ln/>
        </p:spPr>
        <p:txBody>
          <a:bodyPr wrap="square" rtlCol="0" anchor="t"/>
          <a:lstStyle/>
          <a:p>
            <a:pPr algn="l" indent="0" marL="0">
              <a:buNone/>
            </a:pPr>
            <a:r>
              <a:rPr lang="en-US" sz="2600" b="1" dirty="0">
                <a:solidFill>
                  <a:schemeClr val="tx1"/>
                </a:solidFill>
              </a:rPr>
              <a:t>Evidence from every run: a report developers can open and replay</a:t>
            </a:r>
            <a:endParaRPr lang="en-US" sz="2600" dirty="0"/>
          </a:p>
        </p:txBody>
      </p:sp>
      <p:pic>
        <p:nvPicPr>
          <p:cNvPr id="3" name="report-test.png" descr="C:\Projects\AspireDigital\ai-workshop\presentations\e2e-img\report-test.png">    </p:cNvPr>
          <p:cNvPicPr>
            <a:picLocks noChangeAspect="1"/>
          </p:cNvPicPr>
          <p:nvPr/>
        </p:nvPicPr>
        <p:blipFill>
          <a:blip r:embed="rId1"/>
          <a:stretch>
            <a:fillRect/>
          </a:stretch>
        </p:blipFill>
        <p:spPr>
          <a:xfrm>
            <a:off x="548640" y="1371600"/>
            <a:ext cx="5669280" cy="4360985"/>
          </a:xfrm>
          <a:prstGeom prst="rect">
            <a:avLst/>
          </a:prstGeom>
        </p:spPr>
      </p:pic>
      <p:sp>
        <p:nvSpPr>
          <p:cNvPr id="4" name="frame report-test.png"/>
          <p:cNvSpPr/>
          <p:nvPr/>
        </p:nvSpPr>
        <p:spPr>
          <a:xfrm>
            <a:off x="548640" y="1371600"/>
            <a:ext cx="5669280" cy="4360985"/>
          </a:xfrm>
          <a:prstGeom prst="rect">
            <a:avLst/>
          </a:prstGeom>
          <a:ln w="12700">
            <a:solidFill>
              <a:schemeClr val="accent5"/>
            </a:solidFill>
            <a:prstDash val="solid"/>
          </a:ln>
        </p:spPr>
      </p:sp>
      <p:sp>
        <p:nvSpPr>
          <p:cNvPr id="5" name="card Playwright HTML report"/>
          <p:cNvSpPr/>
          <p:nvPr/>
        </p:nvSpPr>
        <p:spPr>
          <a:xfrm>
            <a:off x="6583680" y="1371600"/>
            <a:ext cx="5059375" cy="1005840"/>
          </a:xfrm>
          <a:prstGeom prst="rect">
            <a:avLst/>
          </a:prstGeom>
          <a:solidFill>
            <a:schemeClr val="bg2"/>
          </a:solidFill>
          <a:ln w="12700">
            <a:solidFill>
              <a:schemeClr val="bg2"/>
            </a:solidFill>
            <a:prstDash val="solid"/>
          </a:ln>
        </p:spPr>
      </p:sp>
      <p:sp>
        <p:nvSpPr>
          <p:cNvPr id="6" name="card edge Playwright HTML report"/>
          <p:cNvSpPr/>
          <p:nvPr/>
        </p:nvSpPr>
        <p:spPr>
          <a:xfrm>
            <a:off x="6583680" y="1371600"/>
            <a:ext cx="64008" cy="1005840"/>
          </a:xfrm>
          <a:prstGeom prst="rect">
            <a:avLst/>
          </a:prstGeom>
          <a:solidFill>
            <a:schemeClr val="accent1"/>
          </a:solidFill>
          <a:ln w="12700">
            <a:solidFill>
              <a:schemeClr val="accent1"/>
            </a:solidFill>
            <a:prstDash val="solid"/>
          </a:ln>
        </p:spPr>
      </p:sp>
      <p:sp>
        <p:nvSpPr>
          <p:cNvPr id="7" name="Text 4"/>
          <p:cNvSpPr txBox="1"/>
          <p:nvPr/>
        </p:nvSpPr>
        <p:spPr>
          <a:xfrm>
            <a:off x="6812280" y="1536192"/>
            <a:ext cx="4693615" cy="365760"/>
          </a:xfrm>
          <a:prstGeom prst="rect">
            <a:avLst/>
          </a:prstGeom>
          <a:noFill/>
          <a:ln/>
        </p:spPr>
        <p:txBody>
          <a:bodyPr wrap="square" lIns="0" tIns="0" rIns="0" bIns="0" rtlCol="0" anchor="t"/>
          <a:lstStyle/>
          <a:p>
            <a:pPr indent="0" marL="0">
              <a:buNone/>
            </a:pPr>
            <a:r>
              <a:rPr lang="en-US" sz="1400" b="1" dirty="0">
                <a:solidFill>
                  <a:schemeClr val="tx1"/>
                </a:solidFill>
              </a:rPr>
              <a:t>Playwright HTML report</a:t>
            </a:r>
            <a:endParaRPr lang="en-US" sz="1400" dirty="0"/>
          </a:p>
        </p:txBody>
      </p:sp>
      <p:sp>
        <p:nvSpPr>
          <p:cNvPr id="8" name="Text 5"/>
          <p:cNvSpPr txBox="1"/>
          <p:nvPr/>
        </p:nvSpPr>
        <p:spPr>
          <a:xfrm>
            <a:off x="6812280" y="1938528"/>
            <a:ext cx="4693615" cy="320040"/>
          </a:xfrm>
          <a:prstGeom prst="rect">
            <a:avLst/>
          </a:prstGeom>
          <a:noFill/>
          <a:ln/>
        </p:spPr>
        <p:txBody>
          <a:bodyPr wrap="square" lIns="0" tIns="0" rIns="0" bIns="0" rtlCol="0" anchor="t"/>
          <a:lstStyle/>
          <a:p>
            <a:pPr indent="0" marL="0">
              <a:lnSpc>
                <a:spcPct val="115000"/>
              </a:lnSpc>
              <a:buNone/>
            </a:pPr>
            <a:r>
              <a:rPr lang="en-US" sz="1150" dirty="0">
                <a:solidFill>
                  <a:schemeClr val="tx1"/>
                </a:solidFill>
              </a:rPr>
              <a:t>Every step with pass/fail and time; job number and distances as annotations.</a:t>
            </a:r>
            <a:endParaRPr lang="en-US" sz="1150" dirty="0"/>
          </a:p>
        </p:txBody>
      </p:sp>
      <p:sp>
        <p:nvSpPr>
          <p:cNvPr id="9" name="card Side-by-side video"/>
          <p:cNvSpPr/>
          <p:nvPr/>
        </p:nvSpPr>
        <p:spPr>
          <a:xfrm>
            <a:off x="6583680" y="2487168"/>
            <a:ext cx="5059375" cy="1005840"/>
          </a:xfrm>
          <a:prstGeom prst="rect">
            <a:avLst/>
          </a:prstGeom>
          <a:solidFill>
            <a:schemeClr val="bg2"/>
          </a:solidFill>
          <a:ln w="12700">
            <a:solidFill>
              <a:schemeClr val="bg2"/>
            </a:solidFill>
            <a:prstDash val="solid"/>
          </a:ln>
        </p:spPr>
      </p:sp>
      <p:sp>
        <p:nvSpPr>
          <p:cNvPr id="10" name="card edge Side-by-side video"/>
          <p:cNvSpPr/>
          <p:nvPr/>
        </p:nvSpPr>
        <p:spPr>
          <a:xfrm>
            <a:off x="6583680" y="2487168"/>
            <a:ext cx="64008" cy="1005840"/>
          </a:xfrm>
          <a:prstGeom prst="rect">
            <a:avLst/>
          </a:prstGeom>
          <a:solidFill>
            <a:schemeClr val="accent1"/>
          </a:solidFill>
          <a:ln w="12700">
            <a:solidFill>
              <a:schemeClr val="accent1"/>
            </a:solidFill>
            <a:prstDash val="solid"/>
          </a:ln>
        </p:spPr>
      </p:sp>
      <p:sp>
        <p:nvSpPr>
          <p:cNvPr id="11" name="Text 8"/>
          <p:cNvSpPr txBox="1"/>
          <p:nvPr/>
        </p:nvSpPr>
        <p:spPr>
          <a:xfrm>
            <a:off x="6812280" y="2651760"/>
            <a:ext cx="4693615" cy="365760"/>
          </a:xfrm>
          <a:prstGeom prst="rect">
            <a:avLst/>
          </a:prstGeom>
          <a:noFill/>
          <a:ln/>
        </p:spPr>
        <p:txBody>
          <a:bodyPr wrap="square" lIns="0" tIns="0" rIns="0" bIns="0" rtlCol="0" anchor="t"/>
          <a:lstStyle/>
          <a:p>
            <a:pPr indent="0" marL="0">
              <a:buNone/>
            </a:pPr>
            <a:r>
              <a:rPr lang="en-US" sz="1400" b="1" dirty="0">
                <a:solidFill>
                  <a:schemeClr val="tx1"/>
                </a:solidFill>
              </a:rPr>
              <a:t>Side-by-side video</a:t>
            </a:r>
            <a:endParaRPr lang="en-US" sz="1400" dirty="0"/>
          </a:p>
        </p:txBody>
      </p:sp>
      <p:sp>
        <p:nvSpPr>
          <p:cNvPr id="12" name="Text 9"/>
          <p:cNvSpPr txBox="1"/>
          <p:nvPr/>
        </p:nvSpPr>
        <p:spPr>
          <a:xfrm>
            <a:off x="6812280" y="3054096"/>
            <a:ext cx="4693615" cy="320040"/>
          </a:xfrm>
          <a:prstGeom prst="rect">
            <a:avLst/>
          </a:prstGeom>
          <a:noFill/>
          <a:ln/>
        </p:spPr>
        <p:txBody>
          <a:bodyPr wrap="square" lIns="0" tIns="0" rIns="0" bIns="0" rtlCol="0" anchor="t"/>
          <a:lstStyle/>
          <a:p>
            <a:pPr indent="0" marL="0">
              <a:lnSpc>
                <a:spcPct val="115000"/>
              </a:lnSpc>
              <a:buNone/>
            </a:pPr>
            <a:r>
              <a:rPr lang="en-US" sz="1150" dirty="0">
                <a:solidFill>
                  <a:schemeClr val="tx1"/>
                </a:solidFill>
              </a:rPr>
              <a:t>Portal left, phone right, one MP4 - for managers and BAs.</a:t>
            </a:r>
            <a:endParaRPr lang="en-US" sz="1150" dirty="0"/>
          </a:p>
        </p:txBody>
      </p:sp>
      <p:sp>
        <p:nvSpPr>
          <p:cNvPr id="13" name="card Trace"/>
          <p:cNvSpPr/>
          <p:nvPr/>
        </p:nvSpPr>
        <p:spPr>
          <a:xfrm>
            <a:off x="6583680" y="3602736"/>
            <a:ext cx="5059375" cy="1005840"/>
          </a:xfrm>
          <a:prstGeom prst="rect">
            <a:avLst/>
          </a:prstGeom>
          <a:solidFill>
            <a:schemeClr val="bg2"/>
          </a:solidFill>
          <a:ln w="12700">
            <a:solidFill>
              <a:schemeClr val="bg2"/>
            </a:solidFill>
            <a:prstDash val="solid"/>
          </a:ln>
        </p:spPr>
      </p:sp>
      <p:sp>
        <p:nvSpPr>
          <p:cNvPr id="14" name="card edge Trace"/>
          <p:cNvSpPr/>
          <p:nvPr/>
        </p:nvSpPr>
        <p:spPr>
          <a:xfrm>
            <a:off x="6583680" y="3602736"/>
            <a:ext cx="64008" cy="1005840"/>
          </a:xfrm>
          <a:prstGeom prst="rect">
            <a:avLst/>
          </a:prstGeom>
          <a:solidFill>
            <a:schemeClr val="accent1"/>
          </a:solidFill>
          <a:ln w="12700">
            <a:solidFill>
              <a:schemeClr val="accent1"/>
            </a:solidFill>
            <a:prstDash val="solid"/>
          </a:ln>
        </p:spPr>
      </p:sp>
      <p:sp>
        <p:nvSpPr>
          <p:cNvPr id="15" name="Text 12"/>
          <p:cNvSpPr txBox="1"/>
          <p:nvPr/>
        </p:nvSpPr>
        <p:spPr>
          <a:xfrm>
            <a:off x="6812280" y="3767328"/>
            <a:ext cx="4693615" cy="365760"/>
          </a:xfrm>
          <a:prstGeom prst="rect">
            <a:avLst/>
          </a:prstGeom>
          <a:noFill/>
          <a:ln/>
        </p:spPr>
        <p:txBody>
          <a:bodyPr wrap="square" lIns="0" tIns="0" rIns="0" bIns="0" rtlCol="0" anchor="t"/>
          <a:lstStyle/>
          <a:p>
            <a:pPr indent="0" marL="0">
              <a:buNone/>
            </a:pPr>
            <a:r>
              <a:rPr lang="en-US" sz="1400" b="1" dirty="0">
                <a:solidFill>
                  <a:schemeClr val="tx1"/>
                </a:solidFill>
              </a:rPr>
              <a:t>Trace</a:t>
            </a:r>
            <a:endParaRPr lang="en-US" sz="1400" dirty="0"/>
          </a:p>
        </p:txBody>
      </p:sp>
      <p:sp>
        <p:nvSpPr>
          <p:cNvPr id="16" name="Text 13"/>
          <p:cNvSpPr txBox="1"/>
          <p:nvPr/>
        </p:nvSpPr>
        <p:spPr>
          <a:xfrm>
            <a:off x="6812280" y="4169664"/>
            <a:ext cx="4693615" cy="320040"/>
          </a:xfrm>
          <a:prstGeom prst="rect">
            <a:avLst/>
          </a:prstGeom>
          <a:noFill/>
          <a:ln/>
        </p:spPr>
        <p:txBody>
          <a:bodyPr wrap="square" lIns="0" tIns="0" rIns="0" bIns="0" rtlCol="0" anchor="t"/>
          <a:lstStyle/>
          <a:p>
            <a:pPr indent="0" marL="0">
              <a:lnSpc>
                <a:spcPct val="115000"/>
              </a:lnSpc>
              <a:buNone/>
            </a:pPr>
            <a:r>
              <a:rPr lang="en-US" sz="1150" dirty="0">
                <a:solidFill>
                  <a:schemeClr val="tx1"/>
                </a:solidFill>
              </a:rPr>
              <a:t>Every portal click, network call and page snapshot - for developers to replay a failure.</a:t>
            </a:r>
            <a:endParaRPr lang="en-US" sz="1150" dirty="0"/>
          </a:p>
        </p:txBody>
      </p:sp>
      <p:sp>
        <p:nvSpPr>
          <p:cNvPr id="17" name="card junit.xml"/>
          <p:cNvSpPr/>
          <p:nvPr/>
        </p:nvSpPr>
        <p:spPr>
          <a:xfrm>
            <a:off x="6583680" y="4718304"/>
            <a:ext cx="5059375" cy="1005840"/>
          </a:xfrm>
          <a:prstGeom prst="rect">
            <a:avLst/>
          </a:prstGeom>
          <a:solidFill>
            <a:schemeClr val="bg2"/>
          </a:solidFill>
          <a:ln w="12700">
            <a:solidFill>
              <a:schemeClr val="bg2"/>
            </a:solidFill>
            <a:prstDash val="solid"/>
          </a:ln>
        </p:spPr>
      </p:sp>
      <p:sp>
        <p:nvSpPr>
          <p:cNvPr id="18" name="card edge junit.xml"/>
          <p:cNvSpPr/>
          <p:nvPr/>
        </p:nvSpPr>
        <p:spPr>
          <a:xfrm>
            <a:off x="6583680" y="4718304"/>
            <a:ext cx="64008" cy="1005840"/>
          </a:xfrm>
          <a:prstGeom prst="rect">
            <a:avLst/>
          </a:prstGeom>
          <a:solidFill>
            <a:schemeClr val="accent1"/>
          </a:solidFill>
          <a:ln w="12700">
            <a:solidFill>
              <a:schemeClr val="accent1"/>
            </a:solidFill>
            <a:prstDash val="solid"/>
          </a:ln>
        </p:spPr>
      </p:sp>
      <p:sp>
        <p:nvSpPr>
          <p:cNvPr id="19" name="Text 16"/>
          <p:cNvSpPr txBox="1"/>
          <p:nvPr/>
        </p:nvSpPr>
        <p:spPr>
          <a:xfrm>
            <a:off x="6812280" y="4882896"/>
            <a:ext cx="4693615" cy="365760"/>
          </a:xfrm>
          <a:prstGeom prst="rect">
            <a:avLst/>
          </a:prstGeom>
          <a:noFill/>
          <a:ln/>
        </p:spPr>
        <p:txBody>
          <a:bodyPr wrap="square" lIns="0" tIns="0" rIns="0" bIns="0" rtlCol="0" anchor="t"/>
          <a:lstStyle/>
          <a:p>
            <a:pPr indent="0" marL="0">
              <a:buNone/>
            </a:pPr>
            <a:r>
              <a:rPr lang="en-US" sz="1400" b="1" dirty="0">
                <a:solidFill>
                  <a:schemeClr val="tx1"/>
                </a:solidFill>
              </a:rPr>
              <a:t>junit.xml</a:t>
            </a:r>
            <a:endParaRPr lang="en-US" sz="1400" dirty="0"/>
          </a:p>
        </p:txBody>
      </p:sp>
      <p:sp>
        <p:nvSpPr>
          <p:cNvPr id="20" name="Text 17"/>
          <p:cNvSpPr txBox="1"/>
          <p:nvPr/>
        </p:nvSpPr>
        <p:spPr>
          <a:xfrm>
            <a:off x="6812280" y="5285232"/>
            <a:ext cx="4693615" cy="320040"/>
          </a:xfrm>
          <a:prstGeom prst="rect">
            <a:avLst/>
          </a:prstGeom>
          <a:noFill/>
          <a:ln/>
        </p:spPr>
        <p:txBody>
          <a:bodyPr wrap="square" lIns="0" tIns="0" rIns="0" bIns="0" rtlCol="0" anchor="t"/>
          <a:lstStyle/>
          <a:p>
            <a:pPr indent="0" marL="0">
              <a:lnSpc>
                <a:spcPct val="115000"/>
              </a:lnSpc>
              <a:buNone/>
            </a:pPr>
            <a:r>
              <a:rPr lang="en-US" sz="1150" dirty="0">
                <a:solidFill>
                  <a:schemeClr val="tx1"/>
                </a:solidFill>
              </a:rPr>
              <a:t>For a CI dashboard later.</a:t>
            </a:r>
            <a:endParaRPr lang="en-US" sz="115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171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40080"/>
          </a:xfrm>
          <a:prstGeom prst="rect">
            <a:avLst/>
          </a:prstGeom>
          <a:noFill/>
          <a:ln/>
        </p:spPr>
        <p:txBody>
          <a:bodyPr wrap="square" rtlCol="0" anchor="t"/>
          <a:lstStyle/>
          <a:p>
            <a:pPr algn="l" indent="0" marL="0">
              <a:buNone/>
            </a:pPr>
            <a:r>
              <a:rPr lang="en-US" sz="2600" b="1" dirty="0">
                <a:solidFill>
                  <a:schemeClr val="tx1"/>
                </a:solidFill>
              </a:rPr>
              <a:t>How far it covers today - and what is still open</a:t>
            </a:r>
            <a:endParaRPr lang="en-US" sz="2600" dirty="0"/>
          </a:p>
        </p:txBody>
      </p:sp>
      <p:sp>
        <p:nvSpPr>
          <p:cNvPr id="3" name="card Covered end to end (automated)"/>
          <p:cNvSpPr/>
          <p:nvPr/>
        </p:nvSpPr>
        <p:spPr>
          <a:xfrm>
            <a:off x="548640" y="1371600"/>
            <a:ext cx="5394960" cy="2743200"/>
          </a:xfrm>
          <a:prstGeom prst="rect">
            <a:avLst/>
          </a:prstGeom>
          <a:solidFill>
            <a:schemeClr val="bg2"/>
          </a:solidFill>
          <a:ln w="12700">
            <a:solidFill>
              <a:schemeClr val="bg2"/>
            </a:solidFill>
            <a:prstDash val="solid"/>
          </a:ln>
        </p:spPr>
      </p:sp>
      <p:sp>
        <p:nvSpPr>
          <p:cNvPr id="4" name="card edge Covered end to end (automated)"/>
          <p:cNvSpPr/>
          <p:nvPr/>
        </p:nvSpPr>
        <p:spPr>
          <a:xfrm>
            <a:off x="548640" y="1371600"/>
            <a:ext cx="64008" cy="2743200"/>
          </a:xfrm>
          <a:prstGeom prst="rect">
            <a:avLst/>
          </a:prstGeom>
          <a:solidFill>
            <a:schemeClr val="accent3"/>
          </a:solidFill>
          <a:ln w="12700">
            <a:solidFill>
              <a:schemeClr val="accent3"/>
            </a:solidFill>
            <a:prstDash val="solid"/>
          </a:ln>
        </p:spPr>
      </p:sp>
      <p:sp>
        <p:nvSpPr>
          <p:cNvPr id="5" name="Text 3"/>
          <p:cNvSpPr txBox="1"/>
          <p:nvPr/>
        </p:nvSpPr>
        <p:spPr>
          <a:xfrm>
            <a:off x="777240" y="1536192"/>
            <a:ext cx="5029200" cy="365760"/>
          </a:xfrm>
          <a:prstGeom prst="rect">
            <a:avLst/>
          </a:prstGeom>
          <a:noFill/>
          <a:ln/>
        </p:spPr>
        <p:txBody>
          <a:bodyPr wrap="square" lIns="0" tIns="0" rIns="0" bIns="0" rtlCol="0" anchor="t"/>
          <a:lstStyle/>
          <a:p>
            <a:pPr indent="0" marL="0">
              <a:buNone/>
            </a:pPr>
            <a:r>
              <a:rPr lang="en-US" sz="1500" b="1" dirty="0">
                <a:solidFill>
                  <a:schemeClr val="tx1"/>
                </a:solidFill>
              </a:rPr>
              <a:t>Covered end to end (automated)</a:t>
            </a:r>
            <a:endParaRPr lang="en-US" sz="1500" dirty="0"/>
          </a:p>
        </p:txBody>
      </p:sp>
      <p:sp>
        <p:nvSpPr>
          <p:cNvPr id="6" name="Text 4"/>
          <p:cNvSpPr txBox="1"/>
          <p:nvPr/>
        </p:nvSpPr>
        <p:spPr>
          <a:xfrm>
            <a:off x="777240" y="1938528"/>
            <a:ext cx="5029200" cy="2057400"/>
          </a:xfrm>
          <a:prstGeom prst="rect">
            <a:avLst/>
          </a:prstGeom>
          <a:noFill/>
          <a:ln/>
        </p:spPr>
        <p:txBody>
          <a:bodyPr wrap="square" lIns="0" tIns="0" rIns="0" bIns="0" rtlCol="0" anchor="t"/>
          <a:lstStyle/>
          <a:p>
            <a:pPr marL="342900" indent="-342900">
              <a:lnSpc>
                <a:spcPct val="115000"/>
              </a:lnSpc>
              <a:buSzPct val="100000"/>
              <a:buChar char="•"/>
            </a:pPr>
            <a:r>
              <a:rPr lang="en-US" sz="1350" dirty="0">
                <a:solidFill>
                  <a:schemeClr val="tx1"/>
                </a:solidFill>
              </a:rPr>
              <a:t>Create job, dispatch to a truck</a:t>
            </a:r>
            <a:endParaRPr lang="en-US" sz="1350" dirty="0"/>
          </a:p>
          <a:p>
            <a:pPr marL="342900" indent="-342900">
              <a:lnSpc>
                <a:spcPct val="115000"/>
              </a:lnSpc>
              <a:buSzPct val="100000"/>
              <a:buChar char="•"/>
            </a:pPr>
            <a:r>
              <a:rPr lang="en-US" sz="1350" dirty="0">
                <a:solidFill>
                  <a:schemeClr val="tx1"/>
                </a:solidFill>
              </a:rPr>
              <a:t>Job offered to the app by location; Take Job</a:t>
            </a:r>
            <a:endParaRPr lang="en-US" sz="1350" dirty="0"/>
          </a:p>
          <a:p>
            <a:pPr marL="342900" indent="-342900">
              <a:lnSpc>
                <a:spcPct val="115000"/>
              </a:lnSpc>
              <a:buSzPct val="100000"/>
              <a:buChar char="•"/>
            </a:pPr>
            <a:r>
              <a:rPr lang="en-US" sz="1350" dirty="0">
                <a:solidFill>
                  <a:schemeClr val="tx1"/>
                </a:solidFill>
              </a:rPr>
              <a:t>Travel, arrive, mileage, photo, finish</a:t>
            </a:r>
            <a:endParaRPr lang="en-US" sz="1350" dirty="0"/>
          </a:p>
          <a:p>
            <a:pPr marL="342900" indent="-342900">
              <a:lnSpc>
                <a:spcPct val="115000"/>
              </a:lnSpc>
              <a:buSzPct val="100000"/>
              <a:buChar char="•"/>
            </a:pPr>
            <a:r>
              <a:rPr lang="en-US" sz="1350" dirty="0">
                <a:solidFill>
                  <a:schemeClr val="tx1"/>
                </a:solidFill>
              </a:rPr>
              <a:t>Portal shows CLOSED, timestamps, GPS, KPI</a:t>
            </a:r>
            <a:endParaRPr lang="en-US" sz="1350" dirty="0"/>
          </a:p>
        </p:txBody>
      </p:sp>
      <p:sp>
        <p:nvSpPr>
          <p:cNvPr id="7" name="card Not covered yet"/>
          <p:cNvSpPr/>
          <p:nvPr/>
        </p:nvSpPr>
        <p:spPr>
          <a:xfrm>
            <a:off x="6245352" y="1371600"/>
            <a:ext cx="5394960" cy="2743200"/>
          </a:xfrm>
          <a:prstGeom prst="rect">
            <a:avLst/>
          </a:prstGeom>
          <a:solidFill>
            <a:schemeClr val="bg2"/>
          </a:solidFill>
          <a:ln w="12700">
            <a:solidFill>
              <a:schemeClr val="bg2"/>
            </a:solidFill>
            <a:prstDash val="solid"/>
          </a:ln>
        </p:spPr>
      </p:sp>
      <p:sp>
        <p:nvSpPr>
          <p:cNvPr id="8" name="card edge Not covered yet"/>
          <p:cNvSpPr/>
          <p:nvPr/>
        </p:nvSpPr>
        <p:spPr>
          <a:xfrm>
            <a:off x="6245352" y="1371600"/>
            <a:ext cx="64008" cy="2743200"/>
          </a:xfrm>
          <a:prstGeom prst="rect">
            <a:avLst/>
          </a:prstGeom>
          <a:solidFill>
            <a:schemeClr val="accent2"/>
          </a:solidFill>
          <a:ln w="12700">
            <a:solidFill>
              <a:schemeClr val="accent2"/>
            </a:solidFill>
            <a:prstDash val="solid"/>
          </a:ln>
        </p:spPr>
      </p:sp>
      <p:sp>
        <p:nvSpPr>
          <p:cNvPr id="9" name="Text 7"/>
          <p:cNvSpPr txBox="1"/>
          <p:nvPr/>
        </p:nvSpPr>
        <p:spPr>
          <a:xfrm>
            <a:off x="6473952" y="1536192"/>
            <a:ext cx="5029200" cy="365760"/>
          </a:xfrm>
          <a:prstGeom prst="rect">
            <a:avLst/>
          </a:prstGeom>
          <a:noFill/>
          <a:ln/>
        </p:spPr>
        <p:txBody>
          <a:bodyPr wrap="square" lIns="0" tIns="0" rIns="0" bIns="0" rtlCol="0" anchor="t"/>
          <a:lstStyle/>
          <a:p>
            <a:pPr indent="0" marL="0">
              <a:buNone/>
            </a:pPr>
            <a:r>
              <a:rPr lang="en-US" sz="1500" b="1" dirty="0">
                <a:solidFill>
                  <a:schemeClr val="tx1"/>
                </a:solidFill>
              </a:rPr>
              <a:t>Not covered yet</a:t>
            </a:r>
            <a:endParaRPr lang="en-US" sz="1500" dirty="0"/>
          </a:p>
        </p:txBody>
      </p:sp>
      <p:sp>
        <p:nvSpPr>
          <p:cNvPr id="10" name="Text 8"/>
          <p:cNvSpPr txBox="1"/>
          <p:nvPr/>
        </p:nvSpPr>
        <p:spPr>
          <a:xfrm>
            <a:off x="6473952" y="1938528"/>
            <a:ext cx="5029200" cy="2057400"/>
          </a:xfrm>
          <a:prstGeom prst="rect">
            <a:avLst/>
          </a:prstGeom>
          <a:noFill/>
          <a:ln/>
        </p:spPr>
        <p:txBody>
          <a:bodyPr wrap="square" lIns="0" tIns="0" rIns="0" bIns="0" rtlCol="0" anchor="t"/>
          <a:lstStyle/>
          <a:p>
            <a:pPr marL="342900" indent="-342900">
              <a:lnSpc>
                <a:spcPct val="115000"/>
              </a:lnSpc>
              <a:buSzPct val="100000"/>
              <a:buChar char="•"/>
            </a:pPr>
            <a:r>
              <a:rPr lang="en-US" sz="1350" dirty="0">
                <a:solidFill>
                  <a:schemeClr val="tx1"/>
                </a:solidFill>
              </a:rPr>
              <a:t>Driver rejects / agent cancels (TC-23-002, catalogued)</a:t>
            </a:r>
            <a:endParaRPr lang="en-US" sz="1350" dirty="0"/>
          </a:p>
          <a:p>
            <a:pPr marL="342900" indent="-342900">
              <a:lnSpc>
                <a:spcPct val="115000"/>
              </a:lnSpc>
              <a:buSzPct val="100000"/>
              <a:buChar char="•"/>
            </a:pPr>
            <a:r>
              <a:rPr lang="en-US" sz="1350" dirty="0">
                <a:solidFill>
                  <a:schemeClr val="tx1"/>
                </a:solidFill>
              </a:rPr>
              <a:t>Towing job (second destination)</a:t>
            </a:r>
            <a:endParaRPr lang="en-US" sz="1350" dirty="0"/>
          </a:p>
          <a:p>
            <a:pPr marL="342900" indent="-342900">
              <a:lnSpc>
                <a:spcPct val="115000"/>
              </a:lnSpc>
              <a:buSzPct val="100000"/>
              <a:buChar char="•"/>
            </a:pPr>
            <a:r>
              <a:rPr lang="en-US" sz="1350" dirty="0">
                <a:solidFill>
                  <a:schemeClr val="tx1"/>
                </a:solidFill>
              </a:rPr>
              <a:t>Several photos, offline and retry</a:t>
            </a:r>
            <a:endParaRPr lang="en-US" sz="1350" dirty="0"/>
          </a:p>
          <a:p>
            <a:pPr marL="342900" indent="-342900">
              <a:lnSpc>
                <a:spcPct val="115000"/>
              </a:lnSpc>
              <a:buSzPct val="100000"/>
              <a:buChar char="•"/>
            </a:pPr>
            <a:r>
              <a:rPr lang="en-US" sz="1350" dirty="0">
                <a:solidFill>
                  <a:schemeClr val="tx1"/>
                </a:solidFill>
              </a:rPr>
              <a:t>Real phone: camera hardware, battery saver - manual release check</a:t>
            </a:r>
            <a:endParaRPr lang="en-US" sz="1350" dirty="0"/>
          </a:p>
        </p:txBody>
      </p:sp>
      <p:sp>
        <p:nvSpPr>
          <p:cNvPr id="11" name="Text 9"/>
          <p:cNvSpPr txBox="1"/>
          <p:nvPr/>
        </p:nvSpPr>
        <p:spPr>
          <a:xfrm>
            <a:off x="548640" y="4389120"/>
            <a:ext cx="1280160" cy="731520"/>
          </a:xfrm>
          <a:prstGeom prst="rect">
            <a:avLst/>
          </a:prstGeom>
          <a:noFill/>
          <a:ln/>
        </p:spPr>
        <p:txBody>
          <a:bodyPr wrap="square" lIns="0" tIns="0" rIns="0" bIns="0" rtlCol="0" anchor="t"/>
          <a:lstStyle/>
          <a:p>
            <a:pPr indent="0" marL="0">
              <a:buNone/>
            </a:pPr>
            <a:r>
              <a:rPr lang="en-US" sz="3600" b="1" dirty="0">
                <a:solidFill>
                  <a:schemeClr val="accent1"/>
                </a:solidFill>
              </a:rPr>
              <a:t>451</a:t>
            </a:r>
            <a:endParaRPr lang="en-US" sz="3600" dirty="0"/>
          </a:p>
        </p:txBody>
      </p:sp>
      <p:sp>
        <p:nvSpPr>
          <p:cNvPr id="12" name="Text 10"/>
          <p:cNvSpPr txBox="1"/>
          <p:nvPr/>
        </p:nvSpPr>
        <p:spPr>
          <a:xfrm>
            <a:off x="1874520" y="4462272"/>
            <a:ext cx="2286000" cy="1188720"/>
          </a:xfrm>
          <a:prstGeom prst="rect">
            <a:avLst/>
          </a:prstGeom>
          <a:noFill/>
          <a:ln/>
        </p:spPr>
        <p:txBody>
          <a:bodyPr wrap="square" lIns="0" tIns="0" rIns="0" bIns="0" rtlCol="0" anchor="t"/>
          <a:lstStyle/>
          <a:p>
            <a:pPr indent="0" marL="0">
              <a:buNone/>
            </a:pPr>
            <a:r>
              <a:rPr lang="en-US" sz="1200" dirty="0">
                <a:solidFill>
                  <a:schemeClr val="tx1"/>
                </a:solidFill>
              </a:rPr>
              <a:t>web regression cases catalogued; 347 fully automatable</a:t>
            </a:r>
            <a:endParaRPr lang="en-US" sz="1200" dirty="0"/>
          </a:p>
        </p:txBody>
      </p:sp>
      <p:sp>
        <p:nvSpPr>
          <p:cNvPr id="13" name="Text 11"/>
          <p:cNvSpPr txBox="1"/>
          <p:nvPr/>
        </p:nvSpPr>
        <p:spPr>
          <a:xfrm>
            <a:off x="4279392" y="4389120"/>
            <a:ext cx="1280160" cy="731520"/>
          </a:xfrm>
          <a:prstGeom prst="rect">
            <a:avLst/>
          </a:prstGeom>
          <a:noFill/>
          <a:ln/>
        </p:spPr>
        <p:txBody>
          <a:bodyPr wrap="square" lIns="0" tIns="0" rIns="0" bIns="0" rtlCol="0" anchor="t"/>
          <a:lstStyle/>
          <a:p>
            <a:pPr indent="0" marL="0">
              <a:buNone/>
            </a:pPr>
            <a:r>
              <a:rPr lang="en-US" sz="3600" b="1" dirty="0">
                <a:solidFill>
                  <a:schemeClr val="accent1"/>
                </a:solidFill>
              </a:rPr>
              <a:t>14</a:t>
            </a:r>
            <a:endParaRPr lang="en-US" sz="3600" dirty="0"/>
          </a:p>
        </p:txBody>
      </p:sp>
      <p:sp>
        <p:nvSpPr>
          <p:cNvPr id="14" name="Text 12"/>
          <p:cNvSpPr txBox="1"/>
          <p:nvPr/>
        </p:nvSpPr>
        <p:spPr>
          <a:xfrm>
            <a:off x="5605272" y="4462272"/>
            <a:ext cx="2286000" cy="1188720"/>
          </a:xfrm>
          <a:prstGeom prst="rect">
            <a:avLst/>
          </a:prstGeom>
          <a:noFill/>
          <a:ln/>
        </p:spPr>
        <p:txBody>
          <a:bodyPr wrap="square" lIns="0" tIns="0" rIns="0" bIns="0" rtlCol="0" anchor="t"/>
          <a:lstStyle/>
          <a:p>
            <a:pPr indent="0" marL="0">
              <a:buNone/>
            </a:pPr>
            <a:r>
              <a:rPr lang="en-US" sz="1200" dirty="0">
                <a:solidFill>
                  <a:schemeClr val="tx1"/>
                </a:solidFill>
              </a:rPr>
              <a:t>of the 104 partly-automatable web cases need the app or a truck - this runner is how they get done</a:t>
            </a:r>
            <a:endParaRPr lang="en-US" sz="1200" dirty="0"/>
          </a:p>
        </p:txBody>
      </p:sp>
      <p:sp>
        <p:nvSpPr>
          <p:cNvPr id="15" name="Text 13"/>
          <p:cNvSpPr txBox="1"/>
          <p:nvPr/>
        </p:nvSpPr>
        <p:spPr>
          <a:xfrm>
            <a:off x="8010144" y="4389120"/>
            <a:ext cx="1280160" cy="731520"/>
          </a:xfrm>
          <a:prstGeom prst="rect">
            <a:avLst/>
          </a:prstGeom>
          <a:noFill/>
          <a:ln/>
        </p:spPr>
        <p:txBody>
          <a:bodyPr wrap="square" lIns="0" tIns="0" rIns="0" bIns="0" rtlCol="0" anchor="t"/>
          <a:lstStyle/>
          <a:p>
            <a:pPr indent="0" marL="0">
              <a:buNone/>
            </a:pPr>
            <a:r>
              <a:rPr lang="en-US" sz="3600" b="1" dirty="0">
                <a:solidFill>
                  <a:schemeClr val="accent1"/>
                </a:solidFill>
              </a:rPr>
              <a:t>72</a:t>
            </a:r>
            <a:endParaRPr lang="en-US" sz="3600" dirty="0"/>
          </a:p>
        </p:txBody>
      </p:sp>
      <p:sp>
        <p:nvSpPr>
          <p:cNvPr id="16" name="Text 14"/>
          <p:cNvSpPr txBox="1"/>
          <p:nvPr/>
        </p:nvSpPr>
        <p:spPr>
          <a:xfrm>
            <a:off x="9336024" y="4462272"/>
            <a:ext cx="2286000" cy="1188720"/>
          </a:xfrm>
          <a:prstGeom prst="rect">
            <a:avLst/>
          </a:prstGeom>
          <a:noFill/>
          <a:ln/>
        </p:spPr>
        <p:txBody>
          <a:bodyPr wrap="square" lIns="0" tIns="0" rIns="0" bIns="0" rtlCol="0" anchor="t"/>
          <a:lstStyle/>
          <a:p>
            <a:pPr indent="0" marL="0">
              <a:buNone/>
            </a:pPr>
            <a:r>
              <a:rPr lang="en-US" sz="1200" dirty="0">
                <a:solidFill>
                  <a:schemeClr val="tx1"/>
                </a:solidFill>
              </a:rPr>
              <a:t>mobile app cases catalogued; 9 automated so far</a:t>
            </a:r>
            <a:endParaRPr lang="en-US" sz="12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171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40080"/>
          </a:xfrm>
          <a:prstGeom prst="rect">
            <a:avLst/>
          </a:prstGeom>
          <a:noFill/>
          <a:ln/>
        </p:spPr>
        <p:txBody>
          <a:bodyPr wrap="square" rtlCol="0" anchor="t"/>
          <a:lstStyle/>
          <a:p>
            <a:pPr algn="l" indent="0" marL="0">
              <a:buNone/>
            </a:pPr>
            <a:r>
              <a:rPr lang="en-US" sz="2600" b="1" dirty="0">
                <a:solidFill>
                  <a:schemeClr val="tx1"/>
                </a:solidFill>
              </a:rPr>
              <a:t>Where it runs, what it costs, and what we need decided</a:t>
            </a:r>
            <a:endParaRPr lang="en-US" sz="2600" dirty="0"/>
          </a:p>
        </p:txBody>
      </p:sp>
      <p:sp>
        <p:nvSpPr>
          <p:cNvPr id="3" name="card Today"/>
          <p:cNvSpPr/>
          <p:nvPr/>
        </p:nvSpPr>
        <p:spPr>
          <a:xfrm>
            <a:off x="548640" y="1371600"/>
            <a:ext cx="5394960" cy="4480560"/>
          </a:xfrm>
          <a:prstGeom prst="rect">
            <a:avLst/>
          </a:prstGeom>
          <a:solidFill>
            <a:schemeClr val="bg2"/>
          </a:solidFill>
          <a:ln w="12700">
            <a:solidFill>
              <a:schemeClr val="bg2"/>
            </a:solidFill>
            <a:prstDash val="solid"/>
          </a:ln>
        </p:spPr>
      </p:sp>
      <p:sp>
        <p:nvSpPr>
          <p:cNvPr id="4" name="card edge Today"/>
          <p:cNvSpPr/>
          <p:nvPr/>
        </p:nvSpPr>
        <p:spPr>
          <a:xfrm>
            <a:off x="548640" y="1371600"/>
            <a:ext cx="64008" cy="4480560"/>
          </a:xfrm>
          <a:prstGeom prst="rect">
            <a:avLst/>
          </a:prstGeom>
          <a:solidFill>
            <a:schemeClr val="tx2"/>
          </a:solidFill>
          <a:ln w="12700">
            <a:solidFill>
              <a:schemeClr val="tx2"/>
            </a:solidFill>
            <a:prstDash val="solid"/>
          </a:ln>
        </p:spPr>
      </p:sp>
      <p:sp>
        <p:nvSpPr>
          <p:cNvPr id="5" name="Text 3"/>
          <p:cNvSpPr txBox="1"/>
          <p:nvPr/>
        </p:nvSpPr>
        <p:spPr>
          <a:xfrm>
            <a:off x="777240" y="1536192"/>
            <a:ext cx="5029200" cy="365760"/>
          </a:xfrm>
          <a:prstGeom prst="rect">
            <a:avLst/>
          </a:prstGeom>
          <a:noFill/>
          <a:ln/>
        </p:spPr>
        <p:txBody>
          <a:bodyPr wrap="square" lIns="0" tIns="0" rIns="0" bIns="0" rtlCol="0" anchor="t"/>
          <a:lstStyle/>
          <a:p>
            <a:pPr indent="0" marL="0">
              <a:buNone/>
            </a:pPr>
            <a:r>
              <a:rPr lang="en-US" sz="1500" b="1" dirty="0">
                <a:solidFill>
                  <a:schemeClr val="tx1"/>
                </a:solidFill>
              </a:rPr>
              <a:t>Today</a:t>
            </a:r>
            <a:endParaRPr lang="en-US" sz="1500" dirty="0"/>
          </a:p>
        </p:txBody>
      </p:sp>
      <p:sp>
        <p:nvSpPr>
          <p:cNvPr id="6" name="Text 4"/>
          <p:cNvSpPr txBox="1"/>
          <p:nvPr/>
        </p:nvSpPr>
        <p:spPr>
          <a:xfrm>
            <a:off x="777240" y="1938528"/>
            <a:ext cx="5029200" cy="3794760"/>
          </a:xfrm>
          <a:prstGeom prst="rect">
            <a:avLst/>
          </a:prstGeom>
          <a:noFill/>
          <a:ln/>
        </p:spPr>
        <p:txBody>
          <a:bodyPr wrap="square" lIns="0" tIns="0" rIns="0" bIns="0" rtlCol="0" anchor="t"/>
          <a:lstStyle/>
          <a:p>
            <a:pPr marL="342900" indent="-342900">
              <a:lnSpc>
                <a:spcPct val="115000"/>
              </a:lnSpc>
              <a:buSzPct val="100000"/>
              <a:buChar char="•"/>
            </a:pPr>
            <a:r>
              <a:rPr lang="en-US" sz="1550" dirty="0">
                <a:solidFill>
                  <a:schemeClr val="tx1"/>
                </a:solidFill>
              </a:rPr>
              <a:t>Runs on a developer laptop: Android emulator (~4 GB RAM) + Appium + Playwright.</a:t>
            </a:r>
            <a:endParaRPr lang="en-US" sz="1550" dirty="0"/>
          </a:p>
          <a:p>
            <a:pPr marL="342900" indent="-342900">
              <a:lnSpc>
                <a:spcPct val="115000"/>
              </a:lnSpc>
              <a:buSzPct val="100000"/>
              <a:buChar char="•"/>
            </a:pPr>
            <a:r>
              <a:rPr lang="en-US" sz="1550" dirty="0">
                <a:solidFill>
                  <a:schemeClr val="tx1"/>
                </a:solidFill>
              </a:rPr>
              <a:t>~4.5 min test, ~8.6 min with setup. Each run creates and closes one [AUTO-TEST] job on UAT; never touches PROD.</a:t>
            </a:r>
            <a:endParaRPr lang="en-US" sz="1550" dirty="0"/>
          </a:p>
          <a:p>
            <a:pPr marL="342900" indent="-342900">
              <a:lnSpc>
                <a:spcPct val="115000"/>
              </a:lnSpc>
              <a:buSzPct val="100000"/>
              <a:buChar char="•"/>
            </a:pPr>
            <a:r>
              <a:rPr lang="en-US" sz="1550" dirty="0">
                <a:solidFill>
                  <a:schemeClr val="tx1"/>
                </a:solidFill>
              </a:rPr>
              <a:t>Depends on shared UAT data: test truck v3036 free, OTP test number valid.</a:t>
            </a:r>
            <a:endParaRPr lang="en-US" sz="1550" dirty="0"/>
          </a:p>
          <a:p>
            <a:pPr marL="342900" indent="-342900">
              <a:lnSpc>
                <a:spcPct val="115000"/>
              </a:lnSpc>
              <a:buSzPct val="100000"/>
              <a:buChar char="•"/>
            </a:pPr>
            <a:r>
              <a:rPr lang="en-US" sz="1550" dirty="0">
                <a:solidFill>
                  <a:schemeClr val="tx1"/>
                </a:solidFill>
              </a:rPr>
              <a:t>Normal CodeBuild containers cannot run the emulator (no nested virtualisation).</a:t>
            </a:r>
            <a:endParaRPr lang="en-US" sz="1550" dirty="0"/>
          </a:p>
        </p:txBody>
      </p:sp>
      <p:sp>
        <p:nvSpPr>
          <p:cNvPr id="7" name="card Next steps and decisions"/>
          <p:cNvSpPr/>
          <p:nvPr/>
        </p:nvSpPr>
        <p:spPr>
          <a:xfrm>
            <a:off x="6245352" y="1371600"/>
            <a:ext cx="5394960" cy="4480560"/>
          </a:xfrm>
          <a:prstGeom prst="rect">
            <a:avLst/>
          </a:prstGeom>
          <a:solidFill>
            <a:schemeClr val="bg2"/>
          </a:solidFill>
          <a:ln w="12700">
            <a:solidFill>
              <a:schemeClr val="bg2"/>
            </a:solidFill>
            <a:prstDash val="solid"/>
          </a:ln>
        </p:spPr>
      </p:sp>
      <p:sp>
        <p:nvSpPr>
          <p:cNvPr id="8" name="card edge Next steps and decisions"/>
          <p:cNvSpPr/>
          <p:nvPr/>
        </p:nvSpPr>
        <p:spPr>
          <a:xfrm>
            <a:off x="6245352" y="1371600"/>
            <a:ext cx="64008" cy="4480560"/>
          </a:xfrm>
          <a:prstGeom prst="rect">
            <a:avLst/>
          </a:prstGeom>
          <a:solidFill>
            <a:schemeClr val="accent2"/>
          </a:solidFill>
          <a:ln w="12700">
            <a:solidFill>
              <a:schemeClr val="accent2"/>
            </a:solidFill>
            <a:prstDash val="solid"/>
          </a:ln>
        </p:spPr>
      </p:sp>
      <p:sp>
        <p:nvSpPr>
          <p:cNvPr id="9" name="Text 7"/>
          <p:cNvSpPr txBox="1"/>
          <p:nvPr/>
        </p:nvSpPr>
        <p:spPr>
          <a:xfrm>
            <a:off x="6473952" y="1536192"/>
            <a:ext cx="5029200" cy="365760"/>
          </a:xfrm>
          <a:prstGeom prst="rect">
            <a:avLst/>
          </a:prstGeom>
          <a:noFill/>
          <a:ln/>
        </p:spPr>
        <p:txBody>
          <a:bodyPr wrap="square" lIns="0" tIns="0" rIns="0" bIns="0" rtlCol="0" anchor="t"/>
          <a:lstStyle/>
          <a:p>
            <a:pPr indent="0" marL="0">
              <a:buNone/>
            </a:pPr>
            <a:r>
              <a:rPr lang="en-US" sz="1500" b="1" dirty="0">
                <a:solidFill>
                  <a:schemeClr val="tx1"/>
                </a:solidFill>
              </a:rPr>
              <a:t>Next steps and decisions</a:t>
            </a:r>
            <a:endParaRPr lang="en-US" sz="1500" dirty="0"/>
          </a:p>
        </p:txBody>
      </p:sp>
      <p:sp>
        <p:nvSpPr>
          <p:cNvPr id="10" name="Text 8"/>
          <p:cNvSpPr txBox="1"/>
          <p:nvPr/>
        </p:nvSpPr>
        <p:spPr>
          <a:xfrm>
            <a:off x="6473952" y="1938528"/>
            <a:ext cx="5029200" cy="3794760"/>
          </a:xfrm>
          <a:prstGeom prst="rect">
            <a:avLst/>
          </a:prstGeom>
          <a:noFill/>
          <a:ln/>
        </p:spPr>
        <p:txBody>
          <a:bodyPr wrap="square" lIns="0" tIns="0" rIns="0" bIns="0" rtlCol="0" anchor="t"/>
          <a:lstStyle/>
          <a:p>
            <a:pPr marL="342900" indent="-342900">
              <a:lnSpc>
                <a:spcPct val="115000"/>
              </a:lnSpc>
              <a:buSzPct val="100000"/>
              <a:buChar char="•"/>
            </a:pPr>
            <a:r>
              <a:rPr lang="en-US" sz="1550" dirty="0">
                <a:solidFill>
                  <a:schemeClr val="tx1"/>
                </a:solidFill>
              </a:rPr>
              <a:t>Decide: where it runs before each release - a desktop runner (cheapest), an EC2 nested-virt instance, or a device farm.</a:t>
            </a:r>
            <a:endParaRPr lang="en-US" sz="1550" dirty="0"/>
          </a:p>
          <a:p>
            <a:pPr marL="342900" indent="-342900">
              <a:lnSpc>
                <a:spcPct val="115000"/>
              </a:lnSpc>
              <a:buSzPct val="100000"/>
              <a:buChar char="•"/>
            </a:pPr>
            <a:r>
              <a:rPr lang="en-US" sz="1550" dirty="0">
                <a:solidFill>
                  <a:schemeClr val="tx1"/>
                </a:solidFill>
              </a:rPr>
              <a:t>Decide: a QA owner for fixed test data on UAT (truck, provider, OTP number).</a:t>
            </a:r>
            <a:endParaRPr lang="en-US" sz="1550" dirty="0"/>
          </a:p>
          <a:p>
            <a:pPr marL="342900" indent="-342900">
              <a:lnSpc>
                <a:spcPct val="115000"/>
              </a:lnSpc>
              <a:buSzPct val="100000"/>
              <a:buChar char="•"/>
            </a:pPr>
            <a:r>
              <a:rPr lang="en-US" sz="1550" dirty="0">
                <a:solidFill>
                  <a:schemeClr val="tx1"/>
                </a:solidFill>
              </a:rPr>
              <a:t>Build TC-23-002 (reject / cancel) and a towing journey.</a:t>
            </a:r>
            <a:endParaRPr lang="en-US" sz="1550" dirty="0"/>
          </a:p>
          <a:p>
            <a:pPr marL="342900" indent="-342900">
              <a:lnSpc>
                <a:spcPct val="115000"/>
              </a:lnSpc>
              <a:buSzPct val="100000"/>
              <a:buChar char="•"/>
            </a:pPr>
            <a:r>
              <a:rPr lang="en-US" sz="1550" dirty="0">
                <a:solidFill>
                  <a:schemeClr val="tx1"/>
                </a:solidFill>
              </a:rPr>
              <a:t>Publish the report and video with each release.</a:t>
            </a:r>
            <a:endParaRPr lang="en-US" sz="1550" dirty="0"/>
          </a:p>
          <a:p>
            <a:pPr marL="342900" indent="-342900">
              <a:lnSpc>
                <a:spcPct val="115000"/>
              </a:lnSpc>
              <a:buSzPct val="100000"/>
              <a:buChar char="•"/>
            </a:pPr>
            <a:r>
              <a:rPr lang="en-US" sz="1550" dirty="0">
                <a:solidFill>
                  <a:schemeClr val="tx1"/>
                </a:solidFill>
              </a:rPr>
              <a:t>App team: login password visible in logcat on the UAT build; photo preview shows "Image not available".</a:t>
            </a:r>
            <a:endParaRPr lang="en-US" sz="155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1717A"/>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Aspire E2E">
  <a:themeElements>
    <a:clrScheme name="Aspire E2E">
      <a:dk1>
        <a:srgbClr val="1A1A1E"/>
      </a:dk1>
      <a:lt1>
        <a:srgbClr val="FFFFFF"/>
      </a:lt1>
      <a:dk2>
        <a:srgbClr val="0E2A47"/>
      </a:dk2>
      <a:lt2>
        <a:srgbClr val="F3F5F8"/>
      </a:lt2>
      <a:accent1>
        <a:srgbClr val="0B5FA5"/>
      </a:accent1>
      <a:accent2>
        <a:srgbClr val="C2410C"/>
      </a:accent2>
      <a:accent3>
        <a:srgbClr val="15803D"/>
      </a:accent3>
      <a:accent4>
        <a:srgbClr val="71717A"/>
      </a:accent4>
      <a:accent5>
        <a:srgbClr val="D9D9DE"/>
      </a:accent5>
      <a:accent6>
        <a:srgbClr val="E8F0F8"/>
      </a:accent6>
      <a:hlink>
        <a:srgbClr val="0B5FA5"/>
      </a:hlink>
      <a:folHlink>
        <a:srgbClr val="0E2A47"/>
      </a:folHlink>
    </a:clrScheme>
    <a:fontScheme name="Aspire E2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International SOS - APAC Aspire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RoadSide job end to end: web + app in one test</dc:title>
  <dc:subject>PptxGenJS Presentation</dc:subject>
  <dc:creator>APAC Aspire Digital</dc:creator>
  <cp:lastModifiedBy>APAC Aspire Digital</cp:lastModifiedBy>
  <cp:revision>1</cp:revision>
  <dcterms:created xsi:type="dcterms:W3CDTF">2026-10-21T03:04:06Z</dcterms:created>
  <dcterms:modified xsi:type="dcterms:W3CDTF">2026-10-21T03:04:06Z</dcterms:modified>
</cp:coreProperties>
</file>