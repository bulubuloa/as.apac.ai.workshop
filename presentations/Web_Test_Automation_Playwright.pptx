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37744" cy="6858000"/>
          </a:xfrm>
          <a:prstGeom prst="rect">
            <a:avLst/>
          </a:prstGeom>
          <a:solidFill>
            <a:srgbClr val="0B5FA5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1371600"/>
            <a:ext cx="11057839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0B5FA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VIETNAM 2026 - ENGINEERING WORKING SESSIONS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66928" y="1783080"/>
            <a:ext cx="11057839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Web Test Automation</a:t>
            </a:r>
            <a:endParaRPr lang="en-US" sz="4200" dirty="0"/>
          </a:p>
          <a:p>
            <a:pPr indent="0" marL="0">
              <a:buNone/>
            </a:pPr>
            <a:r>
              <a:rPr lang="en-US" sz="4200" b="1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with Playwright</a:t>
            </a:r>
            <a:endParaRPr lang="en-US" sz="4200" dirty="0"/>
          </a:p>
        </p:txBody>
      </p:sp>
      <p:sp>
        <p:nvSpPr>
          <p:cNvPr id="5" name="Text 3"/>
          <p:cNvSpPr/>
          <p:nvPr/>
        </p:nvSpPr>
        <p:spPr>
          <a:xfrm>
            <a:off x="566928" y="3017520"/>
            <a:ext cx="9686239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runnable smoke suite for the RoadSide agent portal (MSU), built and verified against the live UAT environment.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566928" y="4114800"/>
            <a:ext cx="1645920" cy="36576"/>
          </a:xfrm>
          <a:prstGeom prst="rect">
            <a:avLst/>
          </a:prstGeom>
          <a:solidFill>
            <a:srgbClr val="0B5FA5"/>
          </a:solidFill>
          <a:ln/>
        </p:spPr>
      </p:sp>
      <p:sp>
        <p:nvSpPr>
          <p:cNvPr id="7" name="Text 5"/>
          <p:cNvSpPr/>
          <p:nvPr/>
        </p:nvSpPr>
        <p:spPr>
          <a:xfrm>
            <a:off x="566928" y="4389120"/>
            <a:ext cx="11057839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7171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Day 2 - QA automation working lab   |   Hoang Quach   |   RSA / GAN on roadside-uat.aspireasia.net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57839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Why automate the web portal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66928" y="932688"/>
            <a:ext cx="11057839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171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the manual regression currently costs us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66928" y="1371600"/>
            <a:ext cx="11057839" cy="18288"/>
          </a:xfrm>
          <a:prstGeom prst="rect">
            <a:avLst/>
          </a:prstGeom>
          <a:solidFill>
            <a:srgbClr val="D9D9DE"/>
          </a:solidFill>
          <a:ln/>
        </p:spPr>
      </p:sp>
      <p:sp>
        <p:nvSpPr>
          <p:cNvPr id="5" name="Shape 3"/>
          <p:cNvSpPr/>
          <p:nvPr/>
        </p:nvSpPr>
        <p:spPr>
          <a:xfrm>
            <a:off x="566928" y="1627632"/>
            <a:ext cx="5300320" cy="3566160"/>
          </a:xfrm>
          <a:prstGeom prst="roundRect">
            <a:avLst>
              <a:gd name="adj" fmla="val 2051"/>
            </a:avLst>
          </a:prstGeom>
          <a:solidFill>
            <a:srgbClr val="F6F7F9"/>
          </a:solidFill>
          <a:ln w="12700">
            <a:solidFill>
              <a:srgbClr val="D9D9D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86384" y="1810512"/>
            <a:ext cx="486140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91C1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Today - manual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786384" y="2231136"/>
            <a:ext cx="4861408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Every release, QA re-checks the same journeys by hand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Regressions are found late, often after deployment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Evidence is a screenshot pasted into a ticket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Nobody re-tests the boring paths under time pressure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Knowledge lives in one tester’s head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324448" y="1627632"/>
            <a:ext cx="5300320" cy="3566160"/>
          </a:xfrm>
          <a:prstGeom prst="roundRect">
            <a:avLst>
              <a:gd name="adj" fmla="val 2051"/>
            </a:avLst>
          </a:prstGeom>
          <a:solidFill>
            <a:srgbClr val="F6F7F9"/>
          </a:solidFill>
          <a:ln w="12700">
            <a:solidFill>
              <a:srgbClr val="D9D9D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543904" y="1810512"/>
            <a:ext cx="486140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5803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With an automated suite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6543904" y="2231136"/>
            <a:ext cx="4861408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same 13 checks run in about one minute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regression fails the run before QA ever sees it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Evidence is produced automatically: trace, video, screenshot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suite is the written-down definition of "it still works"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Anyone can run it - one command, no tribal knowledge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566928" y="5760720"/>
            <a:ext cx="11057839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7171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Automation does not replace QA. It takes the repetitive regression pass off their plate so they can test what is actually new.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57839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is Playwright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66928" y="932688"/>
            <a:ext cx="11057839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171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 open-source browser automation framework from Microsoft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66928" y="1371600"/>
            <a:ext cx="11057839" cy="18288"/>
          </a:xfrm>
          <a:prstGeom prst="rect">
            <a:avLst/>
          </a:prstGeom>
          <a:solidFill>
            <a:srgbClr val="D9D9DE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627632"/>
            <a:ext cx="11057839" cy="402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5000"/>
              </a:lnSpc>
              <a:spcAft>
                <a:spcPts val="200"/>
              </a:spcAft>
              <a:buSzPct val="100000"/>
              <a:buChar char="•"/>
            </a:pPr>
            <a:r>
              <a:rPr lang="en-US" sz="1550" b="1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One API drives Chromium, Firefox and WebKit</a:t>
            </a:r>
            <a:endParaRPr lang="en-US" sz="1550" dirty="0"/>
          </a:p>
          <a:p>
            <a:pPr lvl="1" indent="0" marL="0">
              <a:lnSpc>
                <a:spcPct val="115000"/>
              </a:lnSpc>
              <a:spcAft>
                <a:spcPts val="1000"/>
              </a:spcAft>
              <a:buNone/>
            </a:pPr>
            <a:r>
              <a:rPr lang="en-US" sz="130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Same test, three engines - and mobile-browser emulation for responsive checks</a:t>
            </a:r>
            <a:endParaRPr lang="en-US" sz="1550" dirty="0"/>
          </a:p>
          <a:p>
            <a:pPr marL="342900" indent="-342900">
              <a:lnSpc>
                <a:spcPct val="115000"/>
              </a:lnSpc>
              <a:spcAft>
                <a:spcPts val="200"/>
              </a:spcAft>
              <a:buSzPct val="100000"/>
              <a:buChar char="•"/>
            </a:pPr>
            <a:r>
              <a:rPr lang="en-US" sz="1550" b="1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Auto-waiting is built in</a:t>
            </a:r>
            <a:endParaRPr lang="en-US" sz="1550" dirty="0"/>
          </a:p>
          <a:p>
            <a:pPr lvl="1" indent="0" marL="0">
              <a:lnSpc>
                <a:spcPct val="115000"/>
              </a:lnSpc>
              <a:spcAft>
                <a:spcPts val="1000"/>
              </a:spcAft>
              <a:buNone/>
            </a:pPr>
            <a:r>
              <a:rPr lang="en-US" sz="130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Every action waits for the element to be visible, stable and enabled - no sleep() calls, which is where flaky suites come from</a:t>
            </a:r>
            <a:endParaRPr lang="en-US" sz="1550" dirty="0"/>
          </a:p>
          <a:p>
            <a:pPr marL="342900" indent="-342900">
              <a:lnSpc>
                <a:spcPct val="115000"/>
              </a:lnSpc>
              <a:spcAft>
                <a:spcPts val="200"/>
              </a:spcAft>
              <a:buSzPct val="100000"/>
              <a:buChar char="•"/>
            </a:pPr>
            <a:r>
              <a:rPr lang="en-US" sz="1550" b="1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Tests are TypeScript</a:t>
            </a:r>
            <a:endParaRPr lang="en-US" sz="1550" dirty="0"/>
          </a:p>
          <a:p>
            <a:pPr lvl="1" indent="0" marL="0">
              <a:lnSpc>
                <a:spcPct val="115000"/>
              </a:lnSpc>
              <a:spcAft>
                <a:spcPts val="1000"/>
              </a:spcAft>
              <a:buNone/>
            </a:pPr>
            <a:r>
              <a:rPr lang="en-US" sz="130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Same language and tooling as a front-end developer already uses; types catch selector mistakes before a run</a:t>
            </a:r>
            <a:endParaRPr lang="en-US" sz="1550" dirty="0"/>
          </a:p>
          <a:p>
            <a:pPr marL="342900" indent="-342900">
              <a:lnSpc>
                <a:spcPct val="115000"/>
              </a:lnSpc>
              <a:spcAft>
                <a:spcPts val="200"/>
              </a:spcAft>
              <a:buSzPct val="100000"/>
              <a:buChar char="•"/>
            </a:pPr>
            <a:r>
              <a:rPr lang="en-US" sz="1550" b="1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Evidence is first class</a:t>
            </a:r>
            <a:endParaRPr lang="en-US" sz="1550" dirty="0"/>
          </a:p>
          <a:p>
            <a:pPr lvl="1" indent="0" marL="0">
              <a:lnSpc>
                <a:spcPct val="115000"/>
              </a:lnSpc>
              <a:spcAft>
                <a:spcPts val="1000"/>
              </a:spcAft>
              <a:buNone/>
            </a:pPr>
            <a:r>
              <a:rPr lang="en-US" sz="130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HTML report, video, screenshots and a trace viewer that replays the run step by step with the DOM at each point</a:t>
            </a:r>
            <a:endParaRPr lang="en-US" sz="1550" dirty="0"/>
          </a:p>
          <a:p>
            <a:pPr marL="342900" indent="-342900">
              <a:lnSpc>
                <a:spcPct val="115000"/>
              </a:lnSpc>
              <a:spcAft>
                <a:spcPts val="200"/>
              </a:spcAft>
              <a:buSzPct val="100000"/>
              <a:buChar char="•"/>
            </a:pPr>
            <a:r>
              <a:rPr lang="en-US" sz="1550" b="1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Free and vendor-neutral</a:t>
            </a:r>
            <a:endParaRPr lang="en-US" sz="1550" dirty="0"/>
          </a:p>
          <a:p>
            <a:pPr lvl="1" indent="0" marL="0">
              <a:lnSpc>
                <a:spcPct val="115000"/>
              </a:lnSpc>
              <a:spcAft>
                <a:spcPts val="1000"/>
              </a:spcAft>
              <a:buNone/>
            </a:pPr>
            <a:r>
              <a:rPr lang="en-US" sz="130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 licence, no per-seat cost, no cloud dependency - it runs on a laptop and in CI the same way</a:t>
            </a:r>
            <a:endParaRPr lang="en-US" sz="15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57839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How Playwright works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66928" y="932688"/>
            <a:ext cx="11057839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171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Think of it as a tester who never gets tired, never gets bored, and never forgets a step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66928" y="1371600"/>
            <a:ext cx="11057839" cy="18288"/>
          </a:xfrm>
          <a:prstGeom prst="rect">
            <a:avLst/>
          </a:prstGeom>
          <a:solidFill>
            <a:srgbClr val="D9D9DE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627632"/>
            <a:ext cx="47548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we write down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66928" y="2103120"/>
            <a:ext cx="292608" cy="292608"/>
          </a:xfrm>
          <a:prstGeom prst="ellipse">
            <a:avLst/>
          </a:prstGeom>
          <a:solidFill>
            <a:srgbClr val="0B5FA5"/>
          </a:solidFill>
          <a:ln w="12700">
            <a:solidFill>
              <a:srgbClr val="0B5FA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66928" y="2103120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969264" y="2084832"/>
            <a:ext cx="4389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Type the user name into the box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969264" y="2395728"/>
            <a:ext cx="4526280" cy="384048"/>
          </a:xfrm>
          <a:prstGeom prst="roundRect">
            <a:avLst>
              <a:gd name="adj" fmla="val 11905"/>
            </a:avLst>
          </a:prstGeom>
          <a:solidFill>
            <a:srgbClr val="1E1E24"/>
          </a:solidFill>
          <a:ln w="12700">
            <a:solidFill>
              <a:srgbClr val="1E1E2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78992" y="2395728"/>
            <a:ext cx="4343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E8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page.getByPlaceholder('User name').fill('admin.ko')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66928" y="3035808"/>
            <a:ext cx="292608" cy="292608"/>
          </a:xfrm>
          <a:prstGeom prst="ellipse">
            <a:avLst/>
          </a:prstGeom>
          <a:solidFill>
            <a:srgbClr val="0B5FA5"/>
          </a:solidFill>
          <a:ln w="12700">
            <a:solidFill>
              <a:srgbClr val="0B5FA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66928" y="3035808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969264" y="3017520"/>
            <a:ext cx="4389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Type the password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969264" y="3328416"/>
            <a:ext cx="4526280" cy="384048"/>
          </a:xfrm>
          <a:prstGeom prst="roundRect">
            <a:avLst>
              <a:gd name="adj" fmla="val 11905"/>
            </a:avLst>
          </a:prstGeom>
          <a:solidFill>
            <a:srgbClr val="1E1E24"/>
          </a:solidFill>
          <a:ln w="12700">
            <a:solidFill>
              <a:srgbClr val="1E1E2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078992" y="3328416"/>
            <a:ext cx="4343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E8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page.getByPlaceholder('Password').fill('••••••')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566928" y="3968496"/>
            <a:ext cx="292608" cy="292608"/>
          </a:xfrm>
          <a:prstGeom prst="ellipse">
            <a:avLst/>
          </a:prstGeom>
          <a:solidFill>
            <a:srgbClr val="0B5FA5"/>
          </a:solidFill>
          <a:ln w="12700">
            <a:solidFill>
              <a:srgbClr val="0B5FA5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66928" y="3968496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969264" y="3950208"/>
            <a:ext cx="4389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Press the Sign in button</a:t>
            </a:r>
            <a:endParaRPr lang="en-US" sz="1350" dirty="0"/>
          </a:p>
        </p:txBody>
      </p:sp>
      <p:sp>
        <p:nvSpPr>
          <p:cNvPr id="19" name="Shape 17"/>
          <p:cNvSpPr/>
          <p:nvPr/>
        </p:nvSpPr>
        <p:spPr>
          <a:xfrm>
            <a:off x="969264" y="4261104"/>
            <a:ext cx="4526280" cy="384048"/>
          </a:xfrm>
          <a:prstGeom prst="roundRect">
            <a:avLst>
              <a:gd name="adj" fmla="val 11905"/>
            </a:avLst>
          </a:prstGeom>
          <a:solidFill>
            <a:srgbClr val="1E1E24"/>
          </a:solidFill>
          <a:ln w="12700">
            <a:solidFill>
              <a:srgbClr val="1E1E24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078992" y="4261104"/>
            <a:ext cx="4343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E8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page.locator('#btnSignIn').click()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66928" y="4901184"/>
            <a:ext cx="292608" cy="292608"/>
          </a:xfrm>
          <a:prstGeom prst="ellipse">
            <a:avLst/>
          </a:prstGeom>
          <a:solidFill>
            <a:srgbClr val="0B5FA5"/>
          </a:solidFill>
          <a:ln w="12700">
            <a:solidFill>
              <a:srgbClr val="0B5FA5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66928" y="4901184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969264" y="4882896"/>
            <a:ext cx="4389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Check we landed on the job list</a:t>
            </a:r>
            <a:endParaRPr lang="en-US" sz="1350" dirty="0"/>
          </a:p>
        </p:txBody>
      </p:sp>
      <p:sp>
        <p:nvSpPr>
          <p:cNvPr id="24" name="Shape 22"/>
          <p:cNvSpPr/>
          <p:nvPr/>
        </p:nvSpPr>
        <p:spPr>
          <a:xfrm>
            <a:off x="969264" y="5193792"/>
            <a:ext cx="4526280" cy="384048"/>
          </a:xfrm>
          <a:prstGeom prst="roundRect">
            <a:avLst>
              <a:gd name="adj" fmla="val 11905"/>
            </a:avLst>
          </a:prstGeom>
          <a:solidFill>
            <a:srgbClr val="1E1E24"/>
          </a:solidFill>
          <a:ln w="12700">
            <a:solidFill>
              <a:srgbClr val="1E1E24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078992" y="5193792"/>
            <a:ext cx="4343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E8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expect(page).toHaveURL(/msu\/joblst/)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5623560" y="1627632"/>
            <a:ext cx="5943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happens on the real site</a:t>
            </a:r>
            <a:endParaRPr lang="en-US" sz="1500" dirty="0"/>
          </a:p>
        </p:txBody>
      </p:sp>
      <p:sp>
        <p:nvSpPr>
          <p:cNvPr id="27" name="Shape 25"/>
          <p:cNvSpPr/>
          <p:nvPr/>
        </p:nvSpPr>
        <p:spPr>
          <a:xfrm>
            <a:off x="5623560" y="2011680"/>
            <a:ext cx="5989320" cy="2487168"/>
          </a:xfrm>
          <a:prstGeom prst="roundRect">
            <a:avLst>
              <a:gd name="adj" fmla="val 2206"/>
            </a:avLst>
          </a:prstGeom>
          <a:solidFill>
            <a:srgbClr val="FFFFFF"/>
          </a:solidFill>
          <a:ln w="12700">
            <a:solidFill>
              <a:srgbClr val="C9CDD4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623560" y="2011680"/>
            <a:ext cx="5989320" cy="329184"/>
          </a:xfrm>
          <a:prstGeom prst="rect">
            <a:avLst/>
          </a:prstGeom>
          <a:solidFill>
            <a:srgbClr val="EDEEF2"/>
          </a:solidFill>
          <a:ln w="12700">
            <a:solidFill>
              <a:srgbClr val="C9CDD4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769864" y="2121408"/>
            <a:ext cx="109728" cy="109728"/>
          </a:xfrm>
          <a:prstGeom prst="ellipse">
            <a:avLst/>
          </a:prstGeom>
          <a:solidFill>
            <a:srgbClr val="E06C61"/>
          </a:solidFill>
          <a:ln w="12700">
            <a:solidFill>
              <a:srgbClr val="E06C61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952744" y="2121408"/>
            <a:ext cx="109728" cy="109728"/>
          </a:xfrm>
          <a:prstGeom prst="ellipse">
            <a:avLst/>
          </a:prstGeom>
          <a:solidFill>
            <a:srgbClr val="E3B341"/>
          </a:solidFill>
          <a:ln w="12700">
            <a:solidFill>
              <a:srgbClr val="E3B341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135624" y="2121408"/>
            <a:ext cx="109728" cy="109728"/>
          </a:xfrm>
          <a:prstGeom prst="ellipse">
            <a:avLst/>
          </a:prstGeom>
          <a:solidFill>
            <a:srgbClr val="7DC46B"/>
          </a:solidFill>
          <a:ln w="12700">
            <a:solidFill>
              <a:srgbClr val="7DC46B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409944" y="2075688"/>
            <a:ext cx="4983480" cy="201168"/>
          </a:xfrm>
          <a:prstGeom prst="roundRect">
            <a:avLst>
              <a:gd name="adj" fmla="val 22727"/>
            </a:avLst>
          </a:prstGeom>
          <a:solidFill>
            <a:srgbClr val="FFFFFF"/>
          </a:solidFill>
          <a:ln w="12700">
            <a:solidFill>
              <a:srgbClr val="D6D9D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501384" y="2075688"/>
            <a:ext cx="48920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171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roadside-uat.aspireasia.net/auth/login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5879592" y="2779776"/>
            <a:ext cx="3931920" cy="402336"/>
          </a:xfrm>
          <a:prstGeom prst="roundRect">
            <a:avLst>
              <a:gd name="adj" fmla="val 11364"/>
            </a:avLst>
          </a:prstGeom>
          <a:solidFill>
            <a:srgbClr val="FBFBFC"/>
          </a:solidFill>
          <a:ln w="12700">
            <a:solidFill>
              <a:srgbClr val="C9CDD4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879592" y="2560320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71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User name</a:t>
            </a:r>
            <a:endParaRPr lang="en-US" sz="950" dirty="0"/>
          </a:p>
        </p:txBody>
      </p:sp>
      <p:sp>
        <p:nvSpPr>
          <p:cNvPr id="36" name="Text 34"/>
          <p:cNvSpPr/>
          <p:nvPr/>
        </p:nvSpPr>
        <p:spPr>
          <a:xfrm>
            <a:off x="6007608" y="2779776"/>
            <a:ext cx="367588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admin.ko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9948672" y="2834640"/>
            <a:ext cx="274320" cy="274320"/>
          </a:xfrm>
          <a:prstGeom prst="ellipse">
            <a:avLst/>
          </a:prstGeom>
          <a:solidFill>
            <a:srgbClr val="0B5FA5"/>
          </a:solidFill>
          <a:ln w="12700">
            <a:solidFill>
              <a:srgbClr val="0B5FA5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9948672" y="2834640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</a:t>
            </a:r>
            <a:endParaRPr lang="en-US" sz="1250" dirty="0"/>
          </a:p>
        </p:txBody>
      </p:sp>
      <p:sp>
        <p:nvSpPr>
          <p:cNvPr id="39" name="Shape 37"/>
          <p:cNvSpPr/>
          <p:nvPr/>
        </p:nvSpPr>
        <p:spPr>
          <a:xfrm>
            <a:off x="5879592" y="3474720"/>
            <a:ext cx="3931920" cy="402336"/>
          </a:xfrm>
          <a:prstGeom prst="roundRect">
            <a:avLst>
              <a:gd name="adj" fmla="val 11364"/>
            </a:avLst>
          </a:prstGeom>
          <a:solidFill>
            <a:srgbClr val="FBFBFC"/>
          </a:solidFill>
          <a:ln w="12700">
            <a:solidFill>
              <a:srgbClr val="C9CDD4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879592" y="3255264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71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Password</a:t>
            </a:r>
            <a:endParaRPr lang="en-US" sz="950" dirty="0"/>
          </a:p>
        </p:txBody>
      </p:sp>
      <p:sp>
        <p:nvSpPr>
          <p:cNvPr id="41" name="Text 39"/>
          <p:cNvSpPr/>
          <p:nvPr/>
        </p:nvSpPr>
        <p:spPr>
          <a:xfrm>
            <a:off x="6007608" y="3474720"/>
            <a:ext cx="367588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••••••</a:t>
            </a:r>
            <a:endParaRPr lang="en-US" sz="1200" dirty="0"/>
          </a:p>
        </p:txBody>
      </p:sp>
      <p:sp>
        <p:nvSpPr>
          <p:cNvPr id="42" name="Shape 40"/>
          <p:cNvSpPr/>
          <p:nvPr/>
        </p:nvSpPr>
        <p:spPr>
          <a:xfrm>
            <a:off x="9948672" y="3529584"/>
            <a:ext cx="274320" cy="274320"/>
          </a:xfrm>
          <a:prstGeom prst="ellipse">
            <a:avLst/>
          </a:prstGeom>
          <a:solidFill>
            <a:srgbClr val="0B5FA5"/>
          </a:solidFill>
          <a:ln w="12700">
            <a:solidFill>
              <a:srgbClr val="0B5FA5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9948672" y="3529584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</a:t>
            </a:r>
            <a:endParaRPr lang="en-US" sz="1250" dirty="0"/>
          </a:p>
        </p:txBody>
      </p:sp>
      <p:sp>
        <p:nvSpPr>
          <p:cNvPr id="44" name="Shape 42"/>
          <p:cNvSpPr/>
          <p:nvPr/>
        </p:nvSpPr>
        <p:spPr>
          <a:xfrm>
            <a:off x="5879592" y="4078224"/>
            <a:ext cx="1371600" cy="384048"/>
          </a:xfrm>
          <a:prstGeom prst="roundRect">
            <a:avLst>
              <a:gd name="adj" fmla="val 11905"/>
            </a:avLst>
          </a:prstGeom>
          <a:solidFill>
            <a:srgbClr val="0B5FA5"/>
          </a:solidFill>
          <a:ln w="12700">
            <a:solidFill>
              <a:srgbClr val="0B5FA5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879592" y="4078224"/>
            <a:ext cx="1371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Sign in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7397496" y="4133088"/>
            <a:ext cx="274320" cy="274320"/>
          </a:xfrm>
          <a:prstGeom prst="ellipse">
            <a:avLst/>
          </a:prstGeom>
          <a:solidFill>
            <a:srgbClr val="0B5FA5"/>
          </a:solidFill>
          <a:ln w="12700">
            <a:solidFill>
              <a:srgbClr val="0B5FA5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7397496" y="4133088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</a:t>
            </a:r>
            <a:endParaRPr lang="en-US" sz="1250" dirty="0"/>
          </a:p>
        </p:txBody>
      </p:sp>
      <p:sp>
        <p:nvSpPr>
          <p:cNvPr id="48" name="Text 46"/>
          <p:cNvSpPr/>
          <p:nvPr/>
        </p:nvSpPr>
        <p:spPr>
          <a:xfrm>
            <a:off x="5623560" y="4553712"/>
            <a:ext cx="5989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7171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↓</a:t>
            </a:r>
            <a:endParaRPr lang="en-US" sz="1800" dirty="0"/>
          </a:p>
        </p:txBody>
      </p:sp>
      <p:sp>
        <p:nvSpPr>
          <p:cNvPr id="49" name="Shape 47"/>
          <p:cNvSpPr/>
          <p:nvPr/>
        </p:nvSpPr>
        <p:spPr>
          <a:xfrm>
            <a:off x="5623560" y="4782312"/>
            <a:ext cx="5989320" cy="132588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12700">
            <a:solidFill>
              <a:srgbClr val="C9CDD4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5623560" y="4782312"/>
            <a:ext cx="5989320" cy="329184"/>
          </a:xfrm>
          <a:prstGeom prst="rect">
            <a:avLst/>
          </a:prstGeom>
          <a:solidFill>
            <a:srgbClr val="EDEEF2"/>
          </a:solidFill>
          <a:ln w="12700">
            <a:solidFill>
              <a:srgbClr val="C9CDD4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5769864" y="4892040"/>
            <a:ext cx="109728" cy="109728"/>
          </a:xfrm>
          <a:prstGeom prst="ellipse">
            <a:avLst/>
          </a:prstGeom>
          <a:solidFill>
            <a:srgbClr val="E06C61"/>
          </a:solidFill>
          <a:ln w="12700">
            <a:solidFill>
              <a:srgbClr val="E06C61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5952744" y="4892040"/>
            <a:ext cx="109728" cy="109728"/>
          </a:xfrm>
          <a:prstGeom prst="ellipse">
            <a:avLst/>
          </a:prstGeom>
          <a:solidFill>
            <a:srgbClr val="E3B341"/>
          </a:solidFill>
          <a:ln w="12700">
            <a:solidFill>
              <a:srgbClr val="E3B341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6135624" y="4892040"/>
            <a:ext cx="109728" cy="109728"/>
          </a:xfrm>
          <a:prstGeom prst="ellipse">
            <a:avLst/>
          </a:prstGeom>
          <a:solidFill>
            <a:srgbClr val="7DC46B"/>
          </a:solidFill>
          <a:ln w="12700">
            <a:solidFill>
              <a:srgbClr val="7DC46B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6409944" y="4846320"/>
            <a:ext cx="4983480" cy="201168"/>
          </a:xfrm>
          <a:prstGeom prst="roundRect">
            <a:avLst>
              <a:gd name="adj" fmla="val 22727"/>
            </a:avLst>
          </a:prstGeom>
          <a:solidFill>
            <a:srgbClr val="FFFFFF"/>
          </a:solidFill>
          <a:ln w="12700">
            <a:solidFill>
              <a:srgbClr val="D6D9DF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6501384" y="4846320"/>
            <a:ext cx="48920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171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roadside-uat.aspireasia.net/msu/joblst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5879592" y="5422392"/>
            <a:ext cx="3017520" cy="118872"/>
          </a:xfrm>
          <a:prstGeom prst="rect">
            <a:avLst/>
          </a:prstGeom>
          <a:solidFill>
            <a:srgbClr val="CFD4DB"/>
          </a:solidFill>
          <a:ln w="12700">
            <a:solidFill>
              <a:srgbClr val="CFD4DB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5879592" y="5641848"/>
            <a:ext cx="3017520" cy="118872"/>
          </a:xfrm>
          <a:prstGeom prst="rect">
            <a:avLst/>
          </a:prstGeom>
          <a:solidFill>
            <a:srgbClr val="E7E9ED"/>
          </a:solidFill>
          <a:ln w="12700">
            <a:solidFill>
              <a:srgbClr val="E7E9ED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5879592" y="5861304"/>
            <a:ext cx="3017520" cy="118872"/>
          </a:xfrm>
          <a:prstGeom prst="rect">
            <a:avLst/>
          </a:prstGeom>
          <a:solidFill>
            <a:srgbClr val="E7E9ED"/>
          </a:solidFill>
          <a:ln w="12700">
            <a:solidFill>
              <a:srgbClr val="E7E9ED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9171432" y="5550408"/>
            <a:ext cx="274320" cy="274320"/>
          </a:xfrm>
          <a:prstGeom prst="ellipse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9171432" y="5550408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</a:t>
            </a:r>
            <a:endParaRPr lang="en-US" sz="1250" dirty="0"/>
          </a:p>
        </p:txBody>
      </p:sp>
      <p:sp>
        <p:nvSpPr>
          <p:cNvPr id="61" name="Text 59"/>
          <p:cNvSpPr/>
          <p:nvPr/>
        </p:nvSpPr>
        <p:spPr>
          <a:xfrm>
            <a:off x="9537192" y="555040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5803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Job list - as expected</a:t>
            </a:r>
            <a:endParaRPr lang="en-US" sz="1150" dirty="0"/>
          </a:p>
        </p:txBody>
      </p:sp>
      <p:sp>
        <p:nvSpPr>
          <p:cNvPr id="62" name="Text 60"/>
          <p:cNvSpPr/>
          <p:nvPr/>
        </p:nvSpPr>
        <p:spPr>
          <a:xfrm>
            <a:off x="566928" y="6291072"/>
            <a:ext cx="11057839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7171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Four written steps, run against the real site, with a video and screenshots kept as proof. Step 4 is the one that matters - it is where the test decides pass or fail.</a:t>
            </a:r>
            <a:endParaRPr lang="en-US" sz="12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B5FA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011680"/>
            <a:ext cx="1828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400" b="1" dirty="0">
                <a:solidFill>
                  <a:srgbClr val="FFFFFF">
                    <a:alpha val="45000"/>
                  </a:srgbClr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</a:t>
            </a:r>
            <a:endParaRPr lang="en-US" sz="6400" dirty="0"/>
          </a:p>
        </p:txBody>
      </p:sp>
      <p:sp>
        <p:nvSpPr>
          <p:cNvPr id="3" name="Text 1"/>
          <p:cNvSpPr/>
          <p:nvPr/>
        </p:nvSpPr>
        <p:spPr>
          <a:xfrm>
            <a:off x="566928" y="2926080"/>
            <a:ext cx="11057839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we built for RoadSide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66928" y="3794760"/>
            <a:ext cx="9229039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D8E6F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Five features, thirteen checks, running against the live UAT portal - not a demo app.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57839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suite: 5 features, 13 checks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66928" y="932688"/>
            <a:ext cx="11057839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171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ai-workshop/roadside-web - runs against roadside-uat.aspireasia.net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66928" y="1371600"/>
            <a:ext cx="11057839" cy="18288"/>
          </a:xfrm>
          <a:prstGeom prst="rect">
            <a:avLst/>
          </a:prstGeom>
          <a:solidFill>
            <a:srgbClr val="D9D9DE"/>
          </a:solidFill>
          <a:ln/>
        </p:spPr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627632"/>
          <a:ext cx="11064240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822960"/>
                <a:gridCol w="7955280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Feature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5FA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Checks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5FA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What it proves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5FA5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E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Login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E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2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E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Valid sign-in reaches the job list; a wrong password stays put and shows the server message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E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Client Dealer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E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2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E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List filters by client and every row matches; detail opens with the same code and name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E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Provider User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E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2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E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List columns are intact; detail matches the row and carries the Mobile Provider flag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E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Announcement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E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3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E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List renders; a draft is created end to end; its detail shows title, status and content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E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Job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E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3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E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Search by id; detail opens from the list; a job is created through the full cascade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66928" y="4279392"/>
            <a:ext cx="2065264" cy="1143000"/>
          </a:xfrm>
          <a:prstGeom prst="roundRect">
            <a:avLst>
              <a:gd name="adj" fmla="val 6400"/>
            </a:avLst>
          </a:prstGeom>
          <a:solidFill>
            <a:srgbClr val="E8F0F8"/>
          </a:solidFill>
          <a:ln w="12700">
            <a:solidFill>
              <a:srgbClr val="E8F0F8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66928" y="4407408"/>
            <a:ext cx="2065264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B5FA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13</a:t>
            </a:r>
            <a:endParaRPr lang="en-US" sz="3000" dirty="0"/>
          </a:p>
        </p:txBody>
      </p:sp>
      <p:sp>
        <p:nvSpPr>
          <p:cNvPr id="8" name="Text 5"/>
          <p:cNvSpPr/>
          <p:nvPr/>
        </p:nvSpPr>
        <p:spPr>
          <a:xfrm>
            <a:off x="658368" y="4956048"/>
            <a:ext cx="188238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automated checks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2815072" y="4279392"/>
            <a:ext cx="2065264" cy="1143000"/>
          </a:xfrm>
          <a:prstGeom prst="roundRect">
            <a:avLst>
              <a:gd name="adj" fmla="val 6400"/>
            </a:avLst>
          </a:prstGeom>
          <a:solidFill>
            <a:srgbClr val="E8F0F8"/>
          </a:solidFill>
          <a:ln w="12700">
            <a:solidFill>
              <a:srgbClr val="E8F0F8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2815072" y="4407408"/>
            <a:ext cx="2065264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B5FA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~1 min</a:t>
            </a:r>
            <a:endParaRPr lang="en-US" sz="3000" dirty="0"/>
          </a:p>
        </p:txBody>
      </p:sp>
      <p:sp>
        <p:nvSpPr>
          <p:cNvPr id="11" name="Text 8"/>
          <p:cNvSpPr/>
          <p:nvPr/>
        </p:nvSpPr>
        <p:spPr>
          <a:xfrm>
            <a:off x="2906512" y="4956048"/>
            <a:ext cx="188238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full suite, serial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5063216" y="4279392"/>
            <a:ext cx="2065264" cy="1143000"/>
          </a:xfrm>
          <a:prstGeom prst="roundRect">
            <a:avLst>
              <a:gd name="adj" fmla="val 6400"/>
            </a:avLst>
          </a:prstGeom>
          <a:solidFill>
            <a:srgbClr val="E8F0F8"/>
          </a:solidFill>
          <a:ln w="12700">
            <a:solidFill>
              <a:srgbClr val="E8F0F8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5063216" y="4407408"/>
            <a:ext cx="2065264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B5FA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</a:t>
            </a:r>
            <a:endParaRPr lang="en-US" sz="3000" dirty="0"/>
          </a:p>
        </p:txBody>
      </p:sp>
      <p:sp>
        <p:nvSpPr>
          <p:cNvPr id="14" name="Text 11"/>
          <p:cNvSpPr/>
          <p:nvPr/>
        </p:nvSpPr>
        <p:spPr>
          <a:xfrm>
            <a:off x="5154656" y="4956048"/>
            <a:ext cx="188238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records written per run</a:t>
            </a:r>
            <a:endParaRPr lang="en-US" sz="1150" dirty="0"/>
          </a:p>
        </p:txBody>
      </p:sp>
      <p:sp>
        <p:nvSpPr>
          <p:cNvPr id="15" name="Shape 12"/>
          <p:cNvSpPr/>
          <p:nvPr/>
        </p:nvSpPr>
        <p:spPr>
          <a:xfrm>
            <a:off x="7311360" y="4279392"/>
            <a:ext cx="2065264" cy="1143000"/>
          </a:xfrm>
          <a:prstGeom prst="roundRect">
            <a:avLst>
              <a:gd name="adj" fmla="val 6400"/>
            </a:avLst>
          </a:prstGeom>
          <a:solidFill>
            <a:srgbClr val="E8F0F8"/>
          </a:solidFill>
          <a:ln w="12700">
            <a:solidFill>
              <a:srgbClr val="E8F0F8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7311360" y="4407408"/>
            <a:ext cx="2065264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B5FA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546</a:t>
            </a:r>
            <a:endParaRPr lang="en-US" sz="3000" dirty="0"/>
          </a:p>
        </p:txBody>
      </p:sp>
      <p:sp>
        <p:nvSpPr>
          <p:cNvPr id="17" name="Text 14"/>
          <p:cNvSpPr/>
          <p:nvPr/>
        </p:nvSpPr>
        <p:spPr>
          <a:xfrm>
            <a:off x="7402800" y="4956048"/>
            <a:ext cx="188238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lines of test code</a:t>
            </a:r>
            <a:endParaRPr lang="en-US" sz="1150" dirty="0"/>
          </a:p>
        </p:txBody>
      </p:sp>
      <p:sp>
        <p:nvSpPr>
          <p:cNvPr id="18" name="Shape 15"/>
          <p:cNvSpPr/>
          <p:nvPr/>
        </p:nvSpPr>
        <p:spPr>
          <a:xfrm>
            <a:off x="9559503" y="4279392"/>
            <a:ext cx="2065264" cy="1143000"/>
          </a:xfrm>
          <a:prstGeom prst="roundRect">
            <a:avLst>
              <a:gd name="adj" fmla="val 6400"/>
            </a:avLst>
          </a:prstGeom>
          <a:solidFill>
            <a:srgbClr val="E8F0F8"/>
          </a:solidFill>
          <a:ln w="12700">
            <a:solidFill>
              <a:srgbClr val="E8F0F8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9559503" y="4407408"/>
            <a:ext cx="2065264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B5FA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100%</a:t>
            </a:r>
            <a:endParaRPr lang="en-US" sz="3000" dirty="0"/>
          </a:p>
        </p:txBody>
      </p:sp>
      <p:sp>
        <p:nvSpPr>
          <p:cNvPr id="20" name="Text 17"/>
          <p:cNvSpPr/>
          <p:nvPr/>
        </p:nvSpPr>
        <p:spPr>
          <a:xfrm>
            <a:off x="9650943" y="4956048"/>
            <a:ext cx="188238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passing on UAT</a:t>
            </a:r>
            <a:endParaRPr lang="en-US" sz="1150" dirty="0"/>
          </a:p>
        </p:txBody>
      </p:sp>
      <p:sp>
        <p:nvSpPr>
          <p:cNvPr id="21" name="Text 18"/>
          <p:cNvSpPr/>
          <p:nvPr/>
        </p:nvSpPr>
        <p:spPr>
          <a:xfrm>
            <a:off x="566928" y="5605272"/>
            <a:ext cx="11057839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7171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Two cases write real data (one announcement, one job). Every free-text field is prefixed [AUTO-TEST] so the rows are obvious and cleanable.</a:t>
            </a:r>
            <a:endParaRPr lang="en-US" sz="12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57839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How the suite is organised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66928" y="932688"/>
            <a:ext cx="11057839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171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Page objects keep the selectors in one place, so a UI change is a one-line fix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66928" y="1371600"/>
            <a:ext cx="11057839" cy="18288"/>
          </a:xfrm>
          <a:prstGeom prst="rect">
            <a:avLst/>
          </a:prstGeom>
          <a:solidFill>
            <a:srgbClr val="D9D9DE"/>
          </a:solidFill>
          <a:ln/>
        </p:spPr>
      </p:sp>
      <p:sp>
        <p:nvSpPr>
          <p:cNvPr id="5" name="Shape 3"/>
          <p:cNvSpPr/>
          <p:nvPr/>
        </p:nvSpPr>
        <p:spPr>
          <a:xfrm>
            <a:off x="566928" y="1627632"/>
            <a:ext cx="11057839" cy="2286000"/>
          </a:xfrm>
          <a:prstGeom prst="roundRect">
            <a:avLst>
              <a:gd name="adj" fmla="val 2400"/>
            </a:avLst>
          </a:prstGeom>
          <a:solidFill>
            <a:srgbClr val="1E1E24"/>
          </a:solidFill>
          <a:ln w="12700">
            <a:solidFill>
              <a:srgbClr val="1E1E2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68096" y="1773936"/>
            <a:ext cx="10655503" cy="19933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E8E8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roadside-web/</a:t>
            </a:r>
            <a:endParaRPr lang="en-US" sz="11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E8E8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pages/          LoginPage, JobPages, DealerPages, ProviderPages, AnnouncementPages</a:t>
            </a:r>
            <a:endParaRPr lang="en-US" sz="11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E8E8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tests/          auth.setup.ts + one spec per feature (01-login … 05-job)</a:t>
            </a:r>
            <a:endParaRPr lang="en-US" sz="11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E8E8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playwright.config.ts   serial, trace/video/screenshot ON, HTML + JUnit + JSON reporters</a:t>
            </a:r>
            <a:endParaRPr lang="en-US" sz="11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E8E8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.env            base URL, account, environment-specific ids   (git-ignored)</a:t>
            </a:r>
            <a:endParaRPr lang="en-US" sz="11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E8E8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reports/        junit.xml, results.json        playwright-report/  index.html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566928" y="3968496"/>
            <a:ext cx="11057839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7171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One spec per feature, one page object per screen - the shape a new joiner can guess.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66928" y="4325112"/>
            <a:ext cx="11057839" cy="402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5000"/>
              </a:lnSpc>
              <a:spcAft>
                <a:spcPts val="200"/>
              </a:spcAft>
              <a:buSzPct val="100000"/>
              <a:buChar char="•"/>
            </a:pPr>
            <a:r>
              <a:rPr lang="en-US" sz="1450" b="1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Environment values live in .env, never in the test</a:t>
            </a:r>
            <a:endParaRPr lang="en-US" sz="1450" dirty="0"/>
          </a:p>
          <a:p>
            <a:pPr lvl="1" indent="0" marL="0">
              <a:lnSpc>
                <a:spcPct val="115000"/>
              </a:lnSpc>
              <a:spcAft>
                <a:spcPts val="1000"/>
              </a:spcAft>
              <a:buNone/>
            </a:pPr>
            <a:r>
              <a:rPr lang="en-US" sz="120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Client ids, job ids and programs differ per environment - hard-coding them is why suites "work on my machine"</a:t>
            </a:r>
            <a:endParaRPr lang="en-US" sz="1450" dirty="0"/>
          </a:p>
          <a:p>
            <a:pPr marL="342900" indent="-342900">
              <a:lnSpc>
                <a:spcPct val="115000"/>
              </a:lnSpc>
              <a:spcAft>
                <a:spcPts val="200"/>
              </a:spcAft>
              <a:buSzPct val="100000"/>
              <a:buChar char="•"/>
            </a:pPr>
            <a:r>
              <a:rPr lang="en-US" sz="1450" b="1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Credentials are git-ignored</a:t>
            </a:r>
            <a:endParaRPr lang="en-US" sz="1450" dirty="0"/>
          </a:p>
          <a:p>
            <a:pPr lvl="1" indent="0" marL="0">
              <a:lnSpc>
                <a:spcPct val="115000"/>
              </a:lnSpc>
              <a:spcAft>
                <a:spcPts val="1000"/>
              </a:spcAft>
              <a:buNone/>
            </a:pPr>
            <a:r>
              <a:rPr lang="en-US" sz="120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.env.example is committed as the template; the real .env never leaves the laptop</a:t>
            </a:r>
            <a:endParaRPr lang="en-US" sz="14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57839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a test actually looks like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66928" y="932688"/>
            <a:ext cx="11057839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171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TC02.2 - the dealer detail must match the row it was opened from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66928" y="1371600"/>
            <a:ext cx="11057839" cy="18288"/>
          </a:xfrm>
          <a:prstGeom prst="rect">
            <a:avLst/>
          </a:prstGeom>
          <a:solidFill>
            <a:srgbClr val="D9D9DE"/>
          </a:solidFill>
          <a:ln/>
        </p:spPr>
      </p:sp>
      <p:sp>
        <p:nvSpPr>
          <p:cNvPr id="5" name="Shape 3"/>
          <p:cNvSpPr/>
          <p:nvPr/>
        </p:nvSpPr>
        <p:spPr>
          <a:xfrm>
            <a:off x="566928" y="1627632"/>
            <a:ext cx="11057839" cy="3200400"/>
          </a:xfrm>
          <a:prstGeom prst="roundRect">
            <a:avLst>
              <a:gd name="adj" fmla="val 1714"/>
            </a:avLst>
          </a:prstGeom>
          <a:solidFill>
            <a:srgbClr val="1E1E24"/>
          </a:solidFill>
          <a:ln w="12700">
            <a:solidFill>
              <a:srgbClr val="1E1E2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68096" y="1773936"/>
            <a:ext cx="10655503" cy="29077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E8E8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test('TC02.2 dealer detail opens from the list with matching code and name', async ({ page }) =&gt; {</a:t>
            </a:r>
            <a:endParaRPr lang="en-US" sz="12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E8E8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const list = new DealerListPage(page);</a:t>
            </a:r>
            <a:endParaRPr lang="en-US" sz="12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E8E8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await list.goto();</a:t>
            </a:r>
            <a:endParaRPr lang="en-US" sz="12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E8E8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await list.searchClient(CLIENT_ID);</a:t>
            </a:r>
            <a:endParaRPr lang="en-US" sz="1250" dirty="0"/>
          </a:p>
          <a:p>
            <a:pPr indent="0" marL="0">
              <a:lnSpc>
                <a:spcPct val="112000"/>
              </a:lnSpc>
              <a:buNone/>
            </a:pPr>
            <a:endParaRPr lang="en-US" sz="12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E8E8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const first = list.rows.first();</a:t>
            </a:r>
            <a:endParaRPr lang="en-US" sz="12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E8E8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const code = (await first.locator('td:nth-child(4)').innerText()).trim();</a:t>
            </a:r>
            <a:endParaRPr lang="en-US" sz="12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E8E8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const name = (await first.locator('td:nth-child(5)').innerText()).trim();</a:t>
            </a:r>
            <a:endParaRPr lang="en-US" sz="1250" dirty="0"/>
          </a:p>
          <a:p>
            <a:pPr indent="0" marL="0">
              <a:lnSpc>
                <a:spcPct val="112000"/>
              </a:lnSpc>
              <a:buNone/>
            </a:pPr>
            <a:endParaRPr lang="en-US" sz="12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E8E8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const detailPage = await list.openFirst();          // handles the new-tab link</a:t>
            </a:r>
            <a:endParaRPr lang="en-US" sz="12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E8E8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const detail = new DealerEditPage(detailPage);</a:t>
            </a:r>
            <a:endParaRPr lang="en-US" sz="12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E8E8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await expect(detail.code).toHaveValue(code);        // auto-waits, retries, then fails</a:t>
            </a:r>
            <a:endParaRPr lang="en-US" sz="12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E8E8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await expect(detail.name).toHaveValue(name);</a:t>
            </a:r>
            <a:endParaRPr lang="en-US" sz="12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E8E8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});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566928" y="4882896"/>
            <a:ext cx="11057839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7171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 sleeps, no manual waits. expect() polls until the condition holds or the timeout expires.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57839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Evidence, produced automatically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66928" y="932688"/>
            <a:ext cx="11057839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171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Every test - passed or failed - records a trace, a video and a screenshot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66928" y="1371600"/>
            <a:ext cx="11057839" cy="18288"/>
          </a:xfrm>
          <a:prstGeom prst="rect">
            <a:avLst/>
          </a:prstGeom>
          <a:solidFill>
            <a:srgbClr val="D9D9DE"/>
          </a:solidFill>
          <a:ln/>
        </p:spPr>
      </p:sp>
      <p:sp>
        <p:nvSpPr>
          <p:cNvPr id="5" name="Shape 3"/>
          <p:cNvSpPr/>
          <p:nvPr/>
        </p:nvSpPr>
        <p:spPr>
          <a:xfrm>
            <a:off x="566928" y="1627632"/>
            <a:ext cx="5300320" cy="3017520"/>
          </a:xfrm>
          <a:prstGeom prst="roundRect">
            <a:avLst>
              <a:gd name="adj" fmla="val 2424"/>
            </a:avLst>
          </a:prstGeom>
          <a:solidFill>
            <a:srgbClr val="F6F7F9"/>
          </a:solidFill>
          <a:ln w="12700">
            <a:solidFill>
              <a:srgbClr val="D9D9D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86384" y="1810512"/>
            <a:ext cx="486140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each run produces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786384" y="2231136"/>
            <a:ext cx="4861408" cy="2194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playwright-report/index.html - the run, test by test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Trace viewer - replay each step with the DOM, network and console at that moment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Video and screenshot per test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reports/junit.xml for CI, results.json for reporting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324448" y="1627632"/>
            <a:ext cx="5300320" cy="3017520"/>
          </a:xfrm>
          <a:prstGeom prst="roundRect">
            <a:avLst>
              <a:gd name="adj" fmla="val 2424"/>
            </a:avLst>
          </a:prstGeom>
          <a:solidFill>
            <a:srgbClr val="F6F7F9"/>
          </a:solidFill>
          <a:ln w="12700">
            <a:solidFill>
              <a:srgbClr val="D9D9D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543904" y="1810512"/>
            <a:ext cx="486140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Why it matters here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6543904" y="2231136"/>
            <a:ext cx="4861408" cy="2194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failure comes with proof, not "it did not work"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QA and developers look at the same artefact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trace shows the state before the failure, so no re-running to reproduce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Acceptance evidence for a ticket is a by-product, not extra work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566928" y="4873752"/>
            <a:ext cx="11057839" cy="868680"/>
          </a:xfrm>
          <a:prstGeom prst="roundRect">
            <a:avLst>
              <a:gd name="adj" fmla="val 6316"/>
            </a:avLst>
          </a:prstGeom>
          <a:solidFill>
            <a:srgbClr val="1E1E24"/>
          </a:solidFill>
          <a:ln w="12700">
            <a:solidFill>
              <a:srgbClr val="1E1E2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68096" y="5020056"/>
            <a:ext cx="10655503" cy="5760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8E8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npm test                 # 13 checks, ~1 minute</a:t>
            </a:r>
            <a:endParaRPr lang="en-US" sz="12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8E8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npm run report           # opens the HTML report with traces and videos inline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B5FA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011680"/>
            <a:ext cx="1828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400" b="1" dirty="0">
                <a:solidFill>
                  <a:srgbClr val="FFFFFF">
                    <a:alpha val="45000"/>
                  </a:srgbClr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</a:t>
            </a:r>
            <a:endParaRPr lang="en-US" sz="6400" dirty="0"/>
          </a:p>
        </p:txBody>
      </p:sp>
      <p:sp>
        <p:nvSpPr>
          <p:cNvPr id="3" name="Text 1"/>
          <p:cNvSpPr/>
          <p:nvPr/>
        </p:nvSpPr>
        <p:spPr>
          <a:xfrm>
            <a:off x="566928" y="2926080"/>
            <a:ext cx="11057839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How AI changed the effort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66928" y="3794760"/>
            <a:ext cx="9229039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D8E6F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This suite did not exist before. Not because nobody wanted it - because writing one by hand costs days that nobody had.</a:t>
            </a:r>
            <a:endParaRPr lang="en-US" sz="15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57839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By hand, or with the agent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66928" y="932688"/>
            <a:ext cx="11057839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171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same 13 checks, the same site, the same evidence - the only difference is how long it takes to exist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66928" y="1371600"/>
            <a:ext cx="11057839" cy="18288"/>
          </a:xfrm>
          <a:prstGeom prst="rect">
            <a:avLst/>
          </a:prstGeom>
          <a:solidFill>
            <a:srgbClr val="D9D9DE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627632"/>
            <a:ext cx="25603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Written by hand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3310128" y="1627632"/>
            <a:ext cx="6211519" cy="731520"/>
          </a:xfrm>
          <a:prstGeom prst="roundRect">
            <a:avLst>
              <a:gd name="adj" fmla="val 6250"/>
            </a:avLst>
          </a:prstGeom>
          <a:solidFill>
            <a:srgbClr val="F1F2F4"/>
          </a:solidFill>
          <a:ln w="12700">
            <a:solidFill>
              <a:srgbClr val="F1F2F4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310128" y="1627632"/>
            <a:ext cx="6211519" cy="731520"/>
          </a:xfrm>
          <a:prstGeom prst="roundRect">
            <a:avLst>
              <a:gd name="adj" fmla="val 6250"/>
            </a:avLst>
          </a:prstGeom>
          <a:solidFill>
            <a:srgbClr val="B91C1C"/>
          </a:solidFill>
          <a:ln w="12700">
            <a:solidFill>
              <a:srgbClr val="B91C1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704527" y="1627632"/>
            <a:ext cx="1737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B91C1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~4 days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566928" y="2724912"/>
            <a:ext cx="25603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With the agent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3310128" y="2724912"/>
            <a:ext cx="6211519" cy="731520"/>
          </a:xfrm>
          <a:prstGeom prst="roundRect">
            <a:avLst>
              <a:gd name="adj" fmla="val 6250"/>
            </a:avLst>
          </a:prstGeom>
          <a:solidFill>
            <a:srgbClr val="F1F2F4"/>
          </a:solidFill>
          <a:ln w="12700">
            <a:solidFill>
              <a:srgbClr val="F1F2F4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310128" y="2724912"/>
            <a:ext cx="388220" cy="731520"/>
          </a:xfrm>
          <a:prstGeom prst="roundRect">
            <a:avLst>
              <a:gd name="adj" fmla="val 11777"/>
            </a:avLst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704527" y="2724912"/>
            <a:ext cx="1737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5803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~2 hours</a:t>
            </a:r>
            <a:endParaRPr lang="en-US" sz="17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3639312"/>
          <a:ext cx="11055096" cy="914400"/>
        </p:xfrm>
        <a:graphic>
          <a:graphicData uri="http://schemas.openxmlformats.org/drawingml/2006/table">
            <a:tbl>
              <a:tblPr/>
              <a:tblGrid>
                <a:gridCol w="5760720"/>
                <a:gridCol w="2651760"/>
                <a:gridCol w="2642616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The same job, step by step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5FA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By hand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5FA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With the agent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5FA5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E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Set up the tool, the login and the reporting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E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half a day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E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~15 min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E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Find the right field on every screen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E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~1 day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E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minutes - it reads the pages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E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Write the 13 checks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E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~1.5 days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E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~40 min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E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Chase down why they are unreliable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E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~1 day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E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~30 min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9"/>
                    </a:solidFill>
                  </a:tcPr>
                </a:tc>
              </a:tr>
            </a:tbl>
          </a:graphicData>
        </a:graphic>
      </p:graphicFrame>
      <p:sp>
        <p:nvSpPr>
          <p:cNvPr id="14" name="Text 11"/>
          <p:cNvSpPr/>
          <p:nvPr/>
        </p:nvSpPr>
        <p:spPr>
          <a:xfrm>
            <a:off x="566928" y="5605272"/>
            <a:ext cx="11057839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7171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"By hand" is an estimate built from those four lines. "With the agent" was measured during the session.</a:t>
            </a:r>
            <a:endParaRPr lang="en-US" sz="1150" dirty="0"/>
          </a:p>
        </p:txBody>
      </p:sp>
      <p:sp>
        <p:nvSpPr>
          <p:cNvPr id="15" name="Text 12"/>
          <p:cNvSpPr/>
          <p:nvPr/>
        </p:nvSpPr>
        <p:spPr>
          <a:xfrm>
            <a:off x="566928" y="5925312"/>
            <a:ext cx="11057839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B5FA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Next: the suite running live, against UAT.</a:t>
            </a:r>
            <a:endParaRPr lang="en-US" sz="17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57839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Why it is faster - four reasons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66928" y="932688"/>
            <a:ext cx="11057839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171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None of them is "it types quickly"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66928" y="1371600"/>
            <a:ext cx="11057839" cy="18288"/>
          </a:xfrm>
          <a:prstGeom prst="rect">
            <a:avLst/>
          </a:prstGeom>
          <a:solidFill>
            <a:srgbClr val="D9D9DE"/>
          </a:solidFill>
          <a:ln/>
        </p:spPr>
      </p:sp>
      <p:sp>
        <p:nvSpPr>
          <p:cNvPr id="5" name="Shape 3"/>
          <p:cNvSpPr/>
          <p:nvPr/>
        </p:nvSpPr>
        <p:spPr>
          <a:xfrm>
            <a:off x="566928" y="1627632"/>
            <a:ext cx="2572436" cy="3886200"/>
          </a:xfrm>
          <a:prstGeom prst="roundRect">
            <a:avLst>
              <a:gd name="adj" fmla="val 2844"/>
            </a:avLst>
          </a:prstGeom>
          <a:solidFill>
            <a:srgbClr val="F6F7F9"/>
          </a:solidFill>
          <a:ln w="12700">
            <a:solidFill>
              <a:srgbClr val="D9D9D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1627632"/>
            <a:ext cx="2572436" cy="54864"/>
          </a:xfrm>
          <a:prstGeom prst="rect">
            <a:avLst/>
          </a:prstGeom>
          <a:solidFill>
            <a:srgbClr val="0B5FA5"/>
          </a:solidFill>
          <a:ln w="12700">
            <a:solidFill>
              <a:srgbClr val="0B5FA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68096" y="1792224"/>
            <a:ext cx="2170100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1. It reads the whole system at once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768096" y="2322576"/>
            <a:ext cx="217010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7171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person opens one file at a time.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768096" y="3090672"/>
            <a:ext cx="21701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 write a test you have to know exactly what each field and button is called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person clicks around and guesses, or searches the code by hand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agent reads the source and takes the real names straight from it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395396" y="1627632"/>
            <a:ext cx="2572436" cy="3886200"/>
          </a:xfrm>
          <a:prstGeom prst="roundRect">
            <a:avLst>
              <a:gd name="adj" fmla="val 2844"/>
            </a:avLst>
          </a:prstGeom>
          <a:solidFill>
            <a:srgbClr val="F6F7F9"/>
          </a:solidFill>
          <a:ln w="12700">
            <a:solidFill>
              <a:srgbClr val="D9D9D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395396" y="1627632"/>
            <a:ext cx="2572436" cy="54864"/>
          </a:xfrm>
          <a:prstGeom prst="rect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596564" y="1792224"/>
            <a:ext cx="2170100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2. It works without stopping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3596564" y="2322576"/>
            <a:ext cx="217010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7171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 meetings, no context switching.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3596564" y="3090672"/>
            <a:ext cx="21701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Work like this is normally spread over days, and part of every day goes on remembering where you were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agent does it as one continuous job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223864" y="1627632"/>
            <a:ext cx="2572436" cy="3886200"/>
          </a:xfrm>
          <a:prstGeom prst="roundRect">
            <a:avLst>
              <a:gd name="adj" fmla="val 2844"/>
            </a:avLst>
          </a:prstGeom>
          <a:solidFill>
            <a:srgbClr val="F6F7F9"/>
          </a:solidFill>
          <a:ln w="12700">
            <a:solidFill>
              <a:srgbClr val="D9D9DE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223864" y="1627632"/>
            <a:ext cx="2572436" cy="54864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425032" y="1792224"/>
            <a:ext cx="2170100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3. Try, fail, fix - in seconds</a:t>
            </a:r>
            <a:endParaRPr lang="en-US" sz="1450" dirty="0"/>
          </a:p>
        </p:txBody>
      </p:sp>
      <p:sp>
        <p:nvSpPr>
          <p:cNvPr id="18" name="Text 16"/>
          <p:cNvSpPr/>
          <p:nvPr/>
        </p:nvSpPr>
        <p:spPr>
          <a:xfrm>
            <a:off x="6425032" y="2322576"/>
            <a:ext cx="217010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7171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That loop is where the time really goes.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6425032" y="3090672"/>
            <a:ext cx="21701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Automation is mostly: run it, see what broke, fix it, run it again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For a person each turn of that loop costs minutes and patience; here it is seconds, repeated without fatigue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9052331" y="1627632"/>
            <a:ext cx="2572436" cy="3886200"/>
          </a:xfrm>
          <a:prstGeom prst="roundRect">
            <a:avLst>
              <a:gd name="adj" fmla="val 2844"/>
            </a:avLst>
          </a:prstGeom>
          <a:solidFill>
            <a:srgbClr val="F6F7F9"/>
          </a:solidFill>
          <a:ln w="12700">
            <a:solidFill>
              <a:srgbClr val="D9D9D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9052331" y="1627632"/>
            <a:ext cx="2572436" cy="54864"/>
          </a:xfrm>
          <a:prstGeom prst="rect">
            <a:avLst/>
          </a:prstGeom>
          <a:solidFill>
            <a:srgbClr val="0B5FA5"/>
          </a:solidFill>
          <a:ln w="12700">
            <a:solidFill>
              <a:srgbClr val="0B5FA5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253499" y="1792224"/>
            <a:ext cx="2170100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4. It does the parts we skip</a:t>
            </a:r>
            <a:endParaRPr lang="en-US" sz="1450" dirty="0"/>
          </a:p>
        </p:txBody>
      </p:sp>
      <p:sp>
        <p:nvSpPr>
          <p:cNvPr id="23" name="Text 21"/>
          <p:cNvSpPr/>
          <p:nvPr/>
        </p:nvSpPr>
        <p:spPr>
          <a:xfrm>
            <a:off x="9253499" y="2322576"/>
            <a:ext cx="217010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7171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Structure, evidence, documentation.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9253499" y="3090672"/>
            <a:ext cx="21701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Consistent naming, a README, screenshots and reports come as standard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These are the first things dropped when a deadline is close - and the reason the next person starts from nothing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566928" y="5696712"/>
            <a:ext cx="11057839" cy="658368"/>
          </a:xfrm>
          <a:prstGeom prst="roundRect">
            <a:avLst>
              <a:gd name="adj" fmla="val 8333"/>
            </a:avLst>
          </a:prstGeom>
          <a:solidFill>
            <a:srgbClr val="FDF6E7"/>
          </a:solidFill>
          <a:ln w="12700">
            <a:solidFill>
              <a:srgbClr val="EBD9AE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66928" y="5696712"/>
            <a:ext cx="64008" cy="658368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822960" y="5696712"/>
            <a:ext cx="10600639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person is fast at deciding what matters. The agent is fast at everything around it. That is why the pair beats either one alone.</a:t>
            </a:r>
            <a:endParaRPr lang="en-US" sz="13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57839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Where the human time still goes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66928" y="932688"/>
            <a:ext cx="11057839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171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agent is fast at the mechanical work; judgement stays with us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66928" y="1371600"/>
            <a:ext cx="11057839" cy="18288"/>
          </a:xfrm>
          <a:prstGeom prst="rect">
            <a:avLst/>
          </a:prstGeom>
          <a:solidFill>
            <a:srgbClr val="D9D9DE"/>
          </a:solidFill>
          <a:ln/>
        </p:spPr>
      </p:sp>
      <p:sp>
        <p:nvSpPr>
          <p:cNvPr id="5" name="Shape 3"/>
          <p:cNvSpPr/>
          <p:nvPr/>
        </p:nvSpPr>
        <p:spPr>
          <a:xfrm>
            <a:off x="566928" y="1627632"/>
            <a:ext cx="5300320" cy="3474720"/>
          </a:xfrm>
          <a:prstGeom prst="roundRect">
            <a:avLst>
              <a:gd name="adj" fmla="val 2105"/>
            </a:avLst>
          </a:prstGeom>
          <a:solidFill>
            <a:srgbClr val="F6F7F9"/>
          </a:solidFill>
          <a:ln w="12700">
            <a:solidFill>
              <a:srgbClr val="D9D9D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86384" y="1810512"/>
            <a:ext cx="486140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5803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agent does the work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786384" y="2231136"/>
            <a:ext cx="4861408" cy="2651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Writes the tests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Runs them and reads what failed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Fixes and runs again until they pass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Writes down what it learned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324448" y="1627632"/>
            <a:ext cx="5300320" cy="3474720"/>
          </a:xfrm>
          <a:prstGeom prst="roundRect">
            <a:avLst>
              <a:gd name="adj" fmla="val 2105"/>
            </a:avLst>
          </a:prstGeom>
          <a:solidFill>
            <a:srgbClr val="F6F7F9"/>
          </a:solidFill>
          <a:ln w="12700">
            <a:solidFill>
              <a:srgbClr val="D9D9D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543904" y="1810512"/>
            <a:ext cx="486140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5FA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 still decide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6543904" y="2231136"/>
            <a:ext cx="4861408" cy="2651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Which journeys are worth automating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Whether a failure is a test problem or a real bug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may touch production, and what may never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Nothing merges without a review - same bar as any code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566928" y="5760720"/>
            <a:ext cx="11057839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7171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workshop point: the cost of an automated check has dropped far enough that "we do not have time to automate it" is no longer the real constraint.</a:t>
            </a:r>
            <a:endParaRPr lang="en-US" sz="13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57839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Running it in CI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66928" y="932688"/>
            <a:ext cx="11057839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171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same command a developer runs is the command the pipeline runs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66928" y="1371600"/>
            <a:ext cx="11057839" cy="18288"/>
          </a:xfrm>
          <a:prstGeom prst="rect">
            <a:avLst/>
          </a:prstGeom>
          <a:solidFill>
            <a:srgbClr val="D9D9DE"/>
          </a:solidFill>
          <a:ln/>
        </p:spPr>
      </p:sp>
      <p:sp>
        <p:nvSpPr>
          <p:cNvPr id="5" name="Shape 3"/>
          <p:cNvSpPr/>
          <p:nvPr/>
        </p:nvSpPr>
        <p:spPr>
          <a:xfrm>
            <a:off x="566928" y="1627632"/>
            <a:ext cx="11057839" cy="2011680"/>
          </a:xfrm>
          <a:prstGeom prst="roundRect">
            <a:avLst>
              <a:gd name="adj" fmla="val 2727"/>
            </a:avLst>
          </a:prstGeom>
          <a:solidFill>
            <a:srgbClr val="1E1E24"/>
          </a:solidFill>
          <a:ln w="12700">
            <a:solidFill>
              <a:srgbClr val="1E1E2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68096" y="1773936"/>
            <a:ext cx="10655503" cy="17190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E8E8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any CI runner - CodeBuild, Bitbucket Pipelines, GitHub Actions</a:t>
            </a:r>
            <a:endParaRPr lang="en-US" sz="11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E8E8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npm ci</a:t>
            </a:r>
            <a:endParaRPr lang="en-US" sz="11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E8E8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npx playwright install --with-deps chromium</a:t>
            </a:r>
            <a:endParaRPr lang="en-US" sz="11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E8E8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npm test                       # retries once on CI, serial, ~1 minute</a:t>
            </a:r>
            <a:endParaRPr lang="en-US" sz="1150" dirty="0"/>
          </a:p>
          <a:p>
            <a:pPr indent="0" marL="0">
              <a:lnSpc>
                <a:spcPct val="112000"/>
              </a:lnSpc>
              <a:buNone/>
            </a:pPr>
            <a:endParaRPr lang="en-US" sz="11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E8E8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artefacts to keep: playwright-report/  reports/junit.xml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566928" y="3694176"/>
            <a:ext cx="11057839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7171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JUnit XML is what a CI dashboard reads; the HTML report is what a human opens.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66928" y="4142232"/>
            <a:ext cx="11057839" cy="402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450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Run on every pull request against the target branch, and nightly against UAT</a:t>
            </a:r>
            <a:endParaRPr lang="en-US" sz="145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450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red suite blocks the merge - that is the whole point of the investment</a:t>
            </a:r>
            <a:endParaRPr lang="en-US" sz="145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450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Still to arrange: CI credentials and a stable non-production account that does not rotate</a:t>
            </a:r>
            <a:endParaRPr lang="en-US" sz="14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237744"/>
          </a:xfrm>
          <a:prstGeom prst="rect">
            <a:avLst/>
          </a:prstGeom>
          <a:solidFill>
            <a:srgbClr val="0B5FA5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1005840"/>
            <a:ext cx="11057839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Where this goes next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66928" y="1920240"/>
            <a:ext cx="11057839" cy="402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5000"/>
              </a:lnSpc>
              <a:spcAft>
                <a:spcPts val="200"/>
              </a:spcAft>
              <a:buSzPct val="100000"/>
              <a:buChar char="•"/>
            </a:pPr>
            <a:r>
              <a:rPr lang="en-US" sz="1700" b="1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Extend coverage to the journeys that hurt most when they break</a:t>
            </a:r>
            <a:endParaRPr lang="en-US" sz="1700" dirty="0"/>
          </a:p>
          <a:p>
            <a:pPr lvl="1" indent="0" marL="0">
              <a:lnSpc>
                <a:spcPct val="115000"/>
              </a:lnSpc>
              <a:spcAft>
                <a:spcPts val="1000"/>
              </a:spcAft>
              <a:buNone/>
            </a:pPr>
            <a:r>
              <a:rPr lang="en-US" sz="145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Dispatch, job status transitions, the Benefit redemption path</a:t>
            </a:r>
            <a:endParaRPr lang="en-US" sz="1700" dirty="0"/>
          </a:p>
          <a:p>
            <a:pPr marL="342900" indent="-342900">
              <a:lnSpc>
                <a:spcPct val="115000"/>
              </a:lnSpc>
              <a:spcAft>
                <a:spcPts val="200"/>
              </a:spcAft>
              <a:buSzPct val="100000"/>
              <a:buChar char="•"/>
            </a:pPr>
            <a:r>
              <a:rPr lang="en-US" sz="1700" b="1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Put the suite in CI and make it a merge gate</a:t>
            </a:r>
            <a:endParaRPr lang="en-US" sz="1700" dirty="0"/>
          </a:p>
          <a:p>
            <a:pPr lvl="1" indent="0" marL="0">
              <a:lnSpc>
                <a:spcPct val="115000"/>
              </a:lnSpc>
              <a:spcAft>
                <a:spcPts val="1000"/>
              </a:spcAft>
              <a:buNone/>
            </a:pPr>
            <a:r>
              <a:rPr lang="en-US" sz="145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Needs CI permissions and a dedicated non-production account</a:t>
            </a:r>
            <a:endParaRPr lang="en-US" sz="1700" dirty="0"/>
          </a:p>
          <a:p>
            <a:pPr marL="342900" indent="-342900">
              <a:lnSpc>
                <a:spcPct val="115000"/>
              </a:lnSpc>
              <a:spcAft>
                <a:spcPts val="200"/>
              </a:spcAft>
              <a:buSzPct val="100000"/>
              <a:buChar char="•"/>
            </a:pPr>
            <a:r>
              <a:rPr lang="en-US" sz="1700" b="1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Treat the test data problem as a first-class task</a:t>
            </a:r>
            <a:endParaRPr lang="en-US" sz="1700" dirty="0"/>
          </a:p>
          <a:p>
            <a:pPr lvl="1" indent="0" marL="0">
              <a:lnSpc>
                <a:spcPct val="115000"/>
              </a:lnSpc>
              <a:spcAft>
                <a:spcPts val="1000"/>
              </a:spcAft>
              <a:buNone/>
            </a:pPr>
            <a:r>
              <a:rPr lang="en-US" sz="145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UAT programs without privileges blocked job creation - seed data should be known and stable, not discovered by a failing test</a:t>
            </a:r>
            <a:endParaRPr lang="en-US" sz="1700" dirty="0"/>
          </a:p>
          <a:p>
            <a:pPr marL="342900" indent="-342900">
              <a:lnSpc>
                <a:spcPct val="115000"/>
              </a:lnSpc>
              <a:spcAft>
                <a:spcPts val="200"/>
              </a:spcAft>
              <a:buSzPct val="100000"/>
              <a:buChar char="•"/>
            </a:pPr>
            <a:r>
              <a:rPr lang="en-US" sz="1700" b="1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Use the same pattern on the mobile app</a:t>
            </a:r>
            <a:endParaRPr lang="en-US" sz="1700" dirty="0"/>
          </a:p>
          <a:p>
            <a:pPr lvl="1" indent="0" marL="0">
              <a:lnSpc>
                <a:spcPct val="115000"/>
              </a:lnSpc>
              <a:spcAft>
                <a:spcPts val="1000"/>
              </a:spcAft>
              <a:buNone/>
            </a:pPr>
            <a:r>
              <a:rPr lang="en-US" sz="145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Different tool, same approach - see the mobile deck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566928" y="5943600"/>
            <a:ext cx="1105783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171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ai-workshop/roadside-web   |   github.com/bulubuloa/AS.APAC.AI.Workshop   |   Hoang Quach - Vietnam 2026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International SOS - APAC Aspire Digital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Web Test Automation with Playwright</dc:title>
  <dc:subject>PptxGenJS Presentation</dc:subject>
  <dc:creator>Hoang Quach</dc:creator>
  <cp:lastModifiedBy>Hoang Quach</cp:lastModifiedBy>
  <cp:revision>1</cp:revision>
  <dcterms:created xsi:type="dcterms:W3CDTF">2026-09-28T09:46:11Z</dcterms:created>
  <dcterms:modified xsi:type="dcterms:W3CDTF">2026-09-28T09:46:11Z</dcterms:modified>
</cp:coreProperties>
</file>