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0B5FA5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1371600"/>
            <a:ext cx="11057839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B5F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VIETNAM 2026 - ENGINEERING WORKING SESSIONS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1783080"/>
            <a:ext cx="11057839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 Test Automation</a:t>
            </a:r>
            <a:endParaRPr lang="en-US" sz="4200" dirty="0"/>
          </a:p>
          <a:p>
            <a:pPr indent="0" marL="0">
              <a:buNone/>
            </a:pPr>
            <a:r>
              <a:rPr lang="en-US" sz="4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 Playwright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566928" y="3017520"/>
            <a:ext cx="9686239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runnable smoke suite for the RoadSide agent portal (MSU), built and verified against the live UAT environment.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66928" y="4114800"/>
            <a:ext cx="1645920" cy="36576"/>
          </a:xfrm>
          <a:prstGeom prst="rect">
            <a:avLst/>
          </a:prstGeom>
          <a:solidFill>
            <a:srgbClr val="0B5FA5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4389120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2 - QA automation working lab   |   Hoang Quach   |   RSA / GAN on roadside-uat.aspireasia.net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automate the web portal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the manual regression currently costs us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1057839" cy="18288"/>
          </a:xfrm>
          <a:prstGeom prst="rect">
            <a:avLst/>
          </a:prstGeom>
          <a:solidFill>
            <a:srgbClr val="D9D9DE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627632"/>
            <a:ext cx="5300320" cy="3566160"/>
          </a:xfrm>
          <a:prstGeom prst="roundRect">
            <a:avLst>
              <a:gd name="adj" fmla="val 2051"/>
            </a:avLst>
          </a:prstGeom>
          <a:solidFill>
            <a:srgbClr val="F6F7F9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1810512"/>
            <a:ext cx="48614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 - manual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86384" y="2231136"/>
            <a:ext cx="4861408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release, QA re-checks the same journeys by hand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Regressions are found late, often after deployment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Evidence is a screenshot pasted into a ticket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Nobody re-tests the boring paths under time pressure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Knowledge lives in one tester’s head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324448" y="1627632"/>
            <a:ext cx="5300320" cy="3566160"/>
          </a:xfrm>
          <a:prstGeom prst="roundRect">
            <a:avLst>
              <a:gd name="adj" fmla="val 2051"/>
            </a:avLst>
          </a:prstGeom>
          <a:solidFill>
            <a:srgbClr val="F6F7F9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43904" y="1810512"/>
            <a:ext cx="48614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 an automated suite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543904" y="2231136"/>
            <a:ext cx="4861408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same 13 checks run in about one minute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regression fails the run before QA ever sees it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Evidence is produced automatically: trace, video, screenshot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suite is the written-down definition of "it still works"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Anyone can run it - one command, no tribal knowledge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66928" y="5760720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Automation does not replace QA. It takes the repetitive regression pass off their plate so they can test what is actually new.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is Playwright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 open-source browser automation framework from Microsoft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1057839" cy="18288"/>
          </a:xfrm>
          <a:prstGeom prst="rect">
            <a:avLst/>
          </a:prstGeom>
          <a:solidFill>
            <a:srgbClr val="D9D9DE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627632"/>
            <a:ext cx="11057839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5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API drives Chromium, Firefox and WebKit</a:t>
            </a:r>
            <a:endParaRPr lang="en-US" sz="155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Same test, three engines - and mobile-browser emulation for responsive checks</a:t>
            </a:r>
            <a:endParaRPr lang="en-US" sz="1550" dirty="0"/>
          </a:p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5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Auto-waiting is built in</a:t>
            </a:r>
            <a:endParaRPr lang="en-US" sz="155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action waits for the element to be visible, stable and enabled - no sleep() calls, which is where flaky suites come from</a:t>
            </a:r>
            <a:endParaRPr lang="en-US" sz="1550" dirty="0"/>
          </a:p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5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Tests are TypeScript</a:t>
            </a:r>
            <a:endParaRPr lang="en-US" sz="155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Same language and tooling as a front-end developer already uses; types catch selector mistakes before a run</a:t>
            </a:r>
            <a:endParaRPr lang="en-US" sz="1550" dirty="0"/>
          </a:p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5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Evidence is first class</a:t>
            </a:r>
            <a:endParaRPr lang="en-US" sz="155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HTML report, video, screenshots and a trace viewer that replays the run step by step with the DOM at each point</a:t>
            </a:r>
            <a:endParaRPr lang="en-US" sz="1550" dirty="0"/>
          </a:p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5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Free and vendor-neutral</a:t>
            </a:r>
            <a:endParaRPr lang="en-US" sz="155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licence, no per-seat cost, no cloud dependency - it runs on a laptop and in CI the same way</a:t>
            </a:r>
            <a:endParaRPr lang="en-US" sz="15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Playwright works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Think of it as a tester who never gets tired, never gets bored, and never forgets a step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1057839" cy="18288"/>
          </a:xfrm>
          <a:prstGeom prst="rect">
            <a:avLst/>
          </a:prstGeom>
          <a:solidFill>
            <a:srgbClr val="D9D9DE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627632"/>
            <a:ext cx="4754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we write down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03120"/>
            <a:ext cx="292608" cy="292608"/>
          </a:xfrm>
          <a:prstGeom prst="ellipse">
            <a:avLst/>
          </a:prstGeom>
          <a:solidFill>
            <a:srgbClr val="0B5FA5"/>
          </a:solidFill>
          <a:ln w="12700">
            <a:solidFill>
              <a:srgbClr val="0B5FA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210312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969264" y="2084832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Type the user name into the box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969264" y="2395728"/>
            <a:ext cx="4526280" cy="384048"/>
          </a:xfrm>
          <a:prstGeom prst="roundRect">
            <a:avLst>
              <a:gd name="adj" fmla="val 11905"/>
            </a:avLst>
          </a:prstGeom>
          <a:solidFill>
            <a:srgbClr val="1E1E24"/>
          </a:solidFill>
          <a:ln w="12700">
            <a:solidFill>
              <a:srgbClr val="1E1E2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78992" y="2395728"/>
            <a:ext cx="4343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page.getByPlaceholder('User name').fill('admin.ko')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66928" y="3035808"/>
            <a:ext cx="292608" cy="292608"/>
          </a:xfrm>
          <a:prstGeom prst="ellipse">
            <a:avLst/>
          </a:prstGeom>
          <a:solidFill>
            <a:srgbClr val="0B5FA5"/>
          </a:solidFill>
          <a:ln w="12700">
            <a:solidFill>
              <a:srgbClr val="0B5FA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303580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969264" y="3017520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Type the password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969264" y="3328416"/>
            <a:ext cx="4526280" cy="384048"/>
          </a:xfrm>
          <a:prstGeom prst="roundRect">
            <a:avLst>
              <a:gd name="adj" fmla="val 11905"/>
            </a:avLst>
          </a:prstGeom>
          <a:solidFill>
            <a:srgbClr val="1E1E24"/>
          </a:solidFill>
          <a:ln w="12700">
            <a:solidFill>
              <a:srgbClr val="1E1E2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78992" y="3328416"/>
            <a:ext cx="4343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page.getByPlaceholder('Password').fill('••••••')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66928" y="3968496"/>
            <a:ext cx="292608" cy="292608"/>
          </a:xfrm>
          <a:prstGeom prst="ellipse">
            <a:avLst/>
          </a:prstGeom>
          <a:solidFill>
            <a:srgbClr val="0B5FA5"/>
          </a:solidFill>
          <a:ln w="12700">
            <a:solidFill>
              <a:srgbClr val="0B5FA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6928" y="3968496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969264" y="3950208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Press the Sign in button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969264" y="4261104"/>
            <a:ext cx="4526280" cy="384048"/>
          </a:xfrm>
          <a:prstGeom prst="roundRect">
            <a:avLst>
              <a:gd name="adj" fmla="val 11905"/>
            </a:avLst>
          </a:prstGeom>
          <a:solidFill>
            <a:srgbClr val="1E1E24"/>
          </a:solidFill>
          <a:ln w="12700">
            <a:solidFill>
              <a:srgbClr val="1E1E2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78992" y="4261104"/>
            <a:ext cx="4343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page.locator('#btnSignIn').click()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66928" y="4901184"/>
            <a:ext cx="292608" cy="292608"/>
          </a:xfrm>
          <a:prstGeom prst="ellipse">
            <a:avLst/>
          </a:prstGeom>
          <a:solidFill>
            <a:srgbClr val="0B5FA5"/>
          </a:solidFill>
          <a:ln w="12700">
            <a:solidFill>
              <a:srgbClr val="0B5FA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6928" y="490118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969264" y="4882896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Check we landed on the job list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969264" y="5193792"/>
            <a:ext cx="4526280" cy="384048"/>
          </a:xfrm>
          <a:prstGeom prst="roundRect">
            <a:avLst>
              <a:gd name="adj" fmla="val 11905"/>
            </a:avLst>
          </a:prstGeom>
          <a:solidFill>
            <a:srgbClr val="1E1E24"/>
          </a:solidFill>
          <a:ln w="12700">
            <a:solidFill>
              <a:srgbClr val="1E1E2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78992" y="5193792"/>
            <a:ext cx="4343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expect(page).toHaveURL(/msu\/joblst/)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623560" y="1627632"/>
            <a:ext cx="5943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happens on the real site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5623560" y="2011680"/>
            <a:ext cx="5989320" cy="2487168"/>
          </a:xfrm>
          <a:prstGeom prst="roundRect">
            <a:avLst>
              <a:gd name="adj" fmla="val 2206"/>
            </a:avLst>
          </a:prstGeom>
          <a:solidFill>
            <a:srgbClr val="FFFFFF"/>
          </a:solidFill>
          <a:ln w="12700">
            <a:solidFill>
              <a:srgbClr val="C9CDD4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623560" y="2011680"/>
            <a:ext cx="5989320" cy="329184"/>
          </a:xfrm>
          <a:prstGeom prst="rect">
            <a:avLst/>
          </a:prstGeom>
          <a:solidFill>
            <a:srgbClr val="EDEEF2"/>
          </a:solidFill>
          <a:ln w="12700">
            <a:solidFill>
              <a:srgbClr val="C9CDD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769864" y="2121408"/>
            <a:ext cx="109728" cy="109728"/>
          </a:xfrm>
          <a:prstGeom prst="ellipse">
            <a:avLst/>
          </a:prstGeom>
          <a:solidFill>
            <a:srgbClr val="E06C61"/>
          </a:solidFill>
          <a:ln w="12700">
            <a:solidFill>
              <a:srgbClr val="E06C61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52744" y="2121408"/>
            <a:ext cx="109728" cy="109728"/>
          </a:xfrm>
          <a:prstGeom prst="ellipse">
            <a:avLst/>
          </a:prstGeom>
          <a:solidFill>
            <a:srgbClr val="E3B341"/>
          </a:solidFill>
          <a:ln w="12700">
            <a:solidFill>
              <a:srgbClr val="E3B341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135624" y="2121408"/>
            <a:ext cx="109728" cy="109728"/>
          </a:xfrm>
          <a:prstGeom prst="ellipse">
            <a:avLst/>
          </a:prstGeom>
          <a:solidFill>
            <a:srgbClr val="7DC46B"/>
          </a:solidFill>
          <a:ln w="12700">
            <a:solidFill>
              <a:srgbClr val="7DC46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409944" y="2075688"/>
            <a:ext cx="4983480" cy="201168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D6D9D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501384" y="2075688"/>
            <a:ext cx="4892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roadside-uat.aspireasia.net/auth/login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5879592" y="2779776"/>
            <a:ext cx="3931920" cy="402336"/>
          </a:xfrm>
          <a:prstGeom prst="roundRect">
            <a:avLst>
              <a:gd name="adj" fmla="val 11364"/>
            </a:avLst>
          </a:prstGeom>
          <a:solidFill>
            <a:srgbClr val="FBFBFC"/>
          </a:solidFill>
          <a:ln w="12700">
            <a:solidFill>
              <a:srgbClr val="C9CDD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879592" y="256032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 name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007608" y="2779776"/>
            <a:ext cx="367588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admin.ko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9948672" y="2834640"/>
            <a:ext cx="274320" cy="274320"/>
          </a:xfrm>
          <a:prstGeom prst="ellipse">
            <a:avLst/>
          </a:prstGeom>
          <a:solidFill>
            <a:srgbClr val="0B5FA5"/>
          </a:solidFill>
          <a:ln w="12700">
            <a:solidFill>
              <a:srgbClr val="0B5FA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948672" y="283464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5879592" y="3474720"/>
            <a:ext cx="3931920" cy="402336"/>
          </a:xfrm>
          <a:prstGeom prst="roundRect">
            <a:avLst>
              <a:gd name="adj" fmla="val 11364"/>
            </a:avLst>
          </a:prstGeom>
          <a:solidFill>
            <a:srgbClr val="FBFBFC"/>
          </a:solidFill>
          <a:ln w="12700">
            <a:solidFill>
              <a:srgbClr val="C9CDD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879592" y="325526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Password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6007608" y="3474720"/>
            <a:ext cx="367588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••••••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9948672" y="3529584"/>
            <a:ext cx="274320" cy="274320"/>
          </a:xfrm>
          <a:prstGeom prst="ellipse">
            <a:avLst/>
          </a:prstGeom>
          <a:solidFill>
            <a:srgbClr val="0B5FA5"/>
          </a:solidFill>
          <a:ln w="12700">
            <a:solidFill>
              <a:srgbClr val="0B5FA5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948672" y="352958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250" dirty="0"/>
          </a:p>
        </p:txBody>
      </p:sp>
      <p:sp>
        <p:nvSpPr>
          <p:cNvPr id="44" name="Shape 42"/>
          <p:cNvSpPr/>
          <p:nvPr/>
        </p:nvSpPr>
        <p:spPr>
          <a:xfrm>
            <a:off x="5879592" y="4078224"/>
            <a:ext cx="1371600" cy="384048"/>
          </a:xfrm>
          <a:prstGeom prst="roundRect">
            <a:avLst>
              <a:gd name="adj" fmla="val 11905"/>
            </a:avLst>
          </a:prstGeom>
          <a:solidFill>
            <a:srgbClr val="0B5FA5"/>
          </a:solidFill>
          <a:ln w="12700">
            <a:solidFill>
              <a:srgbClr val="0B5FA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879592" y="4078224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Sign in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7397496" y="4133088"/>
            <a:ext cx="274320" cy="274320"/>
          </a:xfrm>
          <a:prstGeom prst="ellipse">
            <a:avLst/>
          </a:prstGeom>
          <a:solidFill>
            <a:srgbClr val="0B5FA5"/>
          </a:solidFill>
          <a:ln w="12700">
            <a:solidFill>
              <a:srgbClr val="0B5FA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397496" y="413308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250" dirty="0"/>
          </a:p>
        </p:txBody>
      </p:sp>
      <p:sp>
        <p:nvSpPr>
          <p:cNvPr id="48" name="Text 46"/>
          <p:cNvSpPr/>
          <p:nvPr/>
        </p:nvSpPr>
        <p:spPr>
          <a:xfrm>
            <a:off x="5623560" y="4553712"/>
            <a:ext cx="5989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↓</a:t>
            </a:r>
            <a:endParaRPr lang="en-US" sz="1800" dirty="0"/>
          </a:p>
        </p:txBody>
      </p:sp>
      <p:sp>
        <p:nvSpPr>
          <p:cNvPr id="49" name="Shape 47"/>
          <p:cNvSpPr/>
          <p:nvPr/>
        </p:nvSpPr>
        <p:spPr>
          <a:xfrm>
            <a:off x="5623560" y="4782312"/>
            <a:ext cx="598932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C9CDD4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5623560" y="4782312"/>
            <a:ext cx="5989320" cy="329184"/>
          </a:xfrm>
          <a:prstGeom prst="rect">
            <a:avLst/>
          </a:prstGeom>
          <a:solidFill>
            <a:srgbClr val="EDEEF2"/>
          </a:solidFill>
          <a:ln w="12700">
            <a:solidFill>
              <a:srgbClr val="C9CDD4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769864" y="4892040"/>
            <a:ext cx="109728" cy="109728"/>
          </a:xfrm>
          <a:prstGeom prst="ellipse">
            <a:avLst/>
          </a:prstGeom>
          <a:solidFill>
            <a:srgbClr val="E06C61"/>
          </a:solidFill>
          <a:ln w="12700">
            <a:solidFill>
              <a:srgbClr val="E06C61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5952744" y="4892040"/>
            <a:ext cx="109728" cy="109728"/>
          </a:xfrm>
          <a:prstGeom prst="ellipse">
            <a:avLst/>
          </a:prstGeom>
          <a:solidFill>
            <a:srgbClr val="E3B341"/>
          </a:solidFill>
          <a:ln w="12700">
            <a:solidFill>
              <a:srgbClr val="E3B341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135624" y="4892040"/>
            <a:ext cx="109728" cy="109728"/>
          </a:xfrm>
          <a:prstGeom prst="ellipse">
            <a:avLst/>
          </a:prstGeom>
          <a:solidFill>
            <a:srgbClr val="7DC46B"/>
          </a:solidFill>
          <a:ln w="12700">
            <a:solidFill>
              <a:srgbClr val="7DC46B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409944" y="4846320"/>
            <a:ext cx="4983480" cy="201168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D6D9DF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501384" y="4846320"/>
            <a:ext cx="4892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roadside-uat.aspireasia.net/msu/joblst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5879592" y="5422392"/>
            <a:ext cx="3017520" cy="118872"/>
          </a:xfrm>
          <a:prstGeom prst="rect">
            <a:avLst/>
          </a:prstGeom>
          <a:solidFill>
            <a:srgbClr val="CFD4DB"/>
          </a:solidFill>
          <a:ln w="12700">
            <a:solidFill>
              <a:srgbClr val="CFD4DB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879592" y="5641848"/>
            <a:ext cx="3017520" cy="118872"/>
          </a:xfrm>
          <a:prstGeom prst="rect">
            <a:avLst/>
          </a:prstGeom>
          <a:solidFill>
            <a:srgbClr val="E7E9ED"/>
          </a:solidFill>
          <a:ln w="12700">
            <a:solidFill>
              <a:srgbClr val="E7E9ED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879592" y="5861304"/>
            <a:ext cx="3017520" cy="118872"/>
          </a:xfrm>
          <a:prstGeom prst="rect">
            <a:avLst/>
          </a:prstGeom>
          <a:solidFill>
            <a:srgbClr val="E7E9ED"/>
          </a:solidFill>
          <a:ln w="12700">
            <a:solidFill>
              <a:srgbClr val="E7E9ED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9171432" y="5550408"/>
            <a:ext cx="274320" cy="274320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9171432" y="555040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250" dirty="0"/>
          </a:p>
        </p:txBody>
      </p:sp>
      <p:sp>
        <p:nvSpPr>
          <p:cNvPr id="61" name="Text 59"/>
          <p:cNvSpPr/>
          <p:nvPr/>
        </p:nvSpPr>
        <p:spPr>
          <a:xfrm>
            <a:off x="9537192" y="55504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Job list - as expected</a:t>
            </a:r>
            <a:endParaRPr lang="en-US" sz="1150" dirty="0"/>
          </a:p>
        </p:txBody>
      </p:sp>
      <p:sp>
        <p:nvSpPr>
          <p:cNvPr id="62" name="Text 60"/>
          <p:cNvSpPr/>
          <p:nvPr/>
        </p:nvSpPr>
        <p:spPr>
          <a:xfrm>
            <a:off x="566928" y="6291072"/>
            <a:ext cx="11057839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Four written steps, run against the real site, with a video and screenshots kept as proof. Step 4 is the one that matters - it is where the test decides pass or fail.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5FA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01168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>
                    <a:alpha val="45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6400" dirty="0"/>
          </a:p>
        </p:txBody>
      </p:sp>
      <p:sp>
        <p:nvSpPr>
          <p:cNvPr id="3" name="Text 1"/>
          <p:cNvSpPr/>
          <p:nvPr/>
        </p:nvSpPr>
        <p:spPr>
          <a:xfrm>
            <a:off x="566928" y="2926080"/>
            <a:ext cx="11057839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we built for RoadSide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66928" y="3794760"/>
            <a:ext cx="9229039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D8E6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Five features, thirteen checks, running against the live UAT portal - not a demo app.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suite: 5 features, 13 checks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ai-workshop/roadside-web - runs against roadside-uat.aspireasia.net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1057839" cy="18288"/>
          </a:xfrm>
          <a:prstGeom prst="rect">
            <a:avLst/>
          </a:prstGeom>
          <a:solidFill>
            <a:srgbClr val="D9D9DE"/>
          </a:solidFill>
          <a:ln/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27632"/>
          <a:ext cx="110642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822960"/>
                <a:gridCol w="795528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Feature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FA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Checks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FA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What it proves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FA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Login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Valid sign-in reaches the job list; a wrong password stays put and shows the server message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Client Dealer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List filters by client and every row matches; detail opens with the same code and name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Provider User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List columns are intact; detail matches the row and carries the Mobile Provider flag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Announcement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List renders; a draft is created end to end; its detail shows title, status and content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Job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Search by id; detail opens from the list; a job is created through the full cascade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4279392"/>
            <a:ext cx="2065264" cy="1143000"/>
          </a:xfrm>
          <a:prstGeom prst="roundRect">
            <a:avLst>
              <a:gd name="adj" fmla="val 6400"/>
            </a:avLst>
          </a:prstGeom>
          <a:solidFill>
            <a:srgbClr val="E8F0F8"/>
          </a:solidFill>
          <a:ln w="12700">
            <a:solidFill>
              <a:srgbClr val="E8F0F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4407408"/>
            <a:ext cx="206526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5F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658368" y="4956048"/>
            <a:ext cx="188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automated checks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2815072" y="4279392"/>
            <a:ext cx="2065264" cy="1143000"/>
          </a:xfrm>
          <a:prstGeom prst="roundRect">
            <a:avLst>
              <a:gd name="adj" fmla="val 6400"/>
            </a:avLst>
          </a:prstGeom>
          <a:solidFill>
            <a:srgbClr val="E8F0F8"/>
          </a:solidFill>
          <a:ln w="12700">
            <a:solidFill>
              <a:srgbClr val="E8F0F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2815072" y="4407408"/>
            <a:ext cx="206526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5F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~1 min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2906512" y="4956048"/>
            <a:ext cx="188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full suite, serial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5063216" y="4279392"/>
            <a:ext cx="2065264" cy="1143000"/>
          </a:xfrm>
          <a:prstGeom prst="roundRect">
            <a:avLst>
              <a:gd name="adj" fmla="val 6400"/>
            </a:avLst>
          </a:prstGeom>
          <a:solidFill>
            <a:srgbClr val="E8F0F8"/>
          </a:solidFill>
          <a:ln w="12700">
            <a:solidFill>
              <a:srgbClr val="E8F0F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063216" y="4407408"/>
            <a:ext cx="206526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5F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3000" dirty="0"/>
          </a:p>
        </p:txBody>
      </p:sp>
      <p:sp>
        <p:nvSpPr>
          <p:cNvPr id="14" name="Text 11"/>
          <p:cNvSpPr/>
          <p:nvPr/>
        </p:nvSpPr>
        <p:spPr>
          <a:xfrm>
            <a:off x="5154656" y="4956048"/>
            <a:ext cx="188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records written per run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7311360" y="4279392"/>
            <a:ext cx="2065264" cy="1143000"/>
          </a:xfrm>
          <a:prstGeom prst="roundRect">
            <a:avLst>
              <a:gd name="adj" fmla="val 6400"/>
            </a:avLst>
          </a:prstGeom>
          <a:solidFill>
            <a:srgbClr val="E8F0F8"/>
          </a:solidFill>
          <a:ln w="12700">
            <a:solidFill>
              <a:srgbClr val="E8F0F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311360" y="4407408"/>
            <a:ext cx="206526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5F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546</a:t>
            </a:r>
            <a:endParaRPr lang="en-US" sz="3000" dirty="0"/>
          </a:p>
        </p:txBody>
      </p:sp>
      <p:sp>
        <p:nvSpPr>
          <p:cNvPr id="17" name="Text 14"/>
          <p:cNvSpPr/>
          <p:nvPr/>
        </p:nvSpPr>
        <p:spPr>
          <a:xfrm>
            <a:off x="7402800" y="4956048"/>
            <a:ext cx="188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lines of test code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9559503" y="4279392"/>
            <a:ext cx="2065264" cy="1143000"/>
          </a:xfrm>
          <a:prstGeom prst="roundRect">
            <a:avLst>
              <a:gd name="adj" fmla="val 6400"/>
            </a:avLst>
          </a:prstGeom>
          <a:solidFill>
            <a:srgbClr val="E8F0F8"/>
          </a:solidFill>
          <a:ln w="12700">
            <a:solidFill>
              <a:srgbClr val="E8F0F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559503" y="4407408"/>
            <a:ext cx="206526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5F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</a:t>
            </a:r>
            <a:endParaRPr lang="en-US" sz="3000" dirty="0"/>
          </a:p>
        </p:txBody>
      </p:sp>
      <p:sp>
        <p:nvSpPr>
          <p:cNvPr id="20" name="Text 17"/>
          <p:cNvSpPr/>
          <p:nvPr/>
        </p:nvSpPr>
        <p:spPr>
          <a:xfrm>
            <a:off x="9650943" y="4956048"/>
            <a:ext cx="188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passing on UAT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566928" y="5605272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 cases write real data (one announcement, one job). Every free-text field is prefixed [AUTO-TEST] so the rows are obvious and cleanable.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the suite is organised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Page objects keep the selectors in one place, so a UI change is a one-line fix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1057839" cy="18288"/>
          </a:xfrm>
          <a:prstGeom prst="rect">
            <a:avLst/>
          </a:prstGeom>
          <a:solidFill>
            <a:srgbClr val="D9D9DE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627632"/>
            <a:ext cx="11057839" cy="2286000"/>
          </a:xfrm>
          <a:prstGeom prst="roundRect">
            <a:avLst>
              <a:gd name="adj" fmla="val 2400"/>
            </a:avLst>
          </a:prstGeom>
          <a:solidFill>
            <a:srgbClr val="1E1E24"/>
          </a:solidFill>
          <a:ln w="12700">
            <a:solidFill>
              <a:srgbClr val="1E1E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773936"/>
            <a:ext cx="10655503" cy="1993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roadside-web/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pages/          LoginPage, JobPages, DealerPages, ProviderPages, AnnouncementPages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tests/          auth.setup.ts + one spec per feature (01-login … 05-job)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playwright.config.ts   serial, trace/video/screenshot ON, HTML + JUnit + JSON reporters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.env            base URL, account, environment-specific ids   (git-ignored)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reports/        junit.xml, results.json        playwright-report/  index.html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566928" y="3968496"/>
            <a:ext cx="1105783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spec per feature, one page object per screen - the shape a new joiner can guess.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66928" y="4325112"/>
            <a:ext cx="11057839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4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Environment values live in .env, never in the test</a:t>
            </a:r>
            <a:endParaRPr lang="en-US" sz="145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2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Client ids, job ids and programs differ per environment - hard-coding them is why suites "work on my machine"</a:t>
            </a:r>
            <a:endParaRPr lang="en-US" sz="1450" dirty="0"/>
          </a:p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4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Credentials are git-ignored</a:t>
            </a:r>
            <a:endParaRPr lang="en-US" sz="145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2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.env.example is committed as the template; the real .env never leaves the laptop</a:t>
            </a:r>
            <a:endParaRPr lang="en-US" sz="1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a test actually looks like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TC02.2 - the dealer detail must match the row it was opened from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1057839" cy="18288"/>
          </a:xfrm>
          <a:prstGeom prst="rect">
            <a:avLst/>
          </a:prstGeom>
          <a:solidFill>
            <a:srgbClr val="D9D9DE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627632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1E1E24"/>
          </a:solidFill>
          <a:ln w="12700">
            <a:solidFill>
              <a:srgbClr val="1E1E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773936"/>
            <a:ext cx="10655503" cy="2907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test('TC02.2 dealer detail opens from the list with matching code and name', async ({ page }) =&gt; {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list = new DealerListPage(page);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await list.goto();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await list.searchClient(CLIENT_ID);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first = list.rows.first();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code = (await first.locator('td:nth-child(4)').innerText()).trim();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name = (await first.locator('td:nth-child(5)').innerText()).trim();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detailPage = await list.openFirst();          // handles the new-tab link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detail = new DealerEditPage(detailPage);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await expect(detail.code).toHaveValue(code);        // auto-waits, retries, then fails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await expect(detail.name).toHaveValue(name);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});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66928" y="4882896"/>
            <a:ext cx="1105783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sleeps, no manual waits. expect() polls until the condition holds or the timeout expires.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Evidence, produced automatically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test - passed or failed - records a trace, a video and a screenshot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1057839" cy="18288"/>
          </a:xfrm>
          <a:prstGeom prst="rect">
            <a:avLst/>
          </a:prstGeom>
          <a:solidFill>
            <a:srgbClr val="D9D9DE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627632"/>
            <a:ext cx="5300320" cy="3017520"/>
          </a:xfrm>
          <a:prstGeom prst="roundRect">
            <a:avLst>
              <a:gd name="adj" fmla="val 2424"/>
            </a:avLst>
          </a:prstGeom>
          <a:solidFill>
            <a:srgbClr val="F6F7F9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1810512"/>
            <a:ext cx="48614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each run produces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86384" y="2231136"/>
            <a:ext cx="4861408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playwright-report/index.html - the run, test by test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Trace viewer - replay each step with the DOM, network and console at that moment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Video and screenshot per test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reports/junit.xml for CI, results.json for reporting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324448" y="1627632"/>
            <a:ext cx="5300320" cy="3017520"/>
          </a:xfrm>
          <a:prstGeom prst="roundRect">
            <a:avLst>
              <a:gd name="adj" fmla="val 2424"/>
            </a:avLst>
          </a:prstGeom>
          <a:solidFill>
            <a:srgbClr val="F6F7F9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43904" y="1810512"/>
            <a:ext cx="48614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it matters here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543904" y="2231136"/>
            <a:ext cx="4861408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failure comes with proof, not "it did not work"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QA and developers look at the same artefact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trace shows the state before the failure, so no re-running to reproduce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Acceptance evidence for a ticket is a by-product, not extra work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66928" y="4873752"/>
            <a:ext cx="11057839" cy="868680"/>
          </a:xfrm>
          <a:prstGeom prst="roundRect">
            <a:avLst>
              <a:gd name="adj" fmla="val 6316"/>
            </a:avLst>
          </a:prstGeom>
          <a:solidFill>
            <a:srgbClr val="1E1E24"/>
          </a:solidFill>
          <a:ln w="12700">
            <a:solidFill>
              <a:srgbClr val="1E1E2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68096" y="5020056"/>
            <a:ext cx="10655503" cy="5760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test                 # 13 checks, ~1 minute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report           # opens the HTML report with traces and videos inline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writing the tests revealed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Automation against a live environment finds things a demo app never would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1057839" cy="18288"/>
          </a:xfrm>
          <a:prstGeom prst="rect">
            <a:avLst/>
          </a:prstGeom>
          <a:solidFill>
            <a:srgbClr val="D9D9DE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627632"/>
            <a:ext cx="1105783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 create one job, five dropdowns must be filled in this exact order: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66928" y="1956816"/>
            <a:ext cx="1962851" cy="658368"/>
          </a:xfrm>
          <a:prstGeom prst="roundRect">
            <a:avLst>
              <a:gd name="adj" fmla="val 11111"/>
            </a:avLst>
          </a:prstGeom>
          <a:solidFill>
            <a:srgbClr val="E8F0F8"/>
          </a:solidFill>
          <a:ln w="12700">
            <a:solidFill>
              <a:srgbClr val="C9DA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2011680"/>
            <a:ext cx="1816547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Client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529779" y="1956816"/>
            <a:ext cx="3108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2840675" y="1956816"/>
            <a:ext cx="1962851" cy="658368"/>
          </a:xfrm>
          <a:prstGeom prst="roundRect">
            <a:avLst>
              <a:gd name="adj" fmla="val 11111"/>
            </a:avLst>
          </a:prstGeom>
          <a:solidFill>
            <a:srgbClr val="E8F0F8"/>
          </a:solidFill>
          <a:ln w="12700">
            <a:solidFill>
              <a:srgbClr val="C9DA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13827" y="2011680"/>
            <a:ext cx="1816547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Program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803526" y="1956816"/>
            <a:ext cx="3108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5114422" y="1956816"/>
            <a:ext cx="1962851" cy="658368"/>
          </a:xfrm>
          <a:prstGeom prst="roundRect">
            <a:avLst>
              <a:gd name="adj" fmla="val 11111"/>
            </a:avLst>
          </a:prstGeom>
          <a:solidFill>
            <a:srgbClr val="E8F0F8"/>
          </a:solidFill>
          <a:ln w="12700">
            <a:solidFill>
              <a:srgbClr val="C9DA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87574" y="2011680"/>
            <a:ext cx="1816547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Customer tier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077273" y="1956816"/>
            <a:ext cx="3108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88169" y="1956816"/>
            <a:ext cx="1962851" cy="658368"/>
          </a:xfrm>
          <a:prstGeom prst="roundRect">
            <a:avLst>
              <a:gd name="adj" fmla="val 11111"/>
            </a:avLst>
          </a:prstGeom>
          <a:solidFill>
            <a:srgbClr val="0B5FA5"/>
          </a:solidFill>
          <a:ln w="12700">
            <a:solidFill>
              <a:srgbClr val="0B5FA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461321" y="2011680"/>
            <a:ext cx="1816547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Privilege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9351020" y="1956816"/>
            <a:ext cx="3108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9661916" y="1956816"/>
            <a:ext cx="1962851" cy="658368"/>
          </a:xfrm>
          <a:prstGeom prst="roundRect">
            <a:avLst>
              <a:gd name="adj" fmla="val 11111"/>
            </a:avLst>
          </a:prstGeom>
          <a:solidFill>
            <a:srgbClr val="E8F0F8"/>
          </a:solidFill>
          <a:ln w="12700">
            <a:solidFill>
              <a:srgbClr val="C9DA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735068" y="2011680"/>
            <a:ext cx="1816547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 type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66928" y="2670048"/>
            <a:ext cx="1105783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Each one stays empty until the one before it is chosen - and if the privilege is missing, the job simply cannot be saved.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108960"/>
          <a:ext cx="11055096" cy="914400"/>
        </p:xfrm>
        <a:graphic>
          <a:graphicData uri="http://schemas.openxmlformats.org/drawingml/2006/table">
            <a:tbl>
              <a:tblPr/>
              <a:tblGrid>
                <a:gridCol w="5120640"/>
                <a:gridCol w="5934456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What we found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FA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Why it matters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FA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Nobody had written that chain down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 new developer or tester finds it out by failing. It is now in the test, so the next person inherits it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On UAT, only the four test programs can create a job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Honda’s real programs have no privilege attached - so a test that "fails" there is a data problem, not a code problem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 rejected save still answers "OK"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The real reason only appears in a pop-up. Easy for a person to miss, and it makes a failure look like the wrong thing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The dealer page cannot be edited at all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The Save button was removed - that data comes from the CMS. We assumed it was editable; it is not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</a:tbl>
          </a:graphicData>
        </a:graphic>
      </p:graphicFrame>
      <p:sp>
        <p:nvSpPr>
          <p:cNvPr id="22" name="Text 19"/>
          <p:cNvSpPr/>
          <p:nvPr/>
        </p:nvSpPr>
        <p:spPr>
          <a:xfrm>
            <a:off x="566928" y="5989320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None of this was in a document. It came out of pointing the tests at the real system - which is the argument for doing it against UAT rather than a mock.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5FA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01168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>
                    <a:alpha val="45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6400" dirty="0"/>
          </a:p>
        </p:txBody>
      </p:sp>
      <p:sp>
        <p:nvSpPr>
          <p:cNvPr id="3" name="Text 1"/>
          <p:cNvSpPr/>
          <p:nvPr/>
        </p:nvSpPr>
        <p:spPr>
          <a:xfrm>
            <a:off x="566928" y="2926080"/>
            <a:ext cx="11057839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AI changed the effort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66928" y="3794760"/>
            <a:ext cx="9229039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D8E6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suite was written by an AI agent driving the real application - measured, not estimated.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Building it with an AI agent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Claude Code, working in the repository and against the live UAT site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1057839" cy="18288"/>
          </a:xfrm>
          <a:prstGeom prst="rect">
            <a:avLst/>
          </a:prstGeom>
          <a:solidFill>
            <a:srgbClr val="D9D9DE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627632"/>
            <a:ext cx="1962851" cy="868680"/>
          </a:xfrm>
          <a:prstGeom prst="roundRect">
            <a:avLst>
              <a:gd name="adj" fmla="val 8421"/>
            </a:avLst>
          </a:prstGeom>
          <a:solidFill>
            <a:srgbClr val="E8F0F8"/>
          </a:solidFill>
          <a:ln w="12700">
            <a:solidFill>
              <a:srgbClr val="C9DA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682496"/>
            <a:ext cx="1816547" cy="7589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 the app’s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own screens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529779" y="1627632"/>
            <a:ext cx="31089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2840675" y="1627632"/>
            <a:ext cx="1962851" cy="868680"/>
          </a:xfrm>
          <a:prstGeom prst="roundRect">
            <a:avLst>
              <a:gd name="adj" fmla="val 8421"/>
            </a:avLst>
          </a:prstGeom>
          <a:solidFill>
            <a:srgbClr val="E8F0F8"/>
          </a:solidFill>
          <a:ln w="12700">
            <a:solidFill>
              <a:srgbClr val="C9DA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13827" y="1682496"/>
            <a:ext cx="1816547" cy="7589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Write the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803526" y="1627632"/>
            <a:ext cx="31089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114422" y="1627632"/>
            <a:ext cx="1962851" cy="868680"/>
          </a:xfrm>
          <a:prstGeom prst="roundRect">
            <a:avLst>
              <a:gd name="adj" fmla="val 8421"/>
            </a:avLst>
          </a:prstGeom>
          <a:solidFill>
            <a:srgbClr val="0B5FA5"/>
          </a:solidFill>
          <a:ln w="12700">
            <a:solidFill>
              <a:srgbClr val="0B5FA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187574" y="1682496"/>
            <a:ext cx="1816547" cy="7589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 them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 UAT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077273" y="1627632"/>
            <a:ext cx="31089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7388169" y="1627632"/>
            <a:ext cx="1962851" cy="868680"/>
          </a:xfrm>
          <a:prstGeom prst="roundRect">
            <a:avLst>
              <a:gd name="adj" fmla="val 8421"/>
            </a:avLst>
          </a:prstGeom>
          <a:solidFill>
            <a:srgbClr val="E8F0F8"/>
          </a:solidFill>
          <a:ln w="12700">
            <a:solidFill>
              <a:srgbClr val="C9DA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61321" y="1682496"/>
            <a:ext cx="1816547" cy="7589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 each failure,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fix, run again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351020" y="1627632"/>
            <a:ext cx="31089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9661916" y="1627632"/>
            <a:ext cx="1962851" cy="868680"/>
          </a:xfrm>
          <a:prstGeom prst="roundRect">
            <a:avLst>
              <a:gd name="adj" fmla="val 8421"/>
            </a:avLst>
          </a:prstGeom>
          <a:solidFill>
            <a:srgbClr val="E8F0F8"/>
          </a:solidFill>
          <a:ln w="12700">
            <a:solidFill>
              <a:srgbClr val="C9DAE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735068" y="1682496"/>
            <a:ext cx="1816547" cy="7589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Write down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it learned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66928" y="2862072"/>
            <a:ext cx="11057839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4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 looked at the real pages instead of guessing</a:t>
            </a:r>
            <a:endParaRPr lang="en-US" sz="145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2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field names in the tests came out of the application’s own screens - so the tests match what is actually there, not what someone remembered</a:t>
            </a:r>
            <a:endParaRPr lang="en-US" sz="1450" dirty="0"/>
          </a:p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4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 ran everything it wrote</a:t>
            </a:r>
            <a:endParaRPr lang="en-US" sz="145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2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Nothing was left as "probably fine". Every check was executed against the live UAT site before it counted as done</a:t>
            </a:r>
            <a:endParaRPr lang="en-US" sz="1450" dirty="0"/>
          </a:p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4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failure was investigated, not retried</a:t>
            </a:r>
            <a:endParaRPr lang="en-US" sz="145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2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When something went red it went and found out why - and the reason was written into the README so nobody has to rediscover it</a:t>
            </a:r>
            <a:endParaRPr lang="en-US" sz="1450" dirty="0"/>
          </a:p>
        </p:txBody>
      </p:sp>
      <p:sp>
        <p:nvSpPr>
          <p:cNvPr id="20" name="Shape 18"/>
          <p:cNvSpPr/>
          <p:nvPr/>
        </p:nvSpPr>
        <p:spPr>
          <a:xfrm>
            <a:off x="566928" y="5148072"/>
            <a:ext cx="2627300" cy="1143000"/>
          </a:xfrm>
          <a:prstGeom prst="roundRect">
            <a:avLst>
              <a:gd name="adj" fmla="val 6400"/>
            </a:avLst>
          </a:prstGeom>
          <a:solidFill>
            <a:srgbClr val="E8F0F8"/>
          </a:solidFill>
          <a:ln w="12700">
            <a:solidFill>
              <a:srgbClr val="E8F0F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5276088"/>
            <a:ext cx="26273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5F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~2 h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658368" y="5824728"/>
            <a:ext cx="24444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from empty folder to a working suite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3377108" y="5148072"/>
            <a:ext cx="2627300" cy="1143000"/>
          </a:xfrm>
          <a:prstGeom prst="roundRect">
            <a:avLst>
              <a:gd name="adj" fmla="val 6400"/>
            </a:avLst>
          </a:prstGeom>
          <a:solidFill>
            <a:srgbClr val="E8F0F8"/>
          </a:solidFill>
          <a:ln w="12700">
            <a:solidFill>
              <a:srgbClr val="E8F0F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377108" y="5276088"/>
            <a:ext cx="26273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5F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</a:t>
            </a:r>
            <a:endParaRPr lang="en-US" sz="3000" dirty="0"/>
          </a:p>
        </p:txBody>
      </p:sp>
      <p:sp>
        <p:nvSpPr>
          <p:cNvPr id="25" name="Text 23"/>
          <p:cNvSpPr/>
          <p:nvPr/>
        </p:nvSpPr>
        <p:spPr>
          <a:xfrm>
            <a:off x="3468548" y="5824728"/>
            <a:ext cx="24444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checks, every one run on UAT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187288" y="5148072"/>
            <a:ext cx="2627300" cy="1143000"/>
          </a:xfrm>
          <a:prstGeom prst="roundRect">
            <a:avLst>
              <a:gd name="adj" fmla="val 6400"/>
            </a:avLst>
          </a:prstGeom>
          <a:solidFill>
            <a:srgbClr val="E8F0F8"/>
          </a:solidFill>
          <a:ln w="12700">
            <a:solidFill>
              <a:srgbClr val="E8F0F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187288" y="5276088"/>
            <a:ext cx="26273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5F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546</a:t>
            </a:r>
            <a:endParaRPr lang="en-US" sz="3000" dirty="0"/>
          </a:p>
        </p:txBody>
      </p:sp>
      <p:sp>
        <p:nvSpPr>
          <p:cNvPr id="28" name="Text 26"/>
          <p:cNvSpPr/>
          <p:nvPr/>
        </p:nvSpPr>
        <p:spPr>
          <a:xfrm>
            <a:off x="6278728" y="5824728"/>
            <a:ext cx="24444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lines of test code written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8997467" y="5148072"/>
            <a:ext cx="2627300" cy="1143000"/>
          </a:xfrm>
          <a:prstGeom prst="roundRect">
            <a:avLst>
              <a:gd name="adj" fmla="val 6400"/>
            </a:avLst>
          </a:prstGeom>
          <a:solidFill>
            <a:srgbClr val="E8F0F8"/>
          </a:solidFill>
          <a:ln w="12700">
            <a:solidFill>
              <a:srgbClr val="E8F0F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997467" y="5276088"/>
            <a:ext cx="26273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5F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3×</a:t>
            </a:r>
            <a:endParaRPr lang="en-US" sz="3000" dirty="0"/>
          </a:p>
        </p:txBody>
      </p:sp>
      <p:sp>
        <p:nvSpPr>
          <p:cNvPr id="31" name="Text 29"/>
          <p:cNvSpPr/>
          <p:nvPr/>
        </p:nvSpPr>
        <p:spPr>
          <a:xfrm>
            <a:off x="9088907" y="5824728"/>
            <a:ext cx="24444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full runs to prove it was stable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example: the puzzle it solved by itself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job-creation test failed. Instead of guessing, it went and found the answer.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1057839" cy="18288"/>
          </a:xfrm>
          <a:prstGeom prst="rect">
            <a:avLst/>
          </a:prstGeom>
          <a:solidFill>
            <a:srgbClr val="D9D9DE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627632"/>
            <a:ext cx="2531288" cy="960120"/>
          </a:xfrm>
          <a:prstGeom prst="roundRect">
            <a:avLst>
              <a:gd name="adj" fmla="val 7619"/>
            </a:avLst>
          </a:prstGeom>
          <a:solidFill>
            <a:srgbClr val="E8F0F8"/>
          </a:solidFill>
          <a:ln w="12700">
            <a:solidFill>
              <a:srgbClr val="C9DA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682496"/>
            <a:ext cx="2384984" cy="8503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 fails: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"Privilege is required"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098216" y="1627632"/>
            <a:ext cx="310896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3409112" y="1627632"/>
            <a:ext cx="2531288" cy="960120"/>
          </a:xfrm>
          <a:prstGeom prst="roundRect">
            <a:avLst>
              <a:gd name="adj" fmla="val 7619"/>
            </a:avLst>
          </a:prstGeom>
          <a:solidFill>
            <a:srgbClr val="0B5FA5"/>
          </a:solidFill>
          <a:ln w="12700">
            <a:solidFill>
              <a:srgbClr val="0B5FA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82264" y="1682496"/>
            <a:ext cx="2384984" cy="8503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Checks every program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and tier on UAT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940400" y="1627632"/>
            <a:ext cx="310896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251296" y="1627632"/>
            <a:ext cx="2531288" cy="960120"/>
          </a:xfrm>
          <a:prstGeom prst="roundRect">
            <a:avLst>
              <a:gd name="adj" fmla="val 7619"/>
            </a:avLst>
          </a:prstGeom>
          <a:solidFill>
            <a:srgbClr val="E8F0F8"/>
          </a:solidFill>
          <a:ln w="12700">
            <a:solidFill>
              <a:srgbClr val="C9DA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24448" y="1682496"/>
            <a:ext cx="2384984" cy="8503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Finds only 4 of 15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programs can work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782583" y="1627632"/>
            <a:ext cx="310896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9093479" y="1627632"/>
            <a:ext cx="2531288" cy="960120"/>
          </a:xfrm>
          <a:prstGeom prst="roundRect">
            <a:avLst>
              <a:gd name="adj" fmla="val 7619"/>
            </a:avLst>
          </a:prstGeom>
          <a:solidFill>
            <a:srgbClr val="E8F0F8"/>
          </a:solidFill>
          <a:ln w="12700">
            <a:solidFill>
              <a:srgbClr val="C9DA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66631" y="1682496"/>
            <a:ext cx="2384984" cy="8503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 picks a working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- and it is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written down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2953512"/>
            <a:ext cx="5300320" cy="2743200"/>
          </a:xfrm>
          <a:prstGeom prst="roundRect">
            <a:avLst>
              <a:gd name="adj" fmla="val 2667"/>
            </a:avLst>
          </a:prstGeom>
          <a:solidFill>
            <a:srgbClr val="F6F7F9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86384" y="3136392"/>
            <a:ext cx="48614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usual ways this goes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786384" y="3557016"/>
            <a:ext cx="4861408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Ask around until someone remembers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Try a few by hand and stop at the first that works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Hard-code an id that quietly breaks on the next environment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 simply give up on automating job creation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324448" y="2953512"/>
            <a:ext cx="5300320" cy="2743200"/>
          </a:xfrm>
          <a:prstGeom prst="roundRect">
            <a:avLst>
              <a:gd name="adj" fmla="val 2667"/>
            </a:avLst>
          </a:prstGeom>
          <a:solidFill>
            <a:srgbClr val="F6F7F9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43904" y="3136392"/>
            <a:ext cx="48614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actually happened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543904" y="3557016"/>
            <a:ext cx="4861408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 walked all 15 programs and their tiers in one run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 reported exactly which ones have a privilege attached: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 UAT Program  ·  Meo Roadside program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Vit roadside program  ·  Duck program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test now selects a program by name, so a different environment does not break it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66928" y="6035040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"Which programs can actually create a job on UAT?" had no answer anywhere - not in a document, not in the code. Now it does, and it took one run to get it.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 the human time still goes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agent is fast at the mechanical work; judgement stays with us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1057839" cy="18288"/>
          </a:xfrm>
          <a:prstGeom prst="rect">
            <a:avLst/>
          </a:prstGeom>
          <a:solidFill>
            <a:srgbClr val="D9D9DE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627632"/>
            <a:ext cx="5300320" cy="3474720"/>
          </a:xfrm>
          <a:prstGeom prst="roundRect">
            <a:avLst>
              <a:gd name="adj" fmla="val 2105"/>
            </a:avLst>
          </a:prstGeom>
          <a:solidFill>
            <a:srgbClr val="F6F7F9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1810512"/>
            <a:ext cx="48614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agent is good at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86384" y="2231136"/>
            <a:ext cx="4861408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Reading the application to find real selectors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Writing page objects and specs in a consistent shape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Running, reading the failure, fixing, re-running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Probing the environment to answer factual questions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Writing down what it learned so it is not lost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324448" y="1627632"/>
            <a:ext cx="5300320" cy="3474720"/>
          </a:xfrm>
          <a:prstGeom prst="roundRect">
            <a:avLst>
              <a:gd name="adj" fmla="val 2105"/>
            </a:avLst>
          </a:prstGeom>
          <a:solidFill>
            <a:srgbClr val="F6F7F9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43904" y="1810512"/>
            <a:ext cx="48614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F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still decide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543904" y="2231136"/>
            <a:ext cx="4861408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Which journeys matter enough to automate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counts as acceptable test data on a shared environment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Whether a failure is a test bug or a product bug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may touch production, and what may never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 before anything is merged - same PR bar as any code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66928" y="5760720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workshop point: the cost of an automated check has dropped far enough that "we do not have time to automate it" is no longer the real constraint.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Running it in CI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same command a developer runs is the command the pipeline runs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1057839" cy="18288"/>
          </a:xfrm>
          <a:prstGeom prst="rect">
            <a:avLst/>
          </a:prstGeom>
          <a:solidFill>
            <a:srgbClr val="D9D9DE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627632"/>
            <a:ext cx="11057839" cy="2011680"/>
          </a:xfrm>
          <a:prstGeom prst="roundRect">
            <a:avLst>
              <a:gd name="adj" fmla="val 2727"/>
            </a:avLst>
          </a:prstGeom>
          <a:solidFill>
            <a:srgbClr val="1E1E24"/>
          </a:solidFill>
          <a:ln w="12700">
            <a:solidFill>
              <a:srgbClr val="1E1E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773936"/>
            <a:ext cx="10655503" cy="17190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any CI runner - CodeBuild, Bitbucket Pipelines, GitHub Actions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ci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npx playwright install --with-deps chromium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test                       # retries once on CI, serial, ~1 minute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artefacts to keep: playwright-report/  reports/junit.xml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566928" y="3694176"/>
            <a:ext cx="1105783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JUnit XML is what a CI dashboard reads; the HTML report is what a human opens.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66928" y="4142232"/>
            <a:ext cx="11057839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 on every pull request against the target branch, and nightly against UAT</a:t>
            </a:r>
            <a:endParaRPr lang="en-US" sz="145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red suite blocks the merge - that is the whole point of the investment</a:t>
            </a:r>
            <a:endParaRPr lang="en-US" sz="145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Still to arrange: CI credentials and a stable non-production account that does not rotate</a:t>
            </a:r>
            <a:endParaRPr lang="en-US" sz="14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37744"/>
          </a:xfrm>
          <a:prstGeom prst="rect">
            <a:avLst/>
          </a:prstGeom>
          <a:solidFill>
            <a:srgbClr val="0B5FA5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1005840"/>
            <a:ext cx="11057839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 this goes next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1920240"/>
            <a:ext cx="11057839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7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Extend coverage to the journeys that hurt most when they break</a:t>
            </a:r>
            <a:endParaRPr lang="en-US" sz="170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4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Dispatch, job status transitions, the Benefit redemption path</a:t>
            </a:r>
            <a:endParaRPr lang="en-US" sz="1700" dirty="0"/>
          </a:p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7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Put the suite in CI and make it a merge gate</a:t>
            </a:r>
            <a:endParaRPr lang="en-US" sz="170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4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Needs CI permissions and a dedicated non-production account</a:t>
            </a:r>
            <a:endParaRPr lang="en-US" sz="1700" dirty="0"/>
          </a:p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7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Treat the test data problem as a first-class task</a:t>
            </a:r>
            <a:endParaRPr lang="en-US" sz="170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4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UAT programs without privileges blocked job creation - seed data should be known and stable, not discovered by a failing test</a:t>
            </a:r>
            <a:endParaRPr lang="en-US" sz="1700" dirty="0"/>
          </a:p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7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 the same pattern on the mobile app</a:t>
            </a:r>
            <a:endParaRPr lang="en-US" sz="170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4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Different tool, same approach - see the mobile deck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66928" y="594360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ai-workshop/roadside-web   |   github.com/bulubuloa/AS.APAC.AI.Workshop   |   Hoang Quach - Vietnam 2026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International SOS - APAC Aspire Digital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Web Test Automation with Playwright</dc:title>
  <dc:subject>PptxGenJS Presentation</dc:subject>
  <dc:creator>Hoang Quach</dc:creator>
  <cp:lastModifiedBy>Hoang Quach</cp:lastModifiedBy>
  <cp:revision>1</cp:revision>
  <dcterms:created xsi:type="dcterms:W3CDTF">2026-09-28T03:48:25Z</dcterms:created>
  <dcterms:modified xsi:type="dcterms:W3CDTF">2026-09-28T03:48:25Z</dcterms:modified>
</cp:coreProperties>
</file>