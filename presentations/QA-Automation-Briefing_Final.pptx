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76" r:id="rId9"/>
    <p:sldId id="278" r:id="rId10"/>
    <p:sldId id="263" r:id="rId11"/>
    <p:sldId id="264" r:id="rId12"/>
    <p:sldId id="265" r:id="rId13"/>
    <p:sldId id="266" r:id="rId14"/>
    <p:sldId id="267" r:id="rId15"/>
    <p:sldId id="268" r:id="rId16"/>
    <p:sldId id="269" r:id="rId17"/>
    <p:sldId id="270" r:id="rId18"/>
    <p:sldId id="282" r:id="rId19"/>
    <p:sldId id="279" r:id="rId20"/>
    <p:sldId id="271" r:id="rId21"/>
    <p:sldId id="272" r:id="rId22"/>
    <p:sldId id="273" r:id="rId23"/>
    <p:sldId id="274" r:id="rId24"/>
    <p:sldId id="280" r:id="rId25"/>
    <p:sldId id="281" r:id="rId26"/>
    <p:sldId id="283" r:id="rId27"/>
    <p:sldId id="275"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08DF16-EEA0-D1D6-ACD0-D9BDE597294A}" v="6" dt="2026-10-15T05:58:34.755"/>
    <p1510:client id="{411AB500-2DBE-94A1-C8EF-078005F300F7}" v="25" dt="2026-10-13T14:39:50.898"/>
    <p1510:client id="{8ABE5F9E-45CF-4E06-B75F-C9F222B070CE}" v="51" dt="2026-10-14T09:24:05.1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714" autoAdjust="0"/>
  </p:normalViewPr>
  <p:slideViewPr>
    <p:cSldViewPr snapToGrid="0">
      <p:cViewPr varScale="1">
        <p:scale>
          <a:sx n="95" d="100"/>
          <a:sy n="95" d="100"/>
        </p:scale>
        <p:origin x="115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strRef>
              <c:f>Sheet1!$B$1</c:f>
              <c:strCache>
                <c:ptCount val="1"/>
                <c:pt idx="0">
                  <c:v>Implemented</c:v>
                </c:pt>
              </c:strCache>
            </c:strRef>
          </c:tx>
          <c:spPr>
            <a:solidFill>
              <a:srgbClr val="0B5FA5"/>
            </a:solidFill>
            <a:effectLst/>
          </c:spPr>
          <c:invertIfNegative val="0"/>
          <c:dLbls>
            <c:numFmt formatCode="0" sourceLinked="0"/>
            <c:spPr>
              <a:noFill/>
              <a:ln>
                <a:noFill/>
              </a:ln>
              <a:effectLst/>
            </c:spPr>
            <c:txPr>
              <a:bodyPr/>
              <a:lstStyle/>
              <a:p>
                <a:pPr>
                  <a:defRPr sz="1200" b="0" i="0" u="none" strike="noStrike">
                    <a:solidFill>
                      <a:srgbClr val="142B42"/>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RSA cases</c:v>
                </c:pt>
              </c:strCache>
            </c:strRef>
          </c:cat>
          <c:val>
            <c:numRef>
              <c:f>Sheet1!$B$2:$B$2</c:f>
              <c:numCache>
                <c:formatCode>General</c:formatCode>
                <c:ptCount val="1"/>
                <c:pt idx="0">
                  <c:v>61</c:v>
                </c:pt>
              </c:numCache>
            </c:numRef>
          </c:val>
          <c:extLst>
            <c:ext xmlns:c16="http://schemas.microsoft.com/office/drawing/2014/chart" uri="{C3380CC4-5D6E-409C-BE32-E72D297353CC}">
              <c16:uniqueId val="{00000000-D17C-4678-B1FC-2B57F88931E2}"/>
            </c:ext>
          </c:extLst>
        </c:ser>
        <c:ser>
          <c:idx val="1"/>
          <c:order val="1"/>
          <c:tx>
            <c:strRef>
              <c:f>Sheet1!$C$1</c:f>
              <c:strCache>
                <c:ptCount val="1"/>
                <c:pt idx="0">
                  <c:v>Not started</c:v>
                </c:pt>
              </c:strCache>
            </c:strRef>
          </c:tx>
          <c:spPr>
            <a:solidFill>
              <a:srgbClr val="D4DEE8"/>
            </a:solidFill>
            <a:effectLst/>
          </c:spPr>
          <c:invertIfNegative val="0"/>
          <c:dLbls>
            <c:numFmt formatCode="0" sourceLinked="0"/>
            <c:spPr>
              <a:noFill/>
              <a:ln>
                <a:noFill/>
              </a:ln>
              <a:effectLst/>
            </c:spPr>
            <c:txPr>
              <a:bodyPr/>
              <a:lstStyle/>
              <a:p>
                <a:pPr>
                  <a:defRPr sz="1200" b="0" i="0" u="none" strike="noStrike">
                    <a:solidFill>
                      <a:srgbClr val="142B42"/>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RSA cases</c:v>
                </c:pt>
              </c:strCache>
            </c:strRef>
          </c:cat>
          <c:val>
            <c:numRef>
              <c:f>Sheet1!$C$2:$C$2</c:f>
              <c:numCache>
                <c:formatCode>General</c:formatCode>
                <c:ptCount val="1"/>
                <c:pt idx="0">
                  <c:v>388</c:v>
                </c:pt>
              </c:numCache>
            </c:numRef>
          </c:val>
          <c:extLst>
            <c:ext xmlns:c16="http://schemas.microsoft.com/office/drawing/2014/chart" uri="{C3380CC4-5D6E-409C-BE32-E72D297353CC}">
              <c16:uniqueId val="{00000001-D17C-4678-B1FC-2B57F88931E2}"/>
            </c:ext>
          </c:extLst>
        </c:ser>
        <c:dLbls>
          <c:dLblPos val="ctr"/>
          <c:showLegendKey val="0"/>
          <c:showVal val="1"/>
          <c:showCatName val="0"/>
          <c:showSerName val="0"/>
          <c:showPercent val="0"/>
          <c:showBubbleSize val="0"/>
        </c:dLbls>
        <c:gapWidth val="50"/>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8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449"/>
          <c:min val="0"/>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Arial"/>
              </a:defRPr>
            </a:pPr>
            <a:endParaRPr lang="en-US"/>
          </a:p>
        </c:txPr>
        <c:crossAx val="2094734554"/>
        <c:crosses val="autoZero"/>
        <c:crossBetween val="between"/>
        <c:majorUnit val="100"/>
      </c:valAx>
      <c:spPr>
        <a:noFill/>
        <a:ln>
          <a:noFill/>
        </a:ln>
        <a:effectLst/>
      </c:spPr>
    </c:plotArea>
    <c:legend>
      <c:legendPos val="b"/>
      <c:overlay val="0"/>
      <c:txPr>
        <a:bodyPr/>
        <a:lstStyle/>
        <a:p>
          <a:pPr>
            <a:defRPr sz="18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1021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Saved evidence from 8 October 2026. The left image captures the successful creation toast. The right image shows the upper portion of vendor details. Vendor ID 20415 and CMS item d4b1c8e8-d8ac-415d-86eb-856391f9a531. This demonstrates save, detail display and nineteen CMS-rendered value comparisons. It does not prove every optional field persisted or full database parity.
Sources: https://internationalsos.atlassian.net/wiki/spaces/AD/pages/6896287838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successful UI/CMS comparison is narrower than full end-to-end integration proof. Some earlier Benefit assumptions about disabled fields were corrected by selecting Thailand at the top right, English and reloading. Access expiry prevented completion of the corrected full DB comparison.
Sources: https://internationalsos.atlassian.net/wiki/spaces/AD/pages/6896287838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hyperlink" Target="https://internationalsos.atlassian.net/wiki/spaces/AD/pages/6906642437/Not+every+test+case+can+be+fully+automated"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B42"/>
        </a:solidFill>
        <a:effectLst/>
      </p:bgPr>
    </p:bg>
    <p:spTree>
      <p:nvGrpSpPr>
        <p:cNvPr id="1" name=""/>
        <p:cNvGrpSpPr/>
        <p:nvPr/>
      </p:nvGrpSpPr>
      <p:grpSpPr>
        <a:xfrm>
          <a:off x="0" y="0"/>
          <a:ext cx="0" cy="0"/>
          <a:chOff x="0" y="0"/>
          <a:chExt cx="0" cy="0"/>
        </a:xfrm>
      </p:grpSpPr>
      <p:sp>
        <p:nvSpPr>
          <p:cNvPr id="2" name="Text 0"/>
          <p:cNvSpPr/>
          <p:nvPr/>
        </p:nvSpPr>
        <p:spPr>
          <a:xfrm>
            <a:off x="640080" y="1005840"/>
            <a:ext cx="10789920" cy="457200"/>
          </a:xfrm>
          <a:prstGeom prst="rect">
            <a:avLst/>
          </a:prstGeom>
          <a:noFill/>
          <a:ln/>
        </p:spPr>
        <p:txBody>
          <a:bodyPr wrap="square" lIns="0" tIns="0" rIns="0" bIns="0" rtlCol="0" anchor="t"/>
          <a:lstStyle/>
          <a:p>
            <a:pPr marL="0" indent="0">
              <a:buNone/>
            </a:pPr>
            <a:r>
              <a:rPr lang="en-US" sz="1800">
                <a:solidFill>
                  <a:srgbClr val="8CBDE5"/>
                </a:solidFill>
                <a:latin typeface="Segoe UI" pitchFamily="34" charset="0"/>
                <a:ea typeface="Segoe UI" pitchFamily="34" charset="-122"/>
                <a:cs typeface="Segoe UI" pitchFamily="34" charset="-120"/>
              </a:rPr>
              <a:t>APAC ASPIRE DIGITAL</a:t>
            </a:r>
            <a:endParaRPr lang="en-US" sz="1800"/>
          </a:p>
        </p:txBody>
      </p:sp>
      <p:sp>
        <p:nvSpPr>
          <p:cNvPr id="3" name="Text 1"/>
          <p:cNvSpPr/>
          <p:nvPr/>
        </p:nvSpPr>
        <p:spPr>
          <a:xfrm>
            <a:off x="640080" y="1828800"/>
            <a:ext cx="10789920" cy="1005840"/>
          </a:xfrm>
          <a:prstGeom prst="rect">
            <a:avLst/>
          </a:prstGeom>
          <a:noFill/>
          <a:ln/>
        </p:spPr>
        <p:txBody>
          <a:bodyPr wrap="square" lIns="0" tIns="0" rIns="0" bIns="0" rtlCol="0" anchor="t"/>
          <a:lstStyle/>
          <a:p>
            <a:pPr marL="0" indent="0">
              <a:buNone/>
            </a:pPr>
            <a:r>
              <a:rPr lang="en-US" sz="4600" b="1">
                <a:solidFill>
                  <a:srgbClr val="FFFFFF"/>
                </a:solidFill>
                <a:latin typeface="Segoe UI" pitchFamily="34" charset="0"/>
                <a:ea typeface="Segoe UI" pitchFamily="34" charset="-122"/>
                <a:cs typeface="Segoe UI" pitchFamily="34" charset="-120"/>
              </a:rPr>
              <a:t>Web QA Automation</a:t>
            </a:r>
            <a:endParaRPr lang="en-US" sz="4600"/>
          </a:p>
        </p:txBody>
      </p:sp>
      <p:sp>
        <p:nvSpPr>
          <p:cNvPr id="4" name="Text 2"/>
          <p:cNvSpPr/>
          <p:nvPr/>
        </p:nvSpPr>
        <p:spPr>
          <a:xfrm>
            <a:off x="640080" y="3154680"/>
            <a:ext cx="10789920" cy="1005840"/>
          </a:xfrm>
          <a:prstGeom prst="rect">
            <a:avLst/>
          </a:prstGeom>
          <a:noFill/>
          <a:ln/>
        </p:spPr>
        <p:txBody>
          <a:bodyPr wrap="square" lIns="0" tIns="0" rIns="0" bIns="0" rtlCol="0" anchor="t"/>
          <a:lstStyle/>
          <a:p>
            <a:pPr marL="0" indent="0">
              <a:buNone/>
            </a:pPr>
            <a:r>
              <a:rPr lang="en-US" sz="2900">
                <a:solidFill>
                  <a:srgbClr val="FFFFFF"/>
                </a:solidFill>
                <a:latin typeface="Segoe UI" pitchFamily="34" charset="0"/>
                <a:ea typeface="Segoe UI" pitchFamily="34" charset="-122"/>
                <a:cs typeface="Segoe UI" pitchFamily="34" charset="-120"/>
              </a:rPr>
              <a:t>POC evidence and Analysis</a:t>
            </a:r>
            <a:endParaRPr lang="en-US" sz="2900"/>
          </a:p>
        </p:txBody>
      </p:sp>
      <p:sp>
        <p:nvSpPr>
          <p:cNvPr id="5" name="Text 3"/>
          <p:cNvSpPr/>
          <p:nvPr/>
        </p:nvSpPr>
        <p:spPr>
          <a:xfrm>
            <a:off x="640080" y="4892040"/>
            <a:ext cx="10789920" cy="914400"/>
          </a:xfrm>
          <a:prstGeom prst="rect">
            <a:avLst/>
          </a:prstGeom>
          <a:noFill/>
          <a:ln/>
        </p:spPr>
        <p:txBody>
          <a:bodyPr wrap="square" lIns="0" tIns="0" rIns="0" bIns="0" rtlCol="0" anchor="t"/>
          <a:lstStyle/>
          <a:p>
            <a:pPr marL="0" indent="0">
              <a:buNone/>
            </a:pPr>
            <a:r>
              <a:rPr lang="en-US" sz="2100">
                <a:solidFill>
                  <a:srgbClr val="CCDBEA"/>
                </a:solidFill>
                <a:latin typeface="Segoe UI" pitchFamily="34" charset="0"/>
                <a:ea typeface="Segoe UI" pitchFamily="34" charset="-122"/>
                <a:cs typeface="Segoe UI" pitchFamily="34" charset="-120"/>
              </a:rPr>
              <a:t>RSA and Benefit · Web testing</a:t>
            </a:r>
            <a:endParaRPr lang="en-US" sz="2100"/>
          </a:p>
          <a:p>
            <a:r>
              <a:rPr lang="en-US" sz="2100">
                <a:solidFill>
                  <a:srgbClr val="CCDBEA"/>
                </a:solidFill>
                <a:latin typeface="Segoe UI"/>
                <a:ea typeface="Segoe UI" pitchFamily="34" charset="-122"/>
                <a:cs typeface="Segoe UI"/>
              </a:rPr>
              <a:t>Management briefing · October  2026</a:t>
            </a:r>
            <a:endParaRPr lang="en-US" sz="2100">
              <a:latin typeface="Segoe UI"/>
              <a:cs typeface="Segoe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Why Playwright</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Playwright fits our complete web workflows</a:t>
            </a:r>
            <a:endParaRPr lang="en-US" sz="3200"/>
          </a:p>
        </p:txBody>
      </p:sp>
      <p:graphicFrame>
        <p:nvGraphicFramePr>
          <p:cNvPr id="4" name="Table 0"/>
          <p:cNvGraphicFramePr>
            <a:graphicFrameLocks noGrp="1"/>
          </p:cNvGraphicFramePr>
          <p:nvPr>
            <p:extLst>
              <p:ext uri="{D42A27DB-BD31-4B8C-83A1-F6EECF244321}">
                <p14:modId xmlns:p14="http://schemas.microsoft.com/office/powerpoint/2010/main" val="1419147783"/>
              </p:ext>
            </p:extLst>
          </p:nvPr>
        </p:nvGraphicFramePr>
        <p:xfrm>
          <a:off x="594360" y="1828800"/>
          <a:ext cx="10972800" cy="3730752"/>
        </p:xfrm>
        <a:graphic>
          <a:graphicData uri="http://schemas.openxmlformats.org/drawingml/2006/table">
            <a:tbl>
              <a:tblPr/>
              <a:tblGrid>
                <a:gridCol w="2377440">
                  <a:extLst>
                    <a:ext uri="{9D8B030D-6E8A-4147-A177-3AD203B41FA5}">
                      <a16:colId xmlns:a16="http://schemas.microsoft.com/office/drawing/2014/main" val="20000"/>
                    </a:ext>
                  </a:extLst>
                </a:gridCol>
                <a:gridCol w="2871216">
                  <a:extLst>
                    <a:ext uri="{9D8B030D-6E8A-4147-A177-3AD203B41FA5}">
                      <a16:colId xmlns:a16="http://schemas.microsoft.com/office/drawing/2014/main" val="20001"/>
                    </a:ext>
                  </a:extLst>
                </a:gridCol>
                <a:gridCol w="2862072">
                  <a:extLst>
                    <a:ext uri="{9D8B030D-6E8A-4147-A177-3AD203B41FA5}">
                      <a16:colId xmlns:a16="http://schemas.microsoft.com/office/drawing/2014/main" val="20002"/>
                    </a:ext>
                  </a:extLst>
                </a:gridCol>
                <a:gridCol w="2862072">
                  <a:extLst>
                    <a:ext uri="{9D8B030D-6E8A-4147-A177-3AD203B41FA5}">
                      <a16:colId xmlns:a16="http://schemas.microsoft.com/office/drawing/2014/main" val="20003"/>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Decision point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Playwright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Selenium</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Cypress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Workflow coverage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Forms, tabs and service</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checks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Broad coverage; more setup</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Strong frontend focus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Failure evidence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Reports and step replay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Additional reporting tools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Interactive debugging</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Maintenance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Automatic waits for</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controls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More explicit waiting</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rules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a:ea typeface="Segoe UI" pitchFamily="34" charset="-122"/>
                          <a:cs typeface="Segoe UI"/>
                        </a:rPr>
                        <a:t>Built-in retry </a:t>
                      </a:r>
                      <a:r>
                        <a:rPr lang="en-US" sz="1800" dirty="0" err="1">
                          <a:solidFill>
                            <a:srgbClr val="142B42"/>
                          </a:solidFill>
                          <a:latin typeface="Segoe UI"/>
                          <a:ea typeface="Segoe UI" pitchFamily="34" charset="-122"/>
                          <a:cs typeface="Segoe UI"/>
                        </a:rPr>
                        <a:t>behaviour</a:t>
                      </a:r>
                      <a:endParaRPr lang="en-US" sz="1800" dirty="0" err="1">
                        <a:latin typeface="Segoe UI"/>
                        <a:ea typeface="Segoe UI" charset="0"/>
                        <a:cs typeface="Segoe UI"/>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dirty="0">
                          <a:solidFill>
                            <a:srgbClr val="142B42"/>
                          </a:solidFill>
                          <a:latin typeface="Segoe UI"/>
                          <a:ea typeface="Segoe UI" pitchFamily="34" charset="-122"/>
                          <a:cs typeface="Segoe UI"/>
                        </a:rPr>
                        <a:t>Framework </a:t>
                      </a:r>
                      <a:r>
                        <a:rPr lang="en-US" sz="1800">
                          <a:solidFill>
                            <a:srgbClr val="142B42"/>
                          </a:solidFill>
                          <a:latin typeface="Segoe UI"/>
                          <a:ea typeface="Segoe UI" pitchFamily="34" charset="-122"/>
                          <a:cs typeface="Segoe UI"/>
                        </a:rPr>
                        <a:t>license</a:t>
                      </a:r>
                      <a:endParaRPr lang="en-US" sz="1800">
                        <a:latin typeface="Segoe UI"/>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Apache 2.0 · $0</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Apache 2.0 · $0</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MIT · $0 core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Recommendation: Playwright balances workflow coverage, evidence and setup.</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02</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Why Playwright</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The fit comes from our project needs</a:t>
            </a:r>
            <a:endParaRPr lang="en-US" sz="320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566160"/>
        </p:xfrm>
        <a:graphic>
          <a:graphicData uri="http://schemas.openxmlformats.org/drawingml/2006/table">
            <a:tbl>
              <a:tblPr/>
              <a:tblGrid>
                <a:gridCol w="3429000">
                  <a:extLst>
                    <a:ext uri="{9D8B030D-6E8A-4147-A177-3AD203B41FA5}">
                      <a16:colId xmlns:a16="http://schemas.microsoft.com/office/drawing/2014/main" val="20000"/>
                    </a:ext>
                  </a:extLst>
                </a:gridCol>
                <a:gridCol w="7543800">
                  <a:extLst>
                    <a:ext uri="{9D8B030D-6E8A-4147-A177-3AD203B41FA5}">
                      <a16:colId xmlns:a16="http://schemas.microsoft.com/office/drawing/2014/main" val="20001"/>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Our workflow</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Why Playwright fits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RSA agent journeys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Follow a journey across pages and popups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Benefit vendor creation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Select dependencies, fill fields and verify Save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Data consistency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Compare rendered values with service or CMS data</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QA investigation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Replay failed steps with screenshots and traces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Choose for these capabilities and the work we need to test.</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03</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Why Playwright</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Repeatable checks and clearer failures</a:t>
            </a:r>
            <a:endParaRPr lang="en-US" sz="320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675888"/>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Strong point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Business benefit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Cost boundary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Repeatable journeys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Run the same checks after changes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Maintain test data and expectations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Clear failure evidence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QA can see where the journey failed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Store reports securely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Automatic waiting</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Reduce timing-related false</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failures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Review unstable tests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Free framework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No framework licence fee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Runner, AI and team time still cost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The benefit is reliable release evidence; savings have not been measured.</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04</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Codex versus Claude Code</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Recommend Claude Code for the broader web suite</a:t>
            </a:r>
            <a:endParaRPr lang="en-US" sz="320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2962656"/>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Job</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Recommended role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Evidence supporting it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Build the broader RSA pack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Claude Code as primary author</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Broader documented delivery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Focused vendor / CMS</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checks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Codex as a capable option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Saved vendor and 19 value checks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Accept the result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QA reviews either tool’s work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Business rules still need review</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This is a job-specific recommendation based on available POC evidence.</a:t>
            </a:r>
            <a:endParaRPr lang="en-US" sz="1900"/>
          </a:p>
        </p:txBody>
      </p:sp>
      <p:sp>
        <p:nvSpPr>
          <p:cNvPr id="4"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05</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Codex versus Claude Code</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The results support different strengths</a:t>
            </a:r>
            <a:endParaRPr lang="en-US" sz="320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621024"/>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Evidence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Claude Code / RSA</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Codex / Benefit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Scope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61 cases → 71 executable tests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Vendor flow + login setup</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Recorded outcome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57 passed · 14 skipped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2 passed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Detailed data check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Equivalent vendor proof unavailable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19 rendered values matched CMS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Evidence status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Reported in the RSA POC</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Saved local test evidence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Different tasks and scope: these numbers are not an equal-task competition.</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06</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Codex versus Claude Code</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Confirm the AI choice with the same assignment</a:t>
            </a:r>
            <a:endParaRPr lang="en-US" sz="320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566160"/>
        </p:xfrm>
        <a:graphic>
          <a:graphicData uri="http://schemas.openxmlformats.org/drawingml/2006/table">
            <a:tbl>
              <a:tblPr/>
              <a:tblGrid>
                <a:gridCol w="3429000">
                  <a:extLst>
                    <a:ext uri="{9D8B030D-6E8A-4147-A177-3AD203B41FA5}">
                      <a16:colId xmlns:a16="http://schemas.microsoft.com/office/drawing/2014/main" val="20000"/>
                    </a:ext>
                  </a:extLst>
                </a:gridCol>
                <a:gridCol w="7543800">
                  <a:extLst>
                    <a:ext uri="{9D8B030D-6E8A-4147-A177-3AD203B41FA5}">
                      <a16:colId xmlns:a16="http://schemas.microsoft.com/office/drawing/2014/main" val="20001"/>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Measure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Fair comparison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Delivery time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Same journeys, access and acceptance rules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Review effort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Record corrections needed before QA accepts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Defect detection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Use the same known failures and expected results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Operating cost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Compare actual usage plus reviewer time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Proposed next step: a matched-task trial before claiming speed or cost superiority.</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07</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Codex versus Claude Code</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Same price, Claude Code delivered more</a:t>
            </a:r>
            <a:endParaRPr lang="en-US" sz="3200"/>
          </a:p>
        </p:txBody>
      </p:sp>
      <p:graphicFrame>
        <p:nvGraphicFramePr>
          <p:cNvPr id="7" name="Table 0"/>
          <p:cNvGraphicFramePr>
            <a:graphicFrameLocks noGrp="1"/>
          </p:cNvGraphicFramePr>
          <p:nvPr/>
        </p:nvGraphicFramePr>
        <p:xfrm>
          <a:off x="594360" y="1828800"/>
          <a:ext cx="10972800" cy="3566160"/>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What we compared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Claude Code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Codex</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Strength: tests built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71 working tests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2 working tests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Speed: time to build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13 tests in about 46 minutes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2 tests in about 3¾ hours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Accuracy: results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0 failed · 4 real issues found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0 failed · 5 fixes by a person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Cost: subscription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USD 20 per person / month</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USD 20 per person / month</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Same monthly price: Claude Code built more tests, faster, and found real issues.</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08</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Codex versus Claude Code</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Our choice: Claude Code as the team standard</a:t>
            </a:r>
            <a:endParaRPr lang="en-US" sz="3200"/>
          </a:p>
        </p:txBody>
      </p:sp>
      <p:graphicFrame>
        <p:nvGraphicFramePr>
          <p:cNvPr id="8" name="Table 0"/>
          <p:cNvGraphicFramePr>
            <a:graphicFrameLocks noGrp="1"/>
          </p:cNvGraphicFramePr>
          <p:nvPr/>
        </p:nvGraphicFramePr>
        <p:xfrm>
          <a:off x="594360" y="1828800"/>
          <a:ext cx="10972800" cy="3566160"/>
        </p:xfrm>
        <a:graphic>
          <a:graphicData uri="http://schemas.openxmlformats.org/drawingml/2006/table">
            <a:tbl>
              <a:tblPr/>
              <a:tblGrid>
                <a:gridCol w="3429000">
                  <a:extLst>
                    <a:ext uri="{9D8B030D-6E8A-4147-A177-3AD203B41FA5}">
                      <a16:colId xmlns:a16="http://schemas.microsoft.com/office/drawing/2014/main" val="20000"/>
                    </a:ext>
                  </a:extLst>
                </a:gridCol>
                <a:gridCol w="7543800">
                  <a:extLst>
                    <a:ext uri="{9D8B030D-6E8A-4147-A177-3AD203B41FA5}">
                      <a16:colId xmlns:a16="http://schemas.microsoft.com/office/drawing/2014/main" val="20001"/>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Reason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What it means for the team</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Proven at scale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71 working tests already built for RoadSide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Fits how we work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Our Jira-to-release AI workflow already runs on it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Easy to set up</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Works on our laptops as is; Codex needed extra fixes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Nothing is lost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Codex’s CMS screen check can be reused by Claude Code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Decision: Claude Code for all new test automation; Codex only as a second opinion.</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09</a:t>
            </a:r>
            <a:endParaRPr lang="en-US" sz="1100"/>
          </a:p>
        </p:txBody>
      </p:sp>
    </p:spTree>
    <p:extLst>
      <p:ext uri="{BB962C8B-B14F-4D97-AF65-F5344CB8AC3E}">
        <p14:creationId xmlns:p14="http://schemas.microsoft.com/office/powerpoint/2010/main" val="3007190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Recommendation and proof</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Use each tool for a clear responsibility</a:t>
            </a:r>
            <a:endParaRPr lang="en-US" sz="320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017520"/>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Tool</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Strength</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Limit to manage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Playwright: execution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Complete journeys + clear failure</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evidence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Needs correct assertions and stable</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data</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Claude Code: broad</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authoring</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Broader documented RSA case</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delivery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Skipped cases and QA review remain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Codex: focused checks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Detailed vendor and CMS</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verification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Setup assumptions needed correction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Recommended combination: Playwright executes; AI helps author; QA owns acceptance.</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08</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Recommendation and proof</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Benefit POC: saved vendor and visible details</a:t>
            </a:r>
            <a:endParaRPr lang="en-US" sz="3200"/>
          </a:p>
        </p:txBody>
      </p:sp>
      <p:sp>
        <p:nvSpPr>
          <p:cNvPr id="4" name="Text 2"/>
          <p:cNvSpPr/>
          <p:nvPr/>
        </p:nvSpPr>
        <p:spPr>
          <a:xfrm>
            <a:off x="594360" y="1755648"/>
            <a:ext cx="5669280" cy="320040"/>
          </a:xfrm>
          <a:prstGeom prst="rect">
            <a:avLst/>
          </a:prstGeom>
          <a:noFill/>
          <a:ln/>
        </p:spPr>
        <p:txBody>
          <a:bodyPr wrap="square" lIns="0" tIns="0" rIns="0" bIns="0" rtlCol="0" anchor="t"/>
          <a:lstStyle/>
          <a:p>
            <a:pPr marL="0" indent="0">
              <a:buNone/>
            </a:pPr>
            <a:r>
              <a:rPr lang="en-US" sz="1800" b="1">
                <a:solidFill>
                  <a:srgbClr val="0B5FA5"/>
                </a:solidFill>
                <a:latin typeface="Segoe UI" pitchFamily="34" charset="0"/>
                <a:ea typeface="Segoe UI" pitchFamily="34" charset="-122"/>
                <a:cs typeface="Segoe UI" pitchFamily="34" charset="-120"/>
              </a:rPr>
              <a:t>Creation confirmation</a:t>
            </a:r>
            <a:endParaRPr lang="en-US" sz="1800"/>
          </a:p>
        </p:txBody>
      </p:sp>
      <p:sp>
        <p:nvSpPr>
          <p:cNvPr id="5" name="Text 3"/>
          <p:cNvSpPr/>
          <p:nvPr/>
        </p:nvSpPr>
        <p:spPr>
          <a:xfrm>
            <a:off x="6583680" y="1755648"/>
            <a:ext cx="4983480" cy="320040"/>
          </a:xfrm>
          <a:prstGeom prst="rect">
            <a:avLst/>
          </a:prstGeom>
          <a:noFill/>
          <a:ln/>
        </p:spPr>
        <p:txBody>
          <a:bodyPr wrap="square" lIns="0" tIns="0" rIns="0" bIns="0" rtlCol="0" anchor="t"/>
          <a:lstStyle/>
          <a:p>
            <a:pPr marL="0" indent="0">
              <a:buNone/>
            </a:pPr>
            <a:r>
              <a:rPr lang="en-US" sz="1800" b="1">
                <a:solidFill>
                  <a:srgbClr val="0B5FA5"/>
                </a:solidFill>
                <a:latin typeface="Segoe UI" pitchFamily="34" charset="0"/>
                <a:ea typeface="Segoe UI" pitchFamily="34" charset="-122"/>
                <a:cs typeface="Segoe UI" pitchFamily="34" charset="-120"/>
              </a:rPr>
              <a:t>Vendor details (upper section)</a:t>
            </a:r>
            <a:endParaRPr lang="en-US" sz="1800"/>
          </a:p>
        </p:txBody>
      </p:sp>
      <p:pic>
        <p:nvPicPr>
          <p:cNvPr id="6" name="Image 0" descr="C:\Projects\AspireDigital\ai-workshop\docs\qa-automation-poc\evidence\benefit-save-success.png"/>
          <p:cNvPicPr>
            <a:picLocks noChangeAspect="1"/>
          </p:cNvPicPr>
          <p:nvPr/>
        </p:nvPicPr>
        <p:blipFill>
          <a:blip r:embed="rId3"/>
          <a:stretch>
            <a:fillRect/>
          </a:stretch>
        </p:blipFill>
        <p:spPr>
          <a:xfrm>
            <a:off x="594360" y="2194560"/>
            <a:ext cx="5715000" cy="3214688"/>
          </a:xfrm>
          <a:prstGeom prst="rect">
            <a:avLst/>
          </a:prstGeom>
        </p:spPr>
      </p:pic>
      <p:pic>
        <p:nvPicPr>
          <p:cNvPr id="7" name="Image 1" descr="C:\Projects\AspireDigital\ai-workshop\docs\qa-automation-poc\evidence\benefit-vendor-detail.png"/>
          <p:cNvPicPr>
            <a:picLocks noChangeAspect="1"/>
          </p:cNvPicPr>
          <p:nvPr/>
        </p:nvPicPr>
        <p:blipFill>
          <a:blip r:embed="rId4"/>
          <a:srcRect b="61934"/>
          <a:stretch/>
        </p:blipFill>
        <p:spPr>
          <a:xfrm>
            <a:off x="6583680" y="2194560"/>
            <a:ext cx="4983480" cy="3337560"/>
          </a:xfrm>
          <a:prstGeom prst="rect">
            <a:avLst/>
          </a:prstGeom>
        </p:spPr>
      </p:pic>
      <p:sp>
        <p:nvSpPr>
          <p:cNvPr id="8" name="Text 4"/>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Synthetic vendor 20415 · 19 rendered values matched CMS · full DB comparison pending.</a:t>
            </a:r>
            <a:endParaRPr lang="en-US" sz="1900"/>
          </a:p>
        </p:txBody>
      </p:sp>
      <p:sp>
        <p:nvSpPr>
          <p:cNvPr id="9" name="Text 5"/>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09</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Recommendation and proof</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The POC shows progress and specific next actions</a:t>
            </a:r>
            <a:endParaRPr lang="en-US" sz="320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4005072"/>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Observed gap</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Action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Why it matters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RSA account / identity</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skips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Provide approved test accounts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Run role and sign-in journeys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Missing job fixtures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Create controlled test records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Repeat the same expected journey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Full DB / CMS comparison</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pending</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Restore access and finish the check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Prove persistence as well as display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AI-generated assumptions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QA reviews expected outcomes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Avoid accepting a misleading pass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Resolve prerequisites, then expand the accepted test pack.</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10</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Completed automation</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Coverage needs a confirmed baseline</a:t>
            </a:r>
            <a:endParaRPr lang="en-US" sz="3200"/>
          </a:p>
        </p:txBody>
      </p:sp>
      <p:sp>
        <p:nvSpPr>
          <p:cNvPr id="4" name="Text 2"/>
          <p:cNvSpPr/>
          <p:nvPr/>
        </p:nvSpPr>
        <p:spPr>
          <a:xfrm>
            <a:off x="594360" y="1810512"/>
            <a:ext cx="10972800" cy="548640"/>
          </a:xfrm>
          <a:prstGeom prst="rect">
            <a:avLst/>
          </a:prstGeom>
          <a:noFill/>
          <a:ln/>
        </p:spPr>
        <p:txBody>
          <a:bodyPr wrap="square" lIns="0" tIns="0" rIns="0" bIns="0" rtlCol="0" anchor="t"/>
          <a:lstStyle/>
          <a:p>
            <a:pPr marL="0" indent="0">
              <a:buNone/>
            </a:pPr>
            <a:r>
              <a:rPr lang="en-US" sz="2500" b="1">
                <a:solidFill>
                  <a:srgbClr val="142B42"/>
                </a:solidFill>
                <a:latin typeface="Segoe UI" pitchFamily="34" charset="0"/>
                <a:ea typeface="Segoe UI" pitchFamily="34" charset="-122"/>
                <a:cs typeface="Segoe UI" pitchFamily="34" charset="-120"/>
              </a:rPr>
              <a:t>Reported RSA catalogue: 449 business cases</a:t>
            </a:r>
            <a:endParaRPr lang="en-US" sz="2500"/>
          </a:p>
        </p:txBody>
      </p:sp>
      <p:graphicFrame>
        <p:nvGraphicFramePr>
          <p:cNvPr id="5" name="Chart 0"/>
          <p:cNvGraphicFramePr/>
          <p:nvPr/>
        </p:nvGraphicFramePr>
        <p:xfrm>
          <a:off x="685800" y="2606040"/>
          <a:ext cx="10789920" cy="22402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94360" y="5074920"/>
            <a:ext cx="10972800" cy="548640"/>
          </a:xfrm>
          <a:prstGeom prst="rect">
            <a:avLst/>
          </a:prstGeom>
          <a:noFill/>
          <a:ln/>
        </p:spPr>
        <p:txBody>
          <a:bodyPr wrap="square" lIns="0" tIns="0" rIns="0" bIns="0" rtlCol="0" anchor="t"/>
          <a:lstStyle/>
          <a:p>
            <a:r>
              <a:rPr lang="en-US" sz="2500" b="1">
                <a:solidFill>
                  <a:srgbClr val="0B5FA5"/>
                </a:solidFill>
                <a:latin typeface="Segoe UI"/>
                <a:ea typeface="Segoe UI" pitchFamily="34" charset="-122"/>
                <a:cs typeface="Segoe UI"/>
              </a:rPr>
              <a:t>345 implemented (76.8%)    •    104 Cannot fully cover with automation</a:t>
            </a:r>
            <a:endParaRPr lang="en-US" sz="2500">
              <a:latin typeface="Segoe UI"/>
              <a:cs typeface="Segoe UI"/>
            </a:endParaRPr>
          </a:p>
        </p:txBody>
      </p:sp>
      <p:sp>
        <p:nvSpPr>
          <p:cNvPr id="7" name="Text 4"/>
          <p:cNvSpPr/>
          <p:nvPr/>
        </p:nvSpPr>
        <p:spPr>
          <a:xfrm>
            <a:off x="594360" y="5925312"/>
            <a:ext cx="10972800" cy="566928"/>
          </a:xfrm>
          <a:prstGeom prst="rect">
            <a:avLst/>
          </a:prstGeom>
          <a:noFill/>
          <a:ln/>
        </p:spPr>
        <p:txBody>
          <a:bodyPr wrap="square" lIns="0" tIns="0" rIns="0" bIns="0" rtlCol="0" anchor="t"/>
          <a:lstStyle/>
          <a:p>
            <a:r>
              <a:rPr lang="en-SG" sz="2000" dirty="0">
                <a:hlinkClick r:id="rId4"/>
              </a:rPr>
              <a:t>Not every test case can be fully automated - Aspire Digital - Confluence</a:t>
            </a:r>
            <a:endParaRPr lang="en-US" sz="1900" dirty="0">
              <a:latin typeface="Segoe UI"/>
              <a:cs typeface="Segoe UI"/>
            </a:endParaRPr>
          </a:p>
        </p:txBody>
      </p:sp>
      <p:sp>
        <p:nvSpPr>
          <p:cNvPr id="8" name="Text 5"/>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11</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Completed automation</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Separate cases, executable tests and results</a:t>
            </a:r>
            <a:endParaRPr lang="en-US" sz="320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566160"/>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Measure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Recorded value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What it means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RSA business cases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61 implemented / 449 catalogue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Reported business scope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RSA executable tests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71: 57 passed + 14 skipped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Reported run; not rerun here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Local RSA workshop run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6 passed; 13 tests listed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Saved subset, not full-pack proof</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Benefit focused run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2 passed; 19 value checks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Vendor check + login setup</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Report completed business scope and passing execution separately.</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12</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Completed automation</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The 14 reported skips have concrete prerequisites</a:t>
            </a:r>
            <a:endParaRPr lang="en-US" sz="320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621024"/>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Reason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Tests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What enables execution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Role accounts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9</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Approved accounts with the required</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roles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Identity sign-in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2</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Test identities for the sign-in service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Signed authentication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1</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Valid signed authentication fixture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Job records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2</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Controlled job data for the scenarios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A missing prerequisite does not establish that a scenario cannot be automated.</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13</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Automation boundaries</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Fully automate the digital checks we can observe</a:t>
            </a:r>
            <a:endParaRPr lang="en-US" sz="320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4005072"/>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Scenario</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Automation scope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Prerequisite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Web forms and rules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Input, validation, save and details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Agreed expected outcomes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Role-based journeys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Sign in and verify permitted</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actions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Approved role accounts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Assigned jobs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Verify digital assignment and</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status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Controlled job records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DB / CMS consistency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Compare defined persisted / shown</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values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Access and agreed field mapping</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Full automation is possible within a defined digital scope and available access.</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14</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Automation boundaries</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Some journeys need automated and human evidence</a:t>
            </a:r>
            <a:endParaRPr lang="en-US" sz="320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2962656"/>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Journey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Automated part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Remaining proof</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Notifications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Request, callback or controlled</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inbox</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Actual external delivery when</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uncontrolled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Third-party fulfilment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Request and returned status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External service completion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Roadside assistance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Assignment and digital status</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updates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Physical arrival and towing</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Label these journeys as partial when the external outcome is not verified.</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15</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Automation boundaries</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Not every test case can be fully automated</a:t>
            </a:r>
            <a:endParaRPr lang="en-US" sz="3200"/>
          </a:p>
        </p:txBody>
      </p:sp>
      <p:graphicFrame>
        <p:nvGraphicFramePr>
          <p:cNvPr id="7" name="Table 0"/>
          <p:cNvGraphicFramePr>
            <a:graphicFrameLocks noGrp="1"/>
          </p:cNvGraphicFramePr>
          <p:nvPr/>
        </p:nvGraphicFramePr>
        <p:xfrm>
          <a:off x="594360" y="1828800"/>
          <a:ext cx="10972800" cy="3657600"/>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457200">
                <a:tc>
                  <a:txBody>
                    <a:bodyPr/>
                    <a:lstStyle/>
                    <a:p>
                      <a:pPr marL="0" indent="0">
                        <a:buNone/>
                      </a:pPr>
                      <a:r>
                        <a:rPr lang="en-US" sz="1500" b="1">
                          <a:solidFill>
                            <a:srgbClr val="FFFFFF"/>
                          </a:solidFill>
                          <a:latin typeface="Segoe UI" pitchFamily="34" charset="0"/>
                          <a:ea typeface="Segoe UI" pitchFamily="34" charset="-122"/>
                          <a:cs typeface="Segoe UI" pitchFamily="34" charset="-120"/>
                        </a:rPr>
                        <a:t>Scenario</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500" b="1">
                          <a:solidFill>
                            <a:srgbClr val="FFFFFF"/>
                          </a:solidFill>
                          <a:latin typeface="Segoe UI" pitchFamily="34" charset="0"/>
                          <a:ea typeface="Segoe UI" pitchFamily="34" charset="-122"/>
                          <a:cs typeface="Segoe UI" pitchFamily="34" charset="-120"/>
                        </a:rPr>
                        <a:t>Example from our test list</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500" b="1">
                          <a:solidFill>
                            <a:srgbClr val="FFFFFF"/>
                          </a:solidFill>
                          <a:latin typeface="Segoe UI" pitchFamily="34" charset="0"/>
                          <a:ea typeface="Segoe UI" pitchFamily="34" charset="-122"/>
                          <a:cs typeface="Segoe UI" pitchFamily="34" charset="-120"/>
                        </a:rPr>
                        <a:t>Why a person is still needed</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Okta SSO login</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Sign in through Okta (TC-01-007)</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One-time code (OTP); Okta gives no test mock</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Real SMS delivery</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Send SMS via ClickNext (TC-12-012)</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Must arrive on a real phone</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762924811"/>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Push to provider app</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Dispatch job to driver (TC-04-025)</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Job-list API tested; web + phone not joined</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4026767405"/>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Live GPS tracking</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Truck trail on the map (TC-08-002)</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Needs trucks actually moving</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2428644281"/>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Time-based rules</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Job past agreed service time (TC-09-004)</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Must wait real time or fake the dates</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990558164"/>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Forced failures</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CMS outage (TC-10-009)</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Must break a live service on purpose</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2633310554"/>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Human judgement</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Control-room alert sound (TC-09-016)</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A person judges if agents notice it</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787074650"/>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102 of 449 cases are partly automatable; a person checks what a machine cannot.</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21</a:t>
            </a:r>
            <a:endParaRPr lang="en-US" sz="1100"/>
          </a:p>
        </p:txBody>
      </p:sp>
    </p:spTree>
    <p:extLst>
      <p:ext uri="{BB962C8B-B14F-4D97-AF65-F5344CB8AC3E}">
        <p14:creationId xmlns:p14="http://schemas.microsoft.com/office/powerpoint/2010/main" val="3247571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Automation boundaries</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Human judgement: what a machine cannot see</a:t>
            </a:r>
            <a:endParaRPr lang="en-US" sz="3200"/>
          </a:p>
        </p:txBody>
      </p:sp>
      <p:graphicFrame>
        <p:nvGraphicFramePr>
          <p:cNvPr id="7" name="Table 0"/>
          <p:cNvGraphicFramePr>
            <a:graphicFrameLocks noGrp="1"/>
          </p:cNvGraphicFramePr>
          <p:nvPr/>
        </p:nvGraphicFramePr>
        <p:xfrm>
          <a:off x="594360" y="1828800"/>
          <a:ext cx="10972800" cy="3657600"/>
        </p:xfrm>
        <a:graphic>
          <a:graphicData uri="http://schemas.openxmlformats.org/drawingml/2006/table">
            <a:tbl>
              <a:tblPr/>
              <a:tblGrid>
                <a:gridCol w="402336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457200">
                <a:tc>
                  <a:txBody>
                    <a:bodyPr/>
                    <a:lstStyle/>
                    <a:p>
                      <a:pPr marL="0" indent="0">
                        <a:buNone/>
                      </a:pPr>
                      <a:r>
                        <a:rPr lang="en-US" sz="1500" b="1">
                          <a:solidFill>
                            <a:srgbClr val="FFFFFF"/>
                          </a:solidFill>
                          <a:latin typeface="Segoe UI" pitchFamily="34" charset="0"/>
                          <a:ea typeface="Segoe UI" pitchFamily="34" charset="-122"/>
                          <a:cs typeface="Segoe UI" pitchFamily="34" charset="-120"/>
                        </a:rPr>
                        <a:t>Where in the app</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500" b="1">
                          <a:solidFill>
                            <a:srgbClr val="FFFFFF"/>
                          </a:solidFill>
                          <a:latin typeface="Segoe UI" pitchFamily="34" charset="0"/>
                          <a:ea typeface="Segoe UI" pitchFamily="34" charset="-122"/>
                          <a:cs typeface="Segoe UI" pitchFamily="34" charset="-120"/>
                        </a:rPr>
                        <a:t>What the machine checks</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500" b="1">
                          <a:solidFill>
                            <a:srgbClr val="FFFFFF"/>
                          </a:solidFill>
                          <a:latin typeface="Segoe UI" pitchFamily="34" charset="0"/>
                          <a:ea typeface="Segoe UI" pitchFamily="34" charset="-122"/>
                          <a:cs typeface="Segoe UI" pitchFamily="34" charset="-120"/>
                        </a:rPr>
                        <a:t>What a person judges</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Monitor alert sound (TC-09-016)</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Sound plays without an error</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Loud enough for the control room?</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Failed SMS in the SMS log (TC-12-003)</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Failed rows have a colour or label</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Can staff spot it and retry?</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674652356"/>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Unread provider message (TC-09-009)</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Unread rows are marked differently</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Does an agent notice no reply?</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150883516"/>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Overdue task on a job (TC-07-005)</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A highlight colour is shown</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Obvious enough to act on?</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960414754"/>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Truck stops sending location (TC-11-006)</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A warning icon is shown</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Does someone notice it is lost?</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4057961583"/>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Job detail PDF (TC-13-021)</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File downloads with the job number</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Readable and fit to send a client?</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708741711"/>
                  </a:ext>
                </a:extLst>
              </a:tr>
              <a:tr h="457200">
                <a:tc>
                  <a:txBody>
                    <a:bodyPr/>
                    <a:lstStyle/>
                    <a:p>
                      <a:pPr marL="0" indent="0">
                        <a:buNone/>
                      </a:pPr>
                      <a:r>
                        <a:rPr lang="en-US" sz="1500">
                          <a:solidFill>
                            <a:srgbClr val="142B42"/>
                          </a:solidFill>
                          <a:latin typeface="Segoe UI" pitchFamily="34" charset="0"/>
                          <a:ea typeface="Segoe UI" pitchFamily="34" charset="-122"/>
                          <a:cs typeface="Segoe UI" pitchFamily="34" charset="-120"/>
                        </a:rPr>
                        <a:t>Keyboard-only use (TC-22-024)</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Tab key reaches every control</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500">
                          <a:solidFill>
                            <a:srgbClr val="142B42"/>
                          </a:solidFill>
                          <a:latin typeface="Segoe UI" pitchFamily="34" charset="0"/>
                          <a:ea typeface="Segoe UI" pitchFamily="34" charset="-122"/>
                          <a:cs typeface="Segoe UI" pitchFamily="34" charset="-120"/>
                        </a:rPr>
                        <a:t>Can you always see where you are?</a:t>
                      </a:r>
                      <a:endParaRPr lang="en-US" sz="1500">
                        <a:latin typeface="Segoe UI" charset="0"/>
                        <a:ea typeface="Segoe UI" charset="0"/>
                        <a:cs typeface="Segoe UI" charset="0"/>
                      </a:endParaRPr>
                    </a:p>
                  </a:txBody>
                  <a:tcPr marL="146304" marR="146304" marT="82296" marB="82296">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388071142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The machine checks it is there; a person checks it is noticed and usable.</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22</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Automation boundaries</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Keep human judgement explicit</a:t>
            </a:r>
            <a:endParaRPr lang="en-US" sz="320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4005072"/>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Human check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Why it remains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How to report it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Usability and clarity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Requires judgement about the</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experience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Manual acceptance alongside digital</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tests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Human approval / protected</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MFA</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Depends on a person or protected</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challenge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Approved test path, otherwise manual</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step</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Physical service</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acceptance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Outside the observable web workflow</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Attach operational confirmation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Unassessed cases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Scope has not yet been reviewed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Classify before declaring impossible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Classify each remaining case: full, partial, prerequisite-blocked or manual.</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16</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Pipeline plan</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Move from local proof to an unattended pilot</a:t>
            </a:r>
            <a:endParaRPr lang="en-US" sz="320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675888"/>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Phase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Deliverable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Acceptance evidence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1. Agree the pack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Case list, required count and owner</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Approved expected coverage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2. Run after test</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deployment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Cloud runner with controlled access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Actual hosted run and report link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3. Stabilise the pilot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Repeat runs and failure recovery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Proposed target: 10 unattended runs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4. Expand triggers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Nightly and release checks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Reliable evidence and agreed release</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gate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Proposed plan: prove one hosted pilot before expanding release controls.</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17</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Pipeline plan</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The local gate rejects incomplete success</a:t>
            </a:r>
            <a:endParaRPr lang="en-US" sz="320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730752"/>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Local check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Result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Management meaning</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Gate policy self-check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5 checks passed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Pass / fail / skip / empty / incomplete</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handled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RSA: 6 passed, 13 expected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Rejected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 green subset cannot stand for the</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full pack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Benefit: 2 passed, 2</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expected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Accepted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Saved focused pack met its required</a:t>
                      </a:r>
                      <a:endParaRPr lang="en-US" sz="1800">
                        <a:latin typeface="Segoe UI" charset="0"/>
                        <a:ea typeface="Segoe UI" charset="0"/>
                        <a:cs typeface="Segoe UI" charset="0"/>
                      </a:endParaRPr>
                    </a:p>
                    <a:p>
                      <a:pPr marL="0" indent="0">
                        <a:buNone/>
                      </a:pPr>
                      <a:r>
                        <a:rPr lang="en-US" sz="1800">
                          <a:solidFill>
                            <a:srgbClr val="142B42"/>
                          </a:solidFill>
                          <a:latin typeface="Segoe UI" pitchFamily="34" charset="0"/>
                          <a:ea typeface="Segoe UI" pitchFamily="34" charset="-122"/>
                          <a:cs typeface="Segoe UI" pitchFamily="34" charset="-120"/>
                        </a:rPr>
                        <a:t>count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Hosted cloud pipeline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Not demonstrated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Infrastructure proof still needed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Local gate proof is complete; hosted execution is the next evidence milestone.</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18</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Pipeline plan</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The pilot needs an owner and evidence of recovery</a:t>
            </a:r>
            <a:endParaRPr lang="en-US" sz="320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566160"/>
        </p:xfrm>
        <a:graphic>
          <a:graphicData uri="http://schemas.openxmlformats.org/drawingml/2006/table">
            <a:tbl>
              <a:tblPr/>
              <a:tblGrid>
                <a:gridCol w="3429000">
                  <a:extLst>
                    <a:ext uri="{9D8B030D-6E8A-4147-A177-3AD203B41FA5}">
                      <a16:colId xmlns:a16="http://schemas.microsoft.com/office/drawing/2014/main" val="20000"/>
                    </a:ext>
                  </a:extLst>
                </a:gridCol>
                <a:gridCol w="7543800">
                  <a:extLst>
                    <a:ext uri="{9D8B030D-6E8A-4147-A177-3AD203B41FA5}">
                      <a16:colId xmlns:a16="http://schemas.microsoft.com/office/drawing/2014/main" val="20001"/>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Need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Owner / proof to agree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Accounts, data and network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Approved test access; predictable data and cleanup</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Secure evidence storage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Restricted reports, screenshots, traces and videos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Hosted success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Run ID and accessible results for the complete pack</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Hosted failure and recovery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Deliberate failure blocks the gate; corrected rerun passes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Use these checks to decide when the pipeline is ready for release use.</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19</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Decision requested</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For approval: Playwright + Claude Code</a:t>
            </a:r>
            <a:endParaRPr lang="en-US" sz="3200"/>
          </a:p>
        </p:txBody>
      </p:sp>
      <p:graphicFrame>
        <p:nvGraphicFramePr>
          <p:cNvPr id="7" name="Table 0"/>
          <p:cNvGraphicFramePr>
            <a:graphicFrameLocks noGrp="1"/>
          </p:cNvGraphicFramePr>
          <p:nvPr/>
        </p:nvGraphicFramePr>
        <p:xfrm>
          <a:off x="594360" y="1828800"/>
          <a:ext cx="10972800" cy="3621024"/>
        </p:xfrm>
        <a:graphic>
          <a:graphicData uri="http://schemas.openxmlformats.org/drawingml/2006/table">
            <a:tbl>
              <a:tblPr/>
              <a:tblGrid>
                <a:gridCol w="274320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Tool</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What it does for us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Cost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Playwright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Clicks through the website like a user</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Free (open source)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Claude Team (AI)</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Writes and fixes tests; built 71 already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Min: USD 20 per person / month</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Build pipeline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Runs every test on each release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Existing; no new tool</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QA team</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Reviews results; does the manual checks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Existing staff</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We ask approval for Claude Team seats and Playwright as our test standard.</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26</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Decision requested</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Company plans: same price, Claude delivers more</a:t>
            </a:r>
            <a:endParaRPr lang="en-US" sz="3200"/>
          </a:p>
        </p:txBody>
      </p:sp>
      <p:graphicFrame>
        <p:nvGraphicFramePr>
          <p:cNvPr id="7" name="Table 0"/>
          <p:cNvGraphicFramePr>
            <a:graphicFrameLocks noGrp="1"/>
          </p:cNvGraphicFramePr>
          <p:nvPr/>
        </p:nvGraphicFramePr>
        <p:xfrm>
          <a:off x="594360" y="1828800"/>
          <a:ext cx="10972800" cy="3566160"/>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Plan option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Claude (Claude Code)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ChatGPT (Codex)</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Team plan, standard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USD 20 / person / month</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USD 20 / person / month</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Team plan, premium</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USD 100 · available now</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USD 100 · waitlist only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Enterprise plan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USD 20 + pay per use · 20+ people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Price on request · ~150 people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Minimum team</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2 people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2 people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Prices billed annually (USD 25 if monthly). Our choice: Claude Team plan.</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25</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Tokens and usage limits</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Same USD 20, Claude gets more work done</a:t>
            </a:r>
            <a:endParaRPr lang="en-US" sz="3200"/>
          </a:p>
        </p:txBody>
      </p:sp>
      <p:graphicFrame>
        <p:nvGraphicFramePr>
          <p:cNvPr id="7" name="Table 0"/>
          <p:cNvGraphicFramePr>
            <a:graphicFrameLocks noGrp="1"/>
          </p:cNvGraphicFramePr>
          <p:nvPr/>
        </p:nvGraphicFramePr>
        <p:xfrm>
          <a:off x="594360" y="1828800"/>
          <a:ext cx="10972800" cy="3730752"/>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What we compared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Claude Team</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ChatGPT Business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Standard seat: allowance every 5 hours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1.25 × the personal plan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1 × the personal plan (same as Plus)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Premium seat (USD 100)</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6.25 × the personal plan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Not published yet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AI text written per test (our trial)</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about 3,800 tokens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about 64,000 tokens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Weekly allowance used (our trial)</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Not measured</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51% of the week for 2 tests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A token is the AI’s “mobile data”, about ¾ of a word. Every seat has a weekly limit.</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26</a:t>
            </a:r>
            <a:endParaRPr lang="en-US" sz="1100"/>
          </a:p>
        </p:txBody>
      </p:sp>
    </p:spTree>
    <p:extLst>
      <p:ext uri="{BB962C8B-B14F-4D97-AF65-F5344CB8AC3E}">
        <p14:creationId xmlns:p14="http://schemas.microsoft.com/office/powerpoint/2010/main" val="25336007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a:solidFill>
                  <a:srgbClr val="0B5FA5"/>
                </a:solidFill>
                <a:latin typeface="Segoe UI" pitchFamily="34" charset="0"/>
                <a:ea typeface="Segoe UI" pitchFamily="34" charset="-122"/>
                <a:cs typeface="Segoe UI" pitchFamily="34" charset="-120"/>
              </a:rPr>
              <a:t>Decision and next steps</a:t>
            </a:r>
            <a:endParaRPr lang="en-US" sz="150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a:solidFill>
                  <a:srgbClr val="142B42"/>
                </a:solidFill>
                <a:latin typeface="Segoe UI" pitchFamily="34" charset="0"/>
                <a:ea typeface="Segoe UI" pitchFamily="34" charset="-122"/>
                <a:cs typeface="Segoe UI" pitchFamily="34" charset="-120"/>
              </a:rPr>
              <a:t>The management decision and next steps</a:t>
            </a:r>
            <a:endParaRPr lang="en-US" sz="320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3566160"/>
        </p:xfrm>
        <a:graphic>
          <a:graphicData uri="http://schemas.openxmlformats.org/drawingml/2006/table">
            <a:tbl>
              <a:tblPr/>
              <a:tblGrid>
                <a:gridCol w="3429000">
                  <a:extLst>
                    <a:ext uri="{9D8B030D-6E8A-4147-A177-3AD203B41FA5}">
                      <a16:colId xmlns:a16="http://schemas.microsoft.com/office/drawing/2014/main" val="20000"/>
                    </a:ext>
                  </a:extLst>
                </a:gridCol>
                <a:gridCol w="7543800">
                  <a:extLst>
                    <a:ext uri="{9D8B030D-6E8A-4147-A177-3AD203B41FA5}">
                      <a16:colId xmlns:a16="http://schemas.microsoft.com/office/drawing/2014/main" val="20001"/>
                    </a:ext>
                  </a:extLst>
                </a:gridCol>
              </a:tblGrid>
              <a:tr h="713232">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Decision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a:solidFill>
                            <a:srgbClr val="FFFFFF"/>
                          </a:solidFill>
                          <a:latin typeface="Segoe UI" pitchFamily="34" charset="0"/>
                          <a:ea typeface="Segoe UI" pitchFamily="34" charset="-122"/>
                          <a:cs typeface="Segoe UI" pitchFamily="34" charset="-120"/>
                        </a:rPr>
                        <a:t>Next action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Web execution: Playwright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Use complete workflows and reportable evidence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Claude Code: primary author</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Confirm with a matched-task trial; Codex for focused checks</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Coverage</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Approve one inventory; resolve the 300 / 400 discrepancy</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a:solidFill>
                            <a:srgbClr val="142B42"/>
                          </a:solidFill>
                          <a:latin typeface="Segoe UI" pitchFamily="34" charset="0"/>
                          <a:ea typeface="Segoe UI" pitchFamily="34" charset="-122"/>
                          <a:cs typeface="Segoe UI" pitchFamily="34" charset="-120"/>
                        </a:rPr>
                        <a:t>Pipeline investment</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a:solidFill>
                            <a:srgbClr val="142B42"/>
                          </a:solidFill>
                          <a:latin typeface="Segoe UI" pitchFamily="34" charset="0"/>
                          <a:ea typeface="Segoe UI" pitchFamily="34" charset="-122"/>
                          <a:cs typeface="Segoe UI" pitchFamily="34" charset="-120"/>
                        </a:rPr>
                        <a:t>Assign a pilot owner and prove unattended execution</a:t>
                      </a:r>
                      <a:endParaRPr lang="en-US" sz="180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a:solidFill>
                  <a:srgbClr val="0B5FA5"/>
                </a:solidFill>
                <a:latin typeface="Segoe UI" pitchFamily="34" charset="0"/>
                <a:ea typeface="Segoe UI" pitchFamily="34" charset="-122"/>
                <a:cs typeface="Segoe UI" pitchFamily="34" charset="-120"/>
              </a:rPr>
              <a:t>Proceed with a controlled web pilot and publish only evidenced results.</a:t>
            </a:r>
            <a:endParaRPr lang="en-US" sz="190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a:solidFill>
                  <a:srgbClr val="627488"/>
                </a:solidFill>
                <a:latin typeface="Segoe UI" pitchFamily="34" charset="0"/>
                <a:ea typeface="Segoe UI" pitchFamily="34" charset="-122"/>
                <a:cs typeface="Segoe UI" pitchFamily="34" charset="-120"/>
              </a:rPr>
              <a:t>20</a:t>
            </a:r>
            <a:endParaRPr lang="en-US" sz="11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2404</Words>
  <Application>Microsoft Office PowerPoint</Application>
  <PresentationFormat>Widescreen</PresentationFormat>
  <Paragraphs>519</Paragraphs>
  <Slides>27</Slides>
  <Notes>20</Notes>
  <HiddenSlides>1</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International SOS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QA Automation — Management Briefing</dc:title>
  <dc:subject>Tool selection, POC evidence, coverage and pipeline plan</dc:subject>
  <dc:creator>APAC Aspire Digital</dc:creator>
  <cp:lastModifiedBy>Vimukthi Sameera Amaratunga</cp:lastModifiedBy>
  <cp:revision>7</cp:revision>
  <dcterms:created xsi:type="dcterms:W3CDTF">2026-10-09T04:06:43Z</dcterms:created>
  <dcterms:modified xsi:type="dcterms:W3CDTF">2026-10-15T05:59:54Z</dcterms:modified>
</cp:coreProperties>
</file>