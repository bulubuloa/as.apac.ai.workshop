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Implemented</c:v>
                </c:pt>
              </c:strCache>
            </c:strRef>
          </c:tx>
          <c:spPr>
            <a:solidFill>
              <a:srgbClr val="0B5FA5"/>
            </a:solidFill>
            <a:effectLst/>
          </c:spPr>
          <c:invertIfNegative val="0"/>
          <c:dLbls>
            <c:numFmt formatCode="0" sourceLinked="0"/>
            <c:spPr>
              <a:noFill/>
              <a:ln>
                <a:noFill/>
              </a:ln>
              <a:effectLst/>
            </c:spPr>
            <c:txPr>
              <a:bodyPr/>
              <a:lstStyle/>
              <a:p>
                <a:pPr>
                  <a:defRPr sz="1200" b="0" i="0" u="none" strike="noStrike">
                    <a:solidFill>
                      <a:srgbClr val="142B42"/>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RSA cases</c:v>
                </c:pt>
              </c:strCache>
            </c:strRef>
          </c:cat>
          <c:val>
            <c:numRef>
              <c:f>Sheet1!$B$2:$B$2</c:f>
              <c:numCache>
                <c:formatCode>General</c:formatCode>
                <c:ptCount val="1"/>
                <c:pt idx="0">
                  <c:v>61</c:v>
                </c:pt>
              </c:numCache>
            </c:numRef>
          </c:val>
          <c:extLst>
            <c:ext xmlns:c16="http://schemas.microsoft.com/office/drawing/2014/chart" uri="{C3380CC4-5D6E-409C-BE32-E72D297353CC}">
              <c16:uniqueId val="{00000000-D17C-4678-B1FC-2B57F88931E2}"/>
            </c:ext>
          </c:extLst>
        </c:ser>
        <c:ser>
          <c:idx val="1"/>
          <c:order val="1"/>
          <c:tx>
            <c:strRef>
              <c:f>Sheet1!$C$1</c:f>
              <c:strCache>
                <c:ptCount val="1"/>
                <c:pt idx="0">
                  <c:v>Not started</c:v>
                </c:pt>
              </c:strCache>
            </c:strRef>
          </c:tx>
          <c:spPr>
            <a:solidFill>
              <a:srgbClr val="D4DEE8"/>
            </a:solidFill>
            <a:effectLst/>
          </c:spPr>
          <c:invertIfNegative val="0"/>
          <c:dLbls>
            <c:numFmt formatCode="0" sourceLinked="0"/>
            <c:spPr>
              <a:noFill/>
              <a:ln>
                <a:noFill/>
              </a:ln>
              <a:effectLst/>
            </c:spPr>
            <c:txPr>
              <a:bodyPr/>
              <a:lstStyle/>
              <a:p>
                <a:pPr>
                  <a:defRPr sz="1200" b="0" i="0" u="none" strike="noStrike">
                    <a:solidFill>
                      <a:srgbClr val="142B42"/>
                    </a:solidFill>
                    <a:latin typeface="Arial"/>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Sheet1!$A$2:$A$2</c:f>
              <c:strCache>
                <c:ptCount val="1"/>
                <c:pt idx="0">
                  <c:v>RSA cases</c:v>
                </c:pt>
              </c:strCache>
            </c:strRef>
          </c:cat>
          <c:val>
            <c:numRef>
              <c:f>Sheet1!$C$2:$C$2</c:f>
              <c:numCache>
                <c:formatCode>General</c:formatCode>
                <c:ptCount val="1"/>
                <c:pt idx="0">
                  <c:v>388</c:v>
                </c:pt>
              </c:numCache>
            </c:numRef>
          </c:val>
          <c:extLst>
            <c:ext xmlns:c16="http://schemas.microsoft.com/office/drawing/2014/chart" uri="{C3380CC4-5D6E-409C-BE32-E72D297353CC}">
              <c16:uniqueId val="{00000001-D17C-4678-B1FC-2B57F88931E2}"/>
            </c:ext>
          </c:extLst>
        </c:ser>
        <c:dLbls>
          <c:dLblPos val="ctr"/>
          <c:showLegendKey val="0"/>
          <c:showVal val="1"/>
          <c:showCatName val="0"/>
          <c:showSerName val="0"/>
          <c:showPercent val="0"/>
          <c:showBubbleSize val="0"/>
        </c:dLbls>
        <c:gapWidth val="50"/>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449"/>
          <c:min val="0"/>
        </c:scaling>
        <c:delete val="0"/>
        <c:axPos val="b"/>
        <c:majorGridlines>
          <c:spPr>
            <a:ln w="12700" cap="flat">
              <a:solidFill>
                <a:srgbClr val="888888"/>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400" b="0" i="0" u="none" strike="noStrike">
                <a:solidFill>
                  <a:srgbClr val="000000"/>
                </a:solidFill>
                <a:latin typeface="Arial"/>
              </a:defRPr>
            </a:pPr>
            <a:endParaRPr lang="en-US"/>
          </a:p>
        </c:txPr>
        <c:crossAx val="2094734554"/>
        <c:crosses val="autoZero"/>
        <c:crossBetween val="between"/>
        <c:majorUnit val="100"/>
      </c:valAx>
      <c:spPr>
        <a:noFill/>
        <a:ln>
          <a:noFill/>
        </a:ln>
        <a:effectLst/>
      </c:spPr>
    </c:plotArea>
    <c:legend>
      <c:legendPos val="b"/>
      <c:overlay val="0"/>
      <c:txPr>
        <a:bodyPr/>
        <a:lstStyle/>
        <a:p>
          <a:pPr>
            <a:defRPr sz="18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1021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Playwright for execution. Claude Code for broader suite authoring. Codex for focused vendor and CMS checks. Evidence limitations and pipeline next steps are explicit.
Sources: https://internationalsos.atlassian.net/wiki/spaces/AD/pages/6895960137
https://internationalsos.atlassian.net/wiki/spaces/AD/pages/6896910361
https://internationalsos.atlassian.net/wiki/spaces/AD/pages/6896287838
https://internationalsos.atlassian.net/wiki/spaces/AD/pages/6895534237
https://internationalsos.atlassian.net/wiki/spaces/AD/pages/6896681063
https://internationalsos.atlassian.net/wiki/spaces/AD/pages/6896681090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are viable. Playwright best matches RSA and Benefit workflows spanning forms, popups and connected data. Framework licence cost excludes hosting, labour and optional services. Cypress Cloud is optional and paid.
Sources: https://internationalsos.atlassian.net/wiki/spaces/AD/pages/6895960137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capability-based selection. We do not use existing implementation or avoiding a restart as the reason to choose Playwright. Database and CMS comparisons require a defined expected result and access.
Sources: https://internationalsos.atlassian.net/wiki/spaces/AD/pages/6895960137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ROI or time-saving percentage has been established in this POC. Tool capability supports the recommendation; teams must still review business assertions, account access and data cleanup.
Sources: https://internationalsos.atlassian.net/wiki/spaces/AD/pages/6895960137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 has the broader documented delivery for this job. This is not proof of universal superiority, lower cost or greater accuracy. Codex demonstrated a narrower but detailed vendor creation and CMS validation workflow.
Sources: https://internationalsos.atlassian.net/wiki/spaces/AD/pages/6896910361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RSA results are reported from the source POC, not rerun here. Benefit’s two passing executable tests are one vendor business check and one login setup. Nineteen value comparisons are field checks, not nineteen business cases. Full corrected BenefitDB/CMS comparison remains pending.
Sources: https://internationalsos.atlassian.net/wiki/spaces/AD/pages/6896910361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benchmark is a plan and has not been completed. Both tools should receive identical project access, test cases, environment, data and review criteria. Compare accepted outcomes rather than the number of generated tests.
Sources: https://internationalsos.atlassian.net/wiki/spaces/AD/pages/6896910361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reported Claude RSA suite 61 cases, 57 passes and 14 skips; saved local RSA subset six passes; saved Codex Benefit vendor flow plus login two passes and nineteen CMS checks. Authoring and execution have different responsibilities.
Sources: https://internationalsos.atlassian.net/wiki/spaces/AD/pages/6896287838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Saved evidence from 8 October 2026. The left image captures the successful creation toast. The right image shows the upper portion of vendor details. Vendor ID 20415 and CMS item d4b1c8e8-d8ac-415d-86eb-856391f9a531. This demonstrates save, detail display and nineteen CMS-rendered value comparisons. It does not prove every optional field persisted or full database parity.
Sources: https://internationalsos.atlassian.net/wiki/spaces/AD/pages/6896287838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successful UI/CMS comparison is narrower than full end-to-end integration proof. Some earlier Benefit assumptions about disabled fields were corrected by selecting Thailand at the top right, English and reloading. Access expiry prevented completion of the corrected full DB comparison.
Sources: https://internationalsos.atlassian.net/wiki/spaces/AD/pages/6896287838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RSA POC reports a catalogue of 449 cases across 22 sheets, 61 implemented cases and 388 not started. 61/449 is 13.6% implemented coverage of that reported catalogue. This is not passing coverage. No verified 300/400 inventory has been supplied.
Sources: https://internationalsos.atlassian.net/wiki/spaces/AD/pages/6895534237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business case may produce multiple executable tests. Setup tests should not be presented as additional business coverage. The local RSA six-test saved result includes five functional tests and setup; the thirteen-test inventory includes twelve functional tests and setup.
Sources: https://internationalsos.atlassian.net/wiki/spaces/AD/pages/6895534237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counts explain the fourteen reported RSA skips. They do not explain a supposed remaining one hundred cases. The 388 not-started catalogue cases need individual assessment; they are not all impossible. Source POC dated 8 October 2026.
Sources: https://internationalsos.atlassian.net/wiki/spaces/AD/pages/6895534237
Canonical RSA POC: https://internationalsos.atlassian.net/wiki/spaces/AD/pages/6772031506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means all assertions of a defined digital scenario can be checked. It does not imply every integration has been proven. Benefit’s corrected complete DB/CMS comparison remains pending.
Sources: https://internationalsos.atlassian.net/wiki/spaces/AD/pages/6896681063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digital status update does not independently prove physical roadside service completion. Controlled integration checks can be automated; real external outcomes may require provider evidence or a human check.
Sources: https://internationalsos.atlassian.net/wiki/spaces/AD/pages/6896681063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MFA and CAPTCHA should not be bypassed. Approved test identities or test-environment paths may enable digital automation. These are scenario categories, not a verified breakdown of one hundred remaining cases.
Sources: https://internationalsos.atlassian.net/wiki/spaces/AD/pages/6896681063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POC contains a draft CodeBuild setup and local gate checks. No cloud QA run or deployed QA pipeline has been demonstrated. Ten unattended runs is a proposed acceptance target, not a completed result.
Sources: https://internationalsos.atlassian.net/wiki/spaces/AD/pages/6896681090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Local validator rerun 9 October 2026 against saved results: complete passing run accepted; failed, skipped, empty and incomplete runs rejected. No browser rerun or cloud pipeline deployment was performed for this presentation.
Sources: https://internationalsos.atlassian.net/wiki/spaces/AD/pages/6896681090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Runner image, environment configuration, secrets, network access and cleanup need ownership. Evidence should avoid credentials and customer data. A hosted run ID, report link and demonstrated failure/recovery are needed before claiming pipeline readiness.
Sources: https://internationalsos.atlassian.net/wiki/spaces/AD/pages/6896681090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Supporting project: https://github.com/bulubuloa/AS.APAC.AI.Workshop . Roadside-web is the published example. Benefit focused project is local and has not been published to that repository. The approved Confluence pages contain the supporting detail.
Sources: https://internationalsos.atlassian.net/wiki/spaces/AD/pages/6895960137
https://internationalsos.atlassian.net/wiki/spaces/AD/pages/6896910361
https://internationalsos.atlassian.net/wiki/spaces/AD/pages/6896287838
https://internationalsos.atlassian.net/wiki/spaces/AD/pages/6895534237
https://internationalsos.atlassian.net/wiki/spaces/AD/pages/6896681063
https://internationalsos.atlassian.net/wiki/spaces/AD/pages/6896681090
POC supporting evidence: https://internationalsos.atlassian.net/wiki/spaces/AD/pages/6896156677</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B42"/>
        </a:solidFill>
        <a:effectLst/>
      </p:bgPr>
    </p:bg>
    <p:spTree>
      <p:nvGrpSpPr>
        <p:cNvPr id="1" name=""/>
        <p:cNvGrpSpPr/>
        <p:nvPr/>
      </p:nvGrpSpPr>
      <p:grpSpPr>
        <a:xfrm>
          <a:off x="0" y="0"/>
          <a:ext cx="0" cy="0"/>
          <a:chOff x="0" y="0"/>
          <a:chExt cx="0" cy="0"/>
        </a:xfrm>
      </p:grpSpPr>
      <p:sp>
        <p:nvSpPr>
          <p:cNvPr id="2" name="Text 0"/>
          <p:cNvSpPr/>
          <p:nvPr/>
        </p:nvSpPr>
        <p:spPr>
          <a:xfrm>
            <a:off x="640080" y="1005840"/>
            <a:ext cx="10789920" cy="457200"/>
          </a:xfrm>
          <a:prstGeom prst="rect">
            <a:avLst/>
          </a:prstGeom>
          <a:noFill/>
          <a:ln/>
        </p:spPr>
        <p:txBody>
          <a:bodyPr wrap="square" lIns="0" tIns="0" rIns="0" bIns="0" rtlCol="0" anchor="t"/>
          <a:lstStyle/>
          <a:p>
            <a:pPr marL="0" indent="0">
              <a:buNone/>
            </a:pPr>
            <a:r>
              <a:rPr lang="en-US" sz="1800" dirty="0">
                <a:solidFill>
                  <a:srgbClr val="8CBDE5"/>
                </a:solidFill>
                <a:latin typeface="Segoe UI" pitchFamily="34" charset="0"/>
                <a:ea typeface="Segoe UI" pitchFamily="34" charset="-122"/>
                <a:cs typeface="Segoe UI" pitchFamily="34" charset="-120"/>
              </a:rPr>
              <a:t>APAC ASPIRE DIGITAL</a:t>
            </a:r>
            <a:endParaRPr lang="en-US" sz="1800" dirty="0"/>
          </a:p>
        </p:txBody>
      </p:sp>
      <p:sp>
        <p:nvSpPr>
          <p:cNvPr id="3" name="Text 1"/>
          <p:cNvSpPr/>
          <p:nvPr/>
        </p:nvSpPr>
        <p:spPr>
          <a:xfrm>
            <a:off x="640080" y="1828800"/>
            <a:ext cx="10789920" cy="1005840"/>
          </a:xfrm>
          <a:prstGeom prst="rect">
            <a:avLst/>
          </a:prstGeom>
          <a:noFill/>
          <a:ln/>
        </p:spPr>
        <p:txBody>
          <a:bodyPr wrap="square" lIns="0" tIns="0" rIns="0" bIns="0" rtlCol="0" anchor="t"/>
          <a:lstStyle/>
          <a:p>
            <a:pPr marL="0" indent="0">
              <a:buNone/>
            </a:pPr>
            <a:r>
              <a:rPr lang="en-US" sz="4600" b="1" dirty="0">
                <a:solidFill>
                  <a:srgbClr val="FFFFFF"/>
                </a:solidFill>
                <a:latin typeface="Segoe UI" pitchFamily="34" charset="0"/>
                <a:ea typeface="Segoe UI" pitchFamily="34" charset="-122"/>
                <a:cs typeface="Segoe UI" pitchFamily="34" charset="-120"/>
              </a:rPr>
              <a:t>Web QA Automation</a:t>
            </a:r>
            <a:endParaRPr lang="en-US" sz="4600" dirty="0"/>
          </a:p>
        </p:txBody>
      </p:sp>
      <p:sp>
        <p:nvSpPr>
          <p:cNvPr id="4" name="Text 2"/>
          <p:cNvSpPr/>
          <p:nvPr/>
        </p:nvSpPr>
        <p:spPr>
          <a:xfrm>
            <a:off x="640080" y="3154680"/>
            <a:ext cx="10789920" cy="1005840"/>
          </a:xfrm>
          <a:prstGeom prst="rect">
            <a:avLst/>
          </a:prstGeom>
          <a:noFill/>
          <a:ln/>
        </p:spPr>
        <p:txBody>
          <a:bodyPr wrap="square" lIns="0" tIns="0" rIns="0" bIns="0" rtlCol="0" anchor="t"/>
          <a:lstStyle/>
          <a:p>
            <a:pPr marL="0" indent="0">
              <a:buNone/>
            </a:pPr>
            <a:r>
              <a:rPr lang="en-US" sz="2900" dirty="0">
                <a:solidFill>
                  <a:srgbClr val="FFFFFF"/>
                </a:solidFill>
                <a:latin typeface="Segoe UI" pitchFamily="34" charset="0"/>
                <a:ea typeface="Segoe UI" pitchFamily="34" charset="-122"/>
                <a:cs typeface="Segoe UI" pitchFamily="34" charset="-120"/>
              </a:rPr>
              <a:t>A management decision backed by POC evidence</a:t>
            </a:r>
            <a:endParaRPr lang="en-US" sz="2900" dirty="0"/>
          </a:p>
        </p:txBody>
      </p:sp>
      <p:sp>
        <p:nvSpPr>
          <p:cNvPr id="5" name="Text 3"/>
          <p:cNvSpPr/>
          <p:nvPr/>
        </p:nvSpPr>
        <p:spPr>
          <a:xfrm>
            <a:off x="640080" y="4892040"/>
            <a:ext cx="10789920" cy="914400"/>
          </a:xfrm>
          <a:prstGeom prst="rect">
            <a:avLst/>
          </a:prstGeom>
          <a:noFill/>
          <a:ln/>
        </p:spPr>
        <p:txBody>
          <a:bodyPr wrap="square" lIns="0" tIns="0" rIns="0" bIns="0" rtlCol="0" anchor="t"/>
          <a:lstStyle/>
          <a:p>
            <a:pPr marL="0" indent="0">
              <a:buNone/>
            </a:pPr>
            <a:r>
              <a:rPr lang="en-US" sz="2100" dirty="0">
                <a:solidFill>
                  <a:srgbClr val="CCDBEA"/>
                </a:solidFill>
                <a:latin typeface="Segoe UI" pitchFamily="34" charset="0"/>
                <a:ea typeface="Segoe UI" pitchFamily="34" charset="-122"/>
                <a:cs typeface="Segoe UI" pitchFamily="34" charset="-120"/>
              </a:rPr>
              <a:t>RSA and Benefit · Web testing</a:t>
            </a:r>
            <a:endParaRPr lang="en-US" sz="2100" dirty="0"/>
          </a:p>
          <a:p>
            <a:pPr marL="0" indent="0">
              <a:buNone/>
            </a:pPr>
            <a:r>
              <a:rPr lang="en-US" sz="2100" dirty="0">
                <a:solidFill>
                  <a:srgbClr val="CCDBEA"/>
                </a:solidFill>
                <a:latin typeface="Segoe UI" pitchFamily="34" charset="0"/>
                <a:ea typeface="Segoe UI" pitchFamily="34" charset="-122"/>
                <a:cs typeface="Segoe UI" pitchFamily="34" charset="-120"/>
              </a:rPr>
              <a:t>Management briefing · 9 October 2026</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Why Playwright</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Playwright fits our complete web workflows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2871216">
                  <a:extLst>
                    <a:ext uri="{9D8B030D-6E8A-4147-A177-3AD203B41FA5}">
                      <a16:colId xmlns:a16="http://schemas.microsoft.com/office/drawing/2014/main" val="20001"/>
                    </a:ext>
                  </a:extLst>
                </a:gridCol>
                <a:gridCol w="2862072">
                  <a:extLst>
                    <a:ext uri="{9D8B030D-6E8A-4147-A177-3AD203B41FA5}">
                      <a16:colId xmlns:a16="http://schemas.microsoft.com/office/drawing/2014/main" val="20002"/>
                    </a:ext>
                  </a:extLst>
                </a:gridCol>
                <a:gridCol w="2862072">
                  <a:extLst>
                    <a:ext uri="{9D8B030D-6E8A-4147-A177-3AD203B41FA5}">
                      <a16:colId xmlns:a16="http://schemas.microsoft.com/office/drawing/2014/main" val="20003"/>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Decision point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Playwright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Selenium</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Cypress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Workflow coverage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Forms, tabs and service</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checks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Broad coverage; more setup</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Strong frontend focus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Failure evidence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Reports and step replay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Additional reporting tools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Interactive debugging</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Maintenance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Automatic waits for</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controls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More explicit waiting</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rules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Built-in retry behaviour</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Framework licence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Apache 2.0 · $0</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Apache 2.0 · $0</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MIT · $0 core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Recommendation: Playwright balances workflow coverage, evidence and setup.</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Why Playwright</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The fit comes from our project needs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Our workflow</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Why Playwright fits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RSA agent journeys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Follow a journey across pages and popups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Benefit vendor creation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Select dependencies, fill fields and verify Save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Data consistency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Compare rendered values with service or CMS data</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QA investigation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Replay failed steps with screenshots and traces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Choose for these capabilities and the work we need to test.</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Why Playwright</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Repeatable checks and clearer failures</a:t>
            </a:r>
            <a:endParaRPr lang="en-US" sz="3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Strong point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Business benefit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Cost boundary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Repeatable journeys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Run the same checks after changes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Maintain test data and expectations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Clear failure evidence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QA can see where the journey failed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Store reports securely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Automatic waiting</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Reduce timing-related false</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failures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Review unstable tests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Free framework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No framework licence fee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Runner, AI and team time still cost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The benefit is reliable release evidence; savings have not been measured.</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Codex versus Claude Code</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Recommend Claude Code for the broader web suite</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Job</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Recommended role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Evidence supporting it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Build the broader RSA pack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Claude Code as primary author</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Broader documented delivery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Focused vendor / CMS</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checks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Codex as a capable option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Saved vendor and 19 value checks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Accept the result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QA reviews either tool’s work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Business rules still need review</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This is a job-specific recommendation based on available POC evidence.</a:t>
            </a:r>
            <a:endParaRPr lang="en-US" sz="1900" dirty="0"/>
          </a:p>
        </p:txBody>
      </p:sp>
      <p:sp>
        <p:nvSpPr>
          <p:cNvPr id="4"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Codex versus Claude Code</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The results support different strengths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Evidence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Claude Code / RSA</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Codex / Benefit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Scope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61 cases → 71 executable tests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Vendor flow + login setup</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Recorded outcome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57 passed · 14 skipped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2 passed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Detailed data check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Equivalent vendor proof unavailable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19 rendered values matched CMS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Evidence status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Reported in the RSA POC</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Saved local test evidence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Different tasks and scope: these numbers are not an equal-task competition.</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Codex versus Claude Code</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Confirm the AI choice with the same assignment</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Measure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Fair comparison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Delivery time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Same journeys, access and acceptance rules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Review effort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Record corrections needed before QA accepts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Defect detection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Use the same known failures and expected results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Operating cost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Compare actual usage plus reviewer time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Proposed next step: a matched-task trial before claiming speed or cost superiority.</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Recommendation and proof</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Use each tool for a clear responsibility</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Tool</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Strength</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Limit to manage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Playwright: execution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Complete journeys + clear failure</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evidence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Needs correct assertions and stable</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data</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Claude Code: broad</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authoring</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Broader documented RSA case</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delivery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Skipped cases and QA review remain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Codex: focused checks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Detailed vendor and CMS</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verification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Setup assumptions needed correction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Recommended combination: Playwright executes; AI helps author; QA owns acceptance.</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Recommendation and proof</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Benefit POC: saved vendor and visible details</a:t>
            </a:r>
            <a:endParaRPr lang="en-US" sz="3200" dirty="0"/>
          </a:p>
        </p:txBody>
      </p:sp>
      <p:sp>
        <p:nvSpPr>
          <p:cNvPr id="4" name="Text 2"/>
          <p:cNvSpPr/>
          <p:nvPr/>
        </p:nvSpPr>
        <p:spPr>
          <a:xfrm>
            <a:off x="594360" y="1755648"/>
            <a:ext cx="5669280" cy="320040"/>
          </a:xfrm>
          <a:prstGeom prst="rect">
            <a:avLst/>
          </a:prstGeom>
          <a:noFill/>
          <a:ln/>
        </p:spPr>
        <p:txBody>
          <a:bodyPr wrap="square" lIns="0" tIns="0" rIns="0" bIns="0" rtlCol="0" anchor="t"/>
          <a:lstStyle/>
          <a:p>
            <a:pPr marL="0" indent="0">
              <a:buNone/>
            </a:pPr>
            <a:r>
              <a:rPr lang="en-US" sz="1800" b="1" dirty="0">
                <a:solidFill>
                  <a:srgbClr val="0B5FA5"/>
                </a:solidFill>
                <a:latin typeface="Segoe UI" pitchFamily="34" charset="0"/>
                <a:ea typeface="Segoe UI" pitchFamily="34" charset="-122"/>
                <a:cs typeface="Segoe UI" pitchFamily="34" charset="-120"/>
              </a:rPr>
              <a:t>Creation confirmation</a:t>
            </a:r>
            <a:endParaRPr lang="en-US" sz="1800" dirty="0"/>
          </a:p>
        </p:txBody>
      </p:sp>
      <p:sp>
        <p:nvSpPr>
          <p:cNvPr id="5" name="Text 3"/>
          <p:cNvSpPr/>
          <p:nvPr/>
        </p:nvSpPr>
        <p:spPr>
          <a:xfrm>
            <a:off x="6583680" y="1755648"/>
            <a:ext cx="4983480" cy="320040"/>
          </a:xfrm>
          <a:prstGeom prst="rect">
            <a:avLst/>
          </a:prstGeom>
          <a:noFill/>
          <a:ln/>
        </p:spPr>
        <p:txBody>
          <a:bodyPr wrap="square" lIns="0" tIns="0" rIns="0" bIns="0" rtlCol="0" anchor="t"/>
          <a:lstStyle/>
          <a:p>
            <a:pPr marL="0" indent="0">
              <a:buNone/>
            </a:pPr>
            <a:r>
              <a:rPr lang="en-US" sz="1800" b="1" dirty="0">
                <a:solidFill>
                  <a:srgbClr val="0B5FA5"/>
                </a:solidFill>
                <a:latin typeface="Segoe UI" pitchFamily="34" charset="0"/>
                <a:ea typeface="Segoe UI" pitchFamily="34" charset="-122"/>
                <a:cs typeface="Segoe UI" pitchFamily="34" charset="-120"/>
              </a:rPr>
              <a:t>Vendor details (upper section)</a:t>
            </a:r>
            <a:endParaRPr lang="en-US" sz="1800" dirty="0"/>
          </a:p>
        </p:txBody>
      </p:sp>
      <p:pic>
        <p:nvPicPr>
          <p:cNvPr id="6" name="Image 0" descr="C:\Projects\AspireDigital\ai-workshop\docs\qa-automation-poc\evidence\benefit-save-success.png"/>
          <p:cNvPicPr>
            <a:picLocks noChangeAspect="1"/>
          </p:cNvPicPr>
          <p:nvPr/>
        </p:nvPicPr>
        <p:blipFill>
          <a:blip r:embed="rId3"/>
          <a:stretch>
            <a:fillRect/>
          </a:stretch>
        </p:blipFill>
        <p:spPr>
          <a:xfrm>
            <a:off x="594360" y="2194560"/>
            <a:ext cx="5715000" cy="3214688"/>
          </a:xfrm>
          <a:prstGeom prst="rect">
            <a:avLst/>
          </a:prstGeom>
        </p:spPr>
      </p:pic>
      <p:pic>
        <p:nvPicPr>
          <p:cNvPr id="7" name="Image 1" descr="C:\Projects\AspireDigital\ai-workshop\docs\qa-automation-poc\evidence\benefit-vendor-detail.png"/>
          <p:cNvPicPr>
            <a:picLocks noChangeAspect="1"/>
          </p:cNvPicPr>
          <p:nvPr/>
        </p:nvPicPr>
        <p:blipFill>
          <a:blip r:embed="rId4"/>
          <a:srcRect b="61934"/>
          <a:stretch/>
        </p:blipFill>
        <p:spPr>
          <a:xfrm>
            <a:off x="6583680" y="2194560"/>
            <a:ext cx="4983480" cy="3337560"/>
          </a:xfrm>
          <a:prstGeom prst="rect">
            <a:avLst/>
          </a:prstGeom>
        </p:spPr>
      </p:pic>
      <p:sp>
        <p:nvSpPr>
          <p:cNvPr id="8" name="Text 4"/>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Synthetic vendor 20415 · 19 rendered values matched CMS · full DB comparison pending.</a:t>
            </a:r>
            <a:endParaRPr lang="en-US" sz="1900" dirty="0"/>
          </a:p>
        </p:txBody>
      </p:sp>
      <p:sp>
        <p:nvSpPr>
          <p:cNvPr id="9" name="Text 5"/>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Recommendation and proof</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The POC shows progress and specific next actions</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Observed gap</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Action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Why it matters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RSA account / identity</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skips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Provide approved test accounts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Run role and sign-in journeys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Missing job fixtures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Create controlled test records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Repeat the same expected journey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Full DB / CMS comparison</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pending</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Restore access and finish the check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Prove persistence as well as display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AI-generated assumptions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QA reviews expected outcomes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Avoid accepting a misleading pass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Resolve prerequisites, then expand the accepted test pack.</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Completed automation</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Coverage needs a confirmed baseline</a:t>
            </a:r>
            <a:endParaRPr lang="en-US" sz="3200" dirty="0"/>
          </a:p>
        </p:txBody>
      </p:sp>
      <p:sp>
        <p:nvSpPr>
          <p:cNvPr id="4" name="Text 2"/>
          <p:cNvSpPr/>
          <p:nvPr/>
        </p:nvSpPr>
        <p:spPr>
          <a:xfrm>
            <a:off x="594360" y="1810512"/>
            <a:ext cx="10972800" cy="548640"/>
          </a:xfrm>
          <a:prstGeom prst="rect">
            <a:avLst/>
          </a:prstGeom>
          <a:noFill/>
          <a:ln/>
        </p:spPr>
        <p:txBody>
          <a:bodyPr wrap="square" lIns="0" tIns="0" rIns="0" bIns="0" rtlCol="0" anchor="t"/>
          <a:lstStyle/>
          <a:p>
            <a:pPr marL="0" indent="0">
              <a:buNone/>
            </a:pPr>
            <a:r>
              <a:rPr lang="en-US" sz="2500" b="1" dirty="0">
                <a:solidFill>
                  <a:srgbClr val="142B42"/>
                </a:solidFill>
                <a:latin typeface="Segoe UI" pitchFamily="34" charset="0"/>
                <a:ea typeface="Segoe UI" pitchFamily="34" charset="-122"/>
                <a:cs typeface="Segoe UI" pitchFamily="34" charset="-120"/>
              </a:rPr>
              <a:t>Reported RSA catalogue: 449 business cases</a:t>
            </a:r>
            <a:endParaRPr lang="en-US" sz="2500" dirty="0"/>
          </a:p>
        </p:txBody>
      </p:sp>
      <p:graphicFrame>
        <p:nvGraphicFramePr>
          <p:cNvPr id="5" name="Chart 0"/>
          <p:cNvGraphicFramePr/>
          <p:nvPr/>
        </p:nvGraphicFramePr>
        <p:xfrm>
          <a:off x="685800" y="2606040"/>
          <a:ext cx="10789920" cy="224028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594360" y="5074920"/>
            <a:ext cx="10972800" cy="548640"/>
          </a:xfrm>
          <a:prstGeom prst="rect">
            <a:avLst/>
          </a:prstGeom>
          <a:noFill/>
          <a:ln/>
        </p:spPr>
        <p:txBody>
          <a:bodyPr wrap="square" lIns="0" tIns="0" rIns="0" bIns="0" rtlCol="0" anchor="t"/>
          <a:lstStyle/>
          <a:p>
            <a:pPr marL="0" indent="0">
              <a:buNone/>
            </a:pPr>
            <a:r>
              <a:rPr lang="en-US" sz="2500" b="1" dirty="0">
                <a:solidFill>
                  <a:srgbClr val="0B5FA5"/>
                </a:solidFill>
                <a:latin typeface="Segoe UI" pitchFamily="34" charset="0"/>
                <a:ea typeface="Segoe UI" pitchFamily="34" charset="-122"/>
                <a:cs typeface="Segoe UI" pitchFamily="34" charset="-120"/>
              </a:rPr>
              <a:t>61 implemented (13.6%)    •    388 not started</a:t>
            </a:r>
            <a:endParaRPr lang="en-US" sz="2500" dirty="0"/>
          </a:p>
        </p:txBody>
      </p:sp>
      <p:sp>
        <p:nvSpPr>
          <p:cNvPr id="7" name="Text 4"/>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“300 of 400” is unverified. Confirm that case pack before reporting 75%.</a:t>
            </a:r>
            <a:endParaRPr lang="en-US" sz="1900" dirty="0"/>
          </a:p>
        </p:txBody>
      </p:sp>
      <p:sp>
        <p:nvSpPr>
          <p:cNvPr id="8" name="Text 5"/>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Completed automation</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Separate cases, executable tests and results</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Measure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Recorded value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What it means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RSA business cases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61 implemented / 449 catalogue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Reported business scope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RSA executable tests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71: 57 passed + 14 skipped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Reported run; not rerun here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Local RSA workshop run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6 passed; 13 tests listed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Saved subset, not full-pack proof</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Benefit focused run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2 passed; 19 value checks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Vendor check + login setup</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Report completed business scope and passing execution separately.</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Completed automation</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The 14 reported skips have concrete prerequisites</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Reason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Tests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What enables execution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Role accounts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9</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Approved accounts with the required</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roles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Identity sign-in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2</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Test identities for the sign-in service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Signed authentication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1</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Valid signed authentication fixture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Job records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2</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Controlled job data for the scenarios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A missing prerequisite does not establish that a scenario cannot be automated.</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Automation boundaries</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Fully automate the digital checks we can observe</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Scenario</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Automation scope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Prerequisite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Web forms and rules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Input, validation, save and details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Agreed expected outcomes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Role-based journeys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Sign in and verify permitted</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actions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Approved role accounts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Assigned jobs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Verify digital assignment and</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status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Controlled job records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DB / CMS consistency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Compare defined persisted / shown</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values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Access and agreed field mapping</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Full automation is possible within a defined digital scope and available access.</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Automation boundaries</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Some journeys need automated and human evidence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Journey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Automated part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Remaining proof</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Notifications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Request, callback or controlled</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inbox</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Actual external delivery when</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uncontrolled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Third-party fulfilment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Request and returned status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External service completion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Roadside assistance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Assignment and digital status</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updates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Physical arrival and towing</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Label these journeys as partial when the external outcome is not verified.</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Automation boundaries</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Keep human judgement explicit</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Human check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Why it remains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How to report it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Usability and clarity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Requires judgement about the</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experience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Manual acceptance alongside digital</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tests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Human approval / protected</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MFA</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Depends on a person or protected</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challenge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Approved test path, otherwise manual</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step</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Physical service</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acceptance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Outside the observable web workflow</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Attach operational confirmation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Unassessed cases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Scope has not yet been reviewed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Classify before declaring impossible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Classify each remaining case: full, partial, prerequisite-blocked or manual.</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Pipeline plan</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Move from local proof to an unattended pilot</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Phase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Deliverable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Acceptance evidence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1. Agree the pack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Case list, required count and owner</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Approved expected coverage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2. Run after test</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deployment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Cloud runner with controlled access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Actual hosted run and report link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3. Stabilise the pilot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Repeat runs and failure recovery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Proposed target: 10 unattended runs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4. Expand triggers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Nightly and release checks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Reliable evidence and agreed release</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gate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Proposed plan: prove one hosted pilot before expanding release controls.</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Pipeline plan</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The local gate rejects incomplete success</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2880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4251960">
                  <a:extLst>
                    <a:ext uri="{9D8B030D-6E8A-4147-A177-3AD203B41FA5}">
                      <a16:colId xmlns:a16="http://schemas.microsoft.com/office/drawing/2014/main" val="20002"/>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Local check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Result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Management meaning</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Gate policy self-check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5 checks passed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Pass / fail / skip / empty / incomplete</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handled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RSA: 6 passed, 13 expected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Rejected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 green subset cannot stand for the</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full pack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Benefit: 2 passed, 2</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expected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Accepted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Saved focused pack met its required</a:t>
                      </a:r>
                      <a:endParaRPr lang="en-US" sz="1800" dirty="0">
                        <a:latin typeface="Segoe UI" charset="0"/>
                        <a:ea typeface="Segoe UI" charset="0"/>
                        <a:cs typeface="Segoe UI" charset="0"/>
                      </a:endParaRPr>
                    </a:p>
                    <a:p>
                      <a:pPr marL="0" indent="0">
                        <a:buNone/>
                      </a:pPr>
                      <a:r>
                        <a:rPr lang="en-US" sz="1800" dirty="0">
                          <a:solidFill>
                            <a:srgbClr val="142B42"/>
                          </a:solidFill>
                          <a:latin typeface="Segoe UI" pitchFamily="34" charset="0"/>
                          <a:ea typeface="Segoe UI" pitchFamily="34" charset="-122"/>
                          <a:cs typeface="Segoe UI" pitchFamily="34" charset="-120"/>
                        </a:rPr>
                        <a:t>count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Hosted cloud pipeline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Not demonstrated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Infrastructure proof still needed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Local gate proof is complete; hosted execution is the next evidence milestone.</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Pipeline plan</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The pilot needs an owner and evidence of recovery</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Need</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Owner / proof to agree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Accounts, data and network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Approved test access; predictable data and cleanup</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Secure evidence storage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Restricted reports, screenshots, traces and videos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Hosted success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Run ID and accessible results for the complete pack</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Hosted failure and recovery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Deliberate failure blocks the gate; corrected rerun passes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Use these checks to decide when the pipeline is ready for release use.</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94360" y="237744"/>
            <a:ext cx="10972800" cy="320040"/>
          </a:xfrm>
          <a:prstGeom prst="rect">
            <a:avLst/>
          </a:prstGeom>
          <a:noFill/>
          <a:ln/>
        </p:spPr>
        <p:txBody>
          <a:bodyPr wrap="square" lIns="0" tIns="0" rIns="0" bIns="0" rtlCol="0" anchor="t"/>
          <a:lstStyle/>
          <a:p>
            <a:pPr marL="0" indent="0">
              <a:buNone/>
            </a:pPr>
            <a:r>
              <a:rPr lang="en-US" sz="1500" dirty="0">
                <a:solidFill>
                  <a:srgbClr val="0B5FA5"/>
                </a:solidFill>
                <a:latin typeface="Segoe UI" pitchFamily="34" charset="0"/>
                <a:ea typeface="Segoe UI" pitchFamily="34" charset="-122"/>
                <a:cs typeface="Segoe UI" pitchFamily="34" charset="-120"/>
              </a:rPr>
              <a:t>Decision and next steps</a:t>
            </a:r>
            <a:endParaRPr lang="en-US" sz="1500" dirty="0"/>
          </a:p>
        </p:txBody>
      </p:sp>
      <p:sp>
        <p:nvSpPr>
          <p:cNvPr id="3" name="Text 1"/>
          <p:cNvSpPr/>
          <p:nvPr/>
        </p:nvSpPr>
        <p:spPr>
          <a:xfrm>
            <a:off x="594360" y="786384"/>
            <a:ext cx="10972800" cy="914400"/>
          </a:xfrm>
          <a:prstGeom prst="rect">
            <a:avLst/>
          </a:prstGeom>
          <a:noFill/>
          <a:ln/>
        </p:spPr>
        <p:txBody>
          <a:bodyPr wrap="square" lIns="0" tIns="0" rIns="0" bIns="0" rtlCol="0" anchor="t"/>
          <a:lstStyle/>
          <a:p>
            <a:pPr marL="0" indent="0">
              <a:buNone/>
            </a:pPr>
            <a:r>
              <a:rPr lang="en-US" sz="3200" b="1" dirty="0">
                <a:solidFill>
                  <a:srgbClr val="142B42"/>
                </a:solidFill>
                <a:latin typeface="Segoe UI" pitchFamily="34" charset="0"/>
                <a:ea typeface="Segoe UI" pitchFamily="34" charset="-122"/>
                <a:cs typeface="Segoe UI" pitchFamily="34" charset="-120"/>
              </a:rPr>
              <a:t>The management decision and next steps</a:t>
            </a:r>
            <a:endParaRPr lang="en-US" sz="3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4360" y="1828800"/>
          <a:ext cx="10972800" cy="914400"/>
        </p:xfrm>
        <a:graphic>
          <a:graphicData uri="http://schemas.openxmlformats.org/drawingml/2006/table">
            <a:tbl>
              <a:tblPr/>
              <a:tblGrid>
                <a:gridCol w="3429000">
                  <a:extLst>
                    <a:ext uri="{9D8B030D-6E8A-4147-A177-3AD203B41FA5}">
                      <a16:colId xmlns:a16="http://schemas.microsoft.com/office/drawing/2014/main" val="20000"/>
                    </a:ext>
                  </a:extLst>
                </a:gridCol>
                <a:gridCol w="7543800">
                  <a:extLst>
                    <a:ext uri="{9D8B030D-6E8A-4147-A177-3AD203B41FA5}">
                      <a16:colId xmlns:a16="http://schemas.microsoft.com/office/drawing/2014/main" val="20001"/>
                    </a:ext>
                  </a:extLst>
                </a:gridCol>
              </a:tblGrid>
              <a:tr h="713232">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Decision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tc>
                  <a:txBody>
                    <a:bodyPr/>
                    <a:lstStyle/>
                    <a:p>
                      <a:pPr marL="0" indent="0">
                        <a:buNone/>
                      </a:pPr>
                      <a:r>
                        <a:rPr lang="en-US" sz="1800" b="1" dirty="0">
                          <a:solidFill>
                            <a:srgbClr val="FFFFFF"/>
                          </a:solidFill>
                          <a:latin typeface="Segoe UI" pitchFamily="34" charset="0"/>
                          <a:ea typeface="Segoe UI" pitchFamily="34" charset="-122"/>
                          <a:cs typeface="Segoe UI" pitchFamily="34" charset="-120"/>
                        </a:rPr>
                        <a:t>Next action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0B5FA5"/>
                    </a:solidFill>
                  </a:tcPr>
                </a:tc>
                <a:extLst>
                  <a:ext uri="{0D108BD9-81ED-4DB2-BD59-A6C34878D82A}">
                    <a16:rowId xmlns:a16="http://schemas.microsoft.com/office/drawing/2014/main" val="10000"/>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Web execution: Playwright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Use complete workflows and reportable evidence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Claude Code: primary author</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Confirm with a matched-task trial; Codex for focused checks</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Coverage</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Approve one inventory; resolve the 300 / 400 discrepancy</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Pipeline investment</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tc>
                  <a:txBody>
                    <a:bodyPr/>
                    <a:lstStyle/>
                    <a:p>
                      <a:pPr marL="0" indent="0">
                        <a:buNone/>
                      </a:pPr>
                      <a:r>
                        <a:rPr lang="en-US" sz="1800" dirty="0">
                          <a:solidFill>
                            <a:srgbClr val="142B42"/>
                          </a:solidFill>
                          <a:latin typeface="Segoe UI" pitchFamily="34" charset="0"/>
                          <a:ea typeface="Segoe UI" pitchFamily="34" charset="-122"/>
                          <a:cs typeface="Segoe UI" pitchFamily="34" charset="-120"/>
                        </a:rPr>
                        <a:t>Assign a pilot owner and prove unattended execution</a:t>
                      </a:r>
                      <a:endParaRPr lang="en-US" sz="1800" dirty="0">
                        <a:latin typeface="Segoe UI" charset="0"/>
                        <a:ea typeface="Segoe UI" charset="0"/>
                        <a:cs typeface="Segoe UI" charset="0"/>
                      </a:endParaRPr>
                    </a:p>
                  </a:txBody>
                  <a:tcPr marL="146304" marR="146304" marT="109728" marB="109728">
                    <a:lnL w="7620" cap="flat" cmpd="sng" algn="ctr">
                      <a:solidFill>
                        <a:srgbClr val="D4DEE8"/>
                      </a:solidFill>
                      <a:prstDash val="solid"/>
                      <a:round/>
                      <a:headEnd type="none" w="med" len="med"/>
                      <a:tailEnd type="none" w="med" len="med"/>
                    </a:lnL>
                    <a:lnR w="7620" cap="flat" cmpd="sng" algn="ctr">
                      <a:solidFill>
                        <a:srgbClr val="D4DEE8"/>
                      </a:solidFill>
                      <a:prstDash val="solid"/>
                      <a:round/>
                      <a:headEnd type="none" w="med" len="med"/>
                      <a:tailEnd type="none" w="med" len="med"/>
                    </a:lnR>
                    <a:lnT w="7620" cap="flat" cmpd="sng" algn="ctr">
                      <a:solidFill>
                        <a:srgbClr val="D4DEE8"/>
                      </a:solidFill>
                      <a:prstDash val="solid"/>
                      <a:round/>
                      <a:headEnd type="none" w="med" len="med"/>
                      <a:tailEnd type="none" w="med" len="med"/>
                    </a:lnT>
                    <a:lnB w="7620" cap="flat" cmpd="sng" algn="ctr">
                      <a:solidFill>
                        <a:srgbClr val="D4DE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Text 2"/>
          <p:cNvSpPr/>
          <p:nvPr/>
        </p:nvSpPr>
        <p:spPr>
          <a:xfrm>
            <a:off x="594360" y="5925312"/>
            <a:ext cx="10972800" cy="566928"/>
          </a:xfrm>
          <a:prstGeom prst="rect">
            <a:avLst/>
          </a:prstGeom>
          <a:noFill/>
          <a:ln/>
        </p:spPr>
        <p:txBody>
          <a:bodyPr wrap="square" lIns="0" tIns="0" rIns="0" bIns="0" rtlCol="0" anchor="t"/>
          <a:lstStyle/>
          <a:p>
            <a:pPr marL="0" indent="0">
              <a:buNone/>
            </a:pPr>
            <a:r>
              <a:rPr lang="en-US" sz="1900" b="1" dirty="0">
                <a:solidFill>
                  <a:srgbClr val="0B5FA5"/>
                </a:solidFill>
                <a:latin typeface="Segoe UI" pitchFamily="34" charset="0"/>
                <a:ea typeface="Segoe UI" pitchFamily="34" charset="-122"/>
                <a:cs typeface="Segoe UI" pitchFamily="34" charset="-120"/>
              </a:rPr>
              <a:t>Proceed with a controlled web pilot and publish only evidenced results.</a:t>
            </a:r>
            <a:endParaRPr lang="en-US" sz="1900" dirty="0"/>
          </a:p>
        </p:txBody>
      </p:sp>
      <p:sp>
        <p:nvSpPr>
          <p:cNvPr id="6" name="Text 3"/>
          <p:cNvSpPr/>
          <p:nvPr/>
        </p:nvSpPr>
        <p:spPr>
          <a:xfrm>
            <a:off x="11109960" y="6556248"/>
            <a:ext cx="457200" cy="182880"/>
          </a:xfrm>
          <a:prstGeom prst="rect">
            <a:avLst/>
          </a:prstGeom>
          <a:noFill/>
          <a:ln/>
        </p:spPr>
        <p:txBody>
          <a:bodyPr wrap="square" lIns="0" tIns="0" rIns="0" bIns="0" rtlCol="0" anchor="t"/>
          <a:lstStyle/>
          <a:p>
            <a:pPr marL="0" indent="0" algn="r">
              <a:buNone/>
            </a:pPr>
            <a:r>
              <a:rPr lang="en-US" sz="1100" dirty="0">
                <a:solidFill>
                  <a:srgbClr val="627488"/>
                </a:solidFill>
                <a:latin typeface="Segoe UI" pitchFamily="34" charset="0"/>
                <a:ea typeface="Segoe UI" pitchFamily="34" charset="-122"/>
                <a:cs typeface="Segoe UI"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3363</Words>
  <Application>Microsoft Office PowerPoint</Application>
  <PresentationFormat>Widescreen</PresentationFormat>
  <Paragraphs>387</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International SOS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QA Automation — Management Briefing</dc:title>
  <dc:subject>Tool selection, POC evidence, coverage and pipeline plan</dc:subject>
  <dc:creator>APAC Aspire Digital</dc:creator>
  <cp:lastModifiedBy>Hoang QUACH</cp:lastModifiedBy>
  <cp:revision>2</cp:revision>
  <dcterms:created xsi:type="dcterms:W3CDTF">2026-10-09T04:06:43Z</dcterms:created>
  <dcterms:modified xsi:type="dcterms:W3CDTF">2026-10-09T04:06:46Z</dcterms:modified>
</cp:coreProperties>
</file>