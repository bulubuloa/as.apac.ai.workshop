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here we are" id="{56614008-cdf9-8055-13d0-349a1de7fa1e}">
          <p14:sldIdLst>
            <p14:sldId id="256"/>
            <p14:sldId id="257"/>
            <p14:sldId id="258"/>
            <p14:sldId id="259"/>
          </p14:sldIdLst>
        </p14:section>
        <p14:section name="The two journeys" id="{ba03dc9f-0a51-2ea1-32bb-2b2e1c384d9a}">
          <p14:sldIdLst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Demo and next" id="{d92010b6-ac93-b0fe-e1c9-7f6c379debc7}">
          <p14:sldIdLst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real business journeys, each starting on the agent portal and ending on the driver's phone. Every step is traced to a test case in our suites, and every run gives a video as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numbers. 560 web cases, 72 app cases, and two journeys that connect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biggest areas are job creation and dispatch - where the review asked for more depth. P1 is about half the suite. The partly-automatable cases each have a written reason.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app cases that are only partly automatable need something from the web side first - which is what the journeys provide.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start on the web and finish on the phone. A job is our core business; announcements are how operations reach every driver at 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it left to right. Blue is the portal, orange is the phone. Every arrow between rows is a hand-off that the test checks.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test case exactly as it is in the suite. Each row is one step of the automated run, and each step is a caption in the video.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frames from the 22 Oct run. The caption bar in the video names the step from the suite.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announcement journey has a server step: the test reads the same feed the phone reads, so we know whether a failure is on the server or on the phone.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format as TC-23-001: the test case as written in the suite, step by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moments from the 22 Oct run. Step 4 (not shown) checks the server feed the phone reads, so a failure points at server or phone.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Play the video here. Point out: dispatch on the left, job appears on the right; each driver tap, then the timestamp row on the portal.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finding has its own test case in the suite, so it stays visible until it is fixed or accepted.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11094415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9265615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9D6E5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Shape 0"/>
          <p:cNvSpPr/>
          <p:nvPr/>
        </p:nvSpPr>
        <p:spPr>
          <a:xfrm>
            <a:off x="548640" y="1097280"/>
            <a:ext cx="1097280" cy="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RoadSide end-to-end journeys  |  web + app  |  RSA UAT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34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9E57"/>
                </a:solidFill>
              </a:rPr>
              <a:t>ROADSIDE QA AUTOMATION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828800"/>
            <a:ext cx="11094415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End-to-end testing of two business journeys: web portal + provider app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474720"/>
            <a:ext cx="926561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6E5"/>
                </a:solidFill>
              </a:rPr>
              <a:t>Job: create, dispatch, finish on the phone  |  Announcement: publish on the web, show on the phone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669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A6BF"/>
                </a:solidFill>
              </a:rPr>
              <a:t>APAC Aspire Digital  |  22 October 2026  |  RSA UAT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Where we are: two suites, now joined by two end-to-end journeys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</a:rPr>
              <a:t>560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402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RoadSide web test cases (23 areas)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297680" y="14630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2"/>
                </a:solidFill>
              </a:rPr>
              <a:t>72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4297680" y="22402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RoadSide app test cases (12 areas)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046720" y="14630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tx2"/>
                </a:solidFill>
              </a:rPr>
              <a:t>2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8046720" y="22402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end-to-end journeys across web + app</a:t>
            </a:r>
            <a:endParaRPr lang="en-US" sz="1200" dirty="0"/>
          </a:p>
        </p:txBody>
      </p:sp>
      <p:sp>
        <p:nvSpPr>
          <p:cNvPr id="9" name="card What end-to-end adds"/>
          <p:cNvSpPr/>
          <p:nvPr/>
        </p:nvSpPr>
        <p:spPr>
          <a:xfrm>
            <a:off x="548640" y="3246120"/>
            <a:ext cx="11094415" cy="2606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ard edge What end-to-end adds"/>
          <p:cNvSpPr/>
          <p:nvPr/>
        </p:nvSpPr>
        <p:spPr>
          <a:xfrm>
            <a:off x="548640" y="3246120"/>
            <a:ext cx="64008" cy="26060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410712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What end-to-end adds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813048"/>
            <a:ext cx="1072865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The web suite proves the portal. The app suite proves the phone. Neither proves that what the agent does on the portal reaches the driver - and that what the driver does comes back.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accent4"/>
                </a:solidFill>
              </a:rPr>
              <a:t>The two journeys test exactly that hand-off. Both are test cases in the RoadSide web suite (sheet 23-E2E Journeys), written step by step.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RoadSide web suite: 560 cases across 23 areas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Job Create &amp; Edit</a:t>
            </a:r>
            <a:endParaRPr lang="en-US" sz="1200" dirty="0"/>
          </a:p>
        </p:txBody>
      </p:sp>
      <p:sp>
        <p:nvSpPr>
          <p:cNvPr id="4" name="bar Job Create &amp; Edit"/>
          <p:cNvSpPr/>
          <p:nvPr/>
        </p:nvSpPr>
        <p:spPr>
          <a:xfrm>
            <a:off x="3017520" y="1426464"/>
            <a:ext cx="3657600" cy="219456"/>
          </a:xfrm>
          <a:prstGeom prst="rect">
            <a:avLst/>
          </a:prstGeom>
          <a:solidFill>
            <a:srgbClr val="0B5FA5"/>
          </a:solidFill>
          <a:ln w="12700">
            <a:solidFill>
              <a:srgbClr val="0B5FA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766560" y="13716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95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5564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Provider Dispatch</a:t>
            </a:r>
            <a:endParaRPr lang="en-US" sz="1200" dirty="0"/>
          </a:p>
        </p:txBody>
      </p:sp>
      <p:sp>
        <p:nvSpPr>
          <p:cNvPr id="7" name="bar Provider Dispatch"/>
          <p:cNvSpPr/>
          <p:nvPr/>
        </p:nvSpPr>
        <p:spPr>
          <a:xfrm>
            <a:off x="3017520" y="1810512"/>
            <a:ext cx="2348564" cy="219456"/>
          </a:xfrm>
          <a:prstGeom prst="rect">
            <a:avLst/>
          </a:prstGeom>
          <a:solidFill>
            <a:srgbClr val="0B5FA5"/>
          </a:solidFill>
          <a:ln w="12700">
            <a:solidFill>
              <a:srgbClr val="0B5FA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57524" y="175564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61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13969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Benefit &amp; Redemption</a:t>
            </a:r>
            <a:endParaRPr lang="en-US" sz="1200" dirty="0"/>
          </a:p>
        </p:txBody>
      </p:sp>
      <p:sp>
        <p:nvSpPr>
          <p:cNvPr id="10" name="bar Benefit &amp; Redemption"/>
          <p:cNvSpPr/>
          <p:nvPr/>
        </p:nvSpPr>
        <p:spPr>
          <a:xfrm>
            <a:off x="3017520" y="2194560"/>
            <a:ext cx="1463040" cy="219456"/>
          </a:xfrm>
          <a:prstGeom prst="rect">
            <a:avLst/>
          </a:prstGeom>
          <a:solidFill>
            <a:srgbClr val="0B5FA5"/>
          </a:solidFill>
          <a:ln w="12700">
            <a:solidFill>
              <a:srgbClr val="0B5FA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0" y="2139696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38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52374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Job Lifecycle &amp; Status</a:t>
            </a:r>
            <a:endParaRPr lang="en-US" sz="1200" dirty="0"/>
          </a:p>
        </p:txBody>
      </p:sp>
      <p:sp>
        <p:nvSpPr>
          <p:cNvPr id="13" name="bar Job Lifecycle &amp; Status"/>
          <p:cNvSpPr/>
          <p:nvPr/>
        </p:nvSpPr>
        <p:spPr>
          <a:xfrm>
            <a:off x="3017520" y="2578608"/>
            <a:ext cx="1232034" cy="219456"/>
          </a:xfrm>
          <a:prstGeom prst="rect">
            <a:avLst/>
          </a:prstGeom>
          <a:solidFill>
            <a:srgbClr val="0B5FA5"/>
          </a:solidFill>
          <a:ln w="12700">
            <a:solidFill>
              <a:srgbClr val="0B5FA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340994" y="2523744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32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290779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Cross-Cutting &amp; NFR</a:t>
            </a:r>
            <a:endParaRPr lang="en-US" sz="1200" dirty="0"/>
          </a:p>
        </p:txBody>
      </p:sp>
      <p:sp>
        <p:nvSpPr>
          <p:cNvPr id="16" name="bar Cross-Cutting &amp; NFR"/>
          <p:cNvSpPr/>
          <p:nvPr/>
        </p:nvSpPr>
        <p:spPr>
          <a:xfrm>
            <a:off x="3017520" y="2962656"/>
            <a:ext cx="1039528" cy="219456"/>
          </a:xfrm>
          <a:prstGeom prst="rect">
            <a:avLst/>
          </a:prstGeom>
          <a:solidFill>
            <a:srgbClr val="0B5FA5"/>
          </a:solidFill>
          <a:ln w="12700">
            <a:solidFill>
              <a:srgbClr val="0B5FA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148488" y="290779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27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29184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Job List &amp; Search</a:t>
            </a:r>
            <a:endParaRPr lang="en-US" sz="1200" dirty="0"/>
          </a:p>
        </p:txBody>
      </p:sp>
      <p:sp>
        <p:nvSpPr>
          <p:cNvPr id="19" name="bar Job List &amp; Search"/>
          <p:cNvSpPr/>
          <p:nvPr/>
        </p:nvSpPr>
        <p:spPr>
          <a:xfrm>
            <a:off x="3017520" y="3346704"/>
            <a:ext cx="962526" cy="219456"/>
          </a:xfrm>
          <a:prstGeom prst="rect">
            <a:avLst/>
          </a:prstGeom>
          <a:solidFill>
            <a:srgbClr val="0B5FA5"/>
          </a:solidFill>
          <a:ln w="12700">
            <a:solidFill>
              <a:srgbClr val="0B5FA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071486" y="329184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25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367588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Reports</a:t>
            </a:r>
            <a:endParaRPr lang="en-US" sz="1200" dirty="0"/>
          </a:p>
        </p:txBody>
      </p:sp>
      <p:sp>
        <p:nvSpPr>
          <p:cNvPr id="22" name="bar Reports"/>
          <p:cNvSpPr/>
          <p:nvPr/>
        </p:nvSpPr>
        <p:spPr>
          <a:xfrm>
            <a:off x="3017520" y="3730752"/>
            <a:ext cx="924025" cy="219456"/>
          </a:xfrm>
          <a:prstGeom prst="rect">
            <a:avLst/>
          </a:prstGeom>
          <a:solidFill>
            <a:srgbClr val="0B5FA5"/>
          </a:solidFill>
          <a:ln w="12700">
            <a:solidFill>
              <a:srgbClr val="0B5FA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032985" y="367588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05993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Announcements</a:t>
            </a:r>
            <a:endParaRPr lang="en-US" sz="1200" dirty="0"/>
          </a:p>
        </p:txBody>
      </p:sp>
      <p:sp>
        <p:nvSpPr>
          <p:cNvPr id="25" name="bar Announcements"/>
          <p:cNvSpPr/>
          <p:nvPr/>
        </p:nvSpPr>
        <p:spPr>
          <a:xfrm>
            <a:off x="3017520" y="4114800"/>
            <a:ext cx="885524" cy="219456"/>
          </a:xfrm>
          <a:prstGeom prst="rect">
            <a:avLst/>
          </a:prstGeom>
          <a:solidFill>
            <a:srgbClr val="0B5FA5"/>
          </a:solidFill>
          <a:ln w="12700">
            <a:solidFill>
              <a:srgbClr val="0B5FA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994484" y="4059936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23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444398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Provider Portal</a:t>
            </a:r>
            <a:endParaRPr lang="en-US" sz="1200" dirty="0"/>
          </a:p>
        </p:txBody>
      </p:sp>
      <p:sp>
        <p:nvSpPr>
          <p:cNvPr id="28" name="bar Provider Portal"/>
          <p:cNvSpPr/>
          <p:nvPr/>
        </p:nvSpPr>
        <p:spPr>
          <a:xfrm>
            <a:off x="3017520" y="4498848"/>
            <a:ext cx="770021" cy="219456"/>
          </a:xfrm>
          <a:prstGeom prst="rect">
            <a:avLst/>
          </a:prstGeom>
          <a:solidFill>
            <a:srgbClr val="0B5FA5"/>
          </a:solidFill>
          <a:ln w="12700">
            <a:solidFill>
              <a:srgbClr val="0B5FA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878981" y="4443984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20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482803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Provider Admin (GAN)</a:t>
            </a:r>
            <a:endParaRPr lang="en-US" sz="1200" dirty="0"/>
          </a:p>
        </p:txBody>
      </p:sp>
      <p:sp>
        <p:nvSpPr>
          <p:cNvPr id="31" name="bar Provider Admin (GAN)"/>
          <p:cNvSpPr/>
          <p:nvPr/>
        </p:nvSpPr>
        <p:spPr>
          <a:xfrm>
            <a:off x="3017520" y="4882896"/>
            <a:ext cx="731520" cy="219456"/>
          </a:xfrm>
          <a:prstGeom prst="rect">
            <a:avLst/>
          </a:prstGeom>
          <a:solidFill>
            <a:srgbClr val="0B5FA5"/>
          </a:solidFill>
          <a:ln w="12700">
            <a:solidFill>
              <a:srgbClr val="0B5FA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840480" y="482803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19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534924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Top 10 areas shown; 13 more areas hold the other 196 cases.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7863840" y="137160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</a:rPr>
              <a:t>308</a:t>
            </a:r>
            <a:endParaRPr lang="en-US" sz="3800" dirty="0"/>
          </a:p>
        </p:txBody>
      </p:sp>
      <p:sp>
        <p:nvSpPr>
          <p:cNvPr id="35" name="Text 33"/>
          <p:cNvSpPr txBox="1"/>
          <p:nvPr/>
        </p:nvSpPr>
        <p:spPr>
          <a:xfrm>
            <a:off x="7863840" y="21488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P1 cases - must pass before production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7863840" y="274320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tx2"/>
                </a:solidFill>
              </a:rPr>
              <a:t>371</a:t>
            </a:r>
            <a:endParaRPr lang="en-US" sz="3800" dirty="0"/>
          </a:p>
        </p:txBody>
      </p:sp>
      <p:sp>
        <p:nvSpPr>
          <p:cNvPr id="37" name="Text 35"/>
          <p:cNvSpPr txBox="1"/>
          <p:nvPr/>
        </p:nvSpPr>
        <p:spPr>
          <a:xfrm>
            <a:off x="7863840" y="35204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automatable in the browser today; 189 need the app, test data, a stub or a BA answer</a:t>
            </a:r>
            <a:endParaRPr lang="en-US" sz="1200" dirty="0"/>
          </a:p>
        </p:txBody>
      </p:sp>
      <p:sp>
        <p:nvSpPr>
          <p:cNvPr id="38" name="card After the review (22 Oct)"/>
          <p:cNvSpPr/>
          <p:nvPr/>
        </p:nvSpPr>
        <p:spPr>
          <a:xfrm>
            <a:off x="7863840" y="4160520"/>
            <a:ext cx="3779215" cy="1691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9" name="card edge After the review (22 Oct)"/>
          <p:cNvSpPr/>
          <p:nvPr/>
        </p:nvSpPr>
        <p:spPr>
          <a:xfrm>
            <a:off x="7863840" y="4160520"/>
            <a:ext cx="64008" cy="16916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092440" y="4325112"/>
            <a:ext cx="3413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After the review (22 Oct)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8092440" y="4727448"/>
            <a:ext cx="34134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chemeClr val="tx1"/>
                </a:solidFill>
              </a:rPr>
              <a:t>+108 business-rule cases: one per job field, dispatch and provider rules, duplicates, failures, roles. 7 expected results corrected from the code. History per case.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RoadSide app suite: 72 cases across 12 areas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Policy &amp; Login</a:t>
            </a:r>
            <a:endParaRPr lang="en-US" sz="1200" dirty="0"/>
          </a:p>
        </p:txBody>
      </p:sp>
      <p:sp>
        <p:nvSpPr>
          <p:cNvPr id="4" name="bar Policy &amp; Login"/>
          <p:cNvSpPr/>
          <p:nvPr/>
        </p:nvSpPr>
        <p:spPr>
          <a:xfrm>
            <a:off x="3017520" y="1426464"/>
            <a:ext cx="3657600" cy="219456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766560" y="13716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5564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Job Execution</a:t>
            </a:r>
            <a:endParaRPr lang="en-US" sz="1200" dirty="0"/>
          </a:p>
        </p:txBody>
      </p:sp>
      <p:sp>
        <p:nvSpPr>
          <p:cNvPr id="7" name="bar Job Execution"/>
          <p:cNvSpPr/>
          <p:nvPr/>
        </p:nvSpPr>
        <p:spPr>
          <a:xfrm>
            <a:off x="3017520" y="1810512"/>
            <a:ext cx="2992582" cy="219456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01542" y="175564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9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13969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Vehicle &amp; OTP</a:t>
            </a:r>
            <a:endParaRPr lang="en-US" sz="1200" dirty="0"/>
          </a:p>
        </p:txBody>
      </p:sp>
      <p:sp>
        <p:nvSpPr>
          <p:cNvPr id="10" name="bar Vehicle &amp; OTP"/>
          <p:cNvSpPr/>
          <p:nvPr/>
        </p:nvSpPr>
        <p:spPr>
          <a:xfrm>
            <a:off x="3017520" y="2194560"/>
            <a:ext cx="2660073" cy="219456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769033" y="2139696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8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52374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Dashboard &amp; Ready</a:t>
            </a:r>
            <a:endParaRPr lang="en-US" sz="1200" dirty="0"/>
          </a:p>
        </p:txBody>
      </p:sp>
      <p:sp>
        <p:nvSpPr>
          <p:cNvPr id="13" name="bar Dashboard &amp; Ready"/>
          <p:cNvSpPr/>
          <p:nvPr/>
        </p:nvSpPr>
        <p:spPr>
          <a:xfrm>
            <a:off x="3017520" y="2578608"/>
            <a:ext cx="2660073" cy="219456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769033" y="2523744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8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290779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Receive Job</a:t>
            </a:r>
            <a:endParaRPr lang="en-US" sz="1200" dirty="0"/>
          </a:p>
        </p:txBody>
      </p:sp>
      <p:sp>
        <p:nvSpPr>
          <p:cNvPr id="16" name="bar Receive Job"/>
          <p:cNvSpPr/>
          <p:nvPr/>
        </p:nvSpPr>
        <p:spPr>
          <a:xfrm>
            <a:off x="3017520" y="2962656"/>
            <a:ext cx="1995055" cy="219456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104015" y="290779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6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29184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Job Photos</a:t>
            </a:r>
            <a:endParaRPr lang="en-US" sz="1200" dirty="0"/>
          </a:p>
        </p:txBody>
      </p:sp>
      <p:sp>
        <p:nvSpPr>
          <p:cNvPr id="19" name="bar Job Photos"/>
          <p:cNvSpPr/>
          <p:nvPr/>
        </p:nvSpPr>
        <p:spPr>
          <a:xfrm>
            <a:off x="3017520" y="3346704"/>
            <a:ext cx="1995055" cy="219456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104015" y="329184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6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367588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Settings</a:t>
            </a:r>
            <a:endParaRPr lang="en-US" sz="1200" dirty="0"/>
          </a:p>
        </p:txBody>
      </p:sp>
      <p:sp>
        <p:nvSpPr>
          <p:cNvPr id="22" name="bar Settings"/>
          <p:cNvSpPr/>
          <p:nvPr/>
        </p:nvSpPr>
        <p:spPr>
          <a:xfrm>
            <a:off x="3017520" y="3730752"/>
            <a:ext cx="1995055" cy="219456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104015" y="367588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6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05993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Map &amp; Location</a:t>
            </a:r>
            <a:endParaRPr lang="en-US" sz="1200" dirty="0"/>
          </a:p>
        </p:txBody>
      </p:sp>
      <p:sp>
        <p:nvSpPr>
          <p:cNvPr id="25" name="bar Map &amp; Location"/>
          <p:cNvSpPr/>
          <p:nvPr/>
        </p:nvSpPr>
        <p:spPr>
          <a:xfrm>
            <a:off x="3017520" y="4114800"/>
            <a:ext cx="1662545" cy="219456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771505" y="4059936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444398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Job History</a:t>
            </a:r>
            <a:endParaRPr lang="en-US" sz="1200" dirty="0"/>
          </a:p>
        </p:txBody>
      </p:sp>
      <p:sp>
        <p:nvSpPr>
          <p:cNvPr id="28" name="bar Job History"/>
          <p:cNvSpPr/>
          <p:nvPr/>
        </p:nvSpPr>
        <p:spPr>
          <a:xfrm>
            <a:off x="3017520" y="4498848"/>
            <a:ext cx="1330036" cy="219456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438996" y="4443984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482803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Resilience &amp; NFR</a:t>
            </a:r>
            <a:endParaRPr lang="en-US" sz="1200" dirty="0"/>
          </a:p>
        </p:txBody>
      </p:sp>
      <p:sp>
        <p:nvSpPr>
          <p:cNvPr id="31" name="bar Resilience &amp; NFR"/>
          <p:cNvSpPr/>
          <p:nvPr/>
        </p:nvSpPr>
        <p:spPr>
          <a:xfrm>
            <a:off x="3017520" y="4882896"/>
            <a:ext cx="1330036" cy="219456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438996" y="482803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4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534924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Top 10 areas shown; Announcements (3) and App Update (2) hold the other 5 cases.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7863840" y="137160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2"/>
                </a:solidFill>
              </a:rPr>
              <a:t>30</a:t>
            </a:r>
            <a:endParaRPr lang="en-US" sz="3800" dirty="0"/>
          </a:p>
        </p:txBody>
      </p:sp>
      <p:sp>
        <p:nvSpPr>
          <p:cNvPr id="35" name="Text 33"/>
          <p:cNvSpPr txBox="1"/>
          <p:nvPr/>
        </p:nvSpPr>
        <p:spPr>
          <a:xfrm>
            <a:off x="7863840" y="21488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P1 cases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7863840" y="274320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tx2"/>
                </a:solidFill>
              </a:rPr>
              <a:t>48</a:t>
            </a:r>
            <a:endParaRPr lang="en-US" sz="3800" dirty="0"/>
          </a:p>
        </p:txBody>
      </p:sp>
      <p:sp>
        <p:nvSpPr>
          <p:cNvPr id="37" name="Text 35"/>
          <p:cNvSpPr txBox="1"/>
          <p:nvPr/>
        </p:nvSpPr>
        <p:spPr>
          <a:xfrm>
            <a:off x="7863840" y="35204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fully automatable on the emulator; 23 partly (need the web portal or UAT data), 1 real phone only</a:t>
            </a:r>
            <a:endParaRPr lang="en-US" sz="1200" dirty="0"/>
          </a:p>
        </p:txBody>
      </p:sp>
      <p:sp>
        <p:nvSpPr>
          <p:cNvPr id="38" name="card 9 automated and passing"/>
          <p:cNvSpPr/>
          <p:nvPr/>
        </p:nvSpPr>
        <p:spPr>
          <a:xfrm>
            <a:off x="7863840" y="4160520"/>
            <a:ext cx="3779215" cy="1691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9" name="card edge 9 automated and passing"/>
          <p:cNvSpPr/>
          <p:nvPr/>
        </p:nvSpPr>
        <p:spPr>
          <a:xfrm>
            <a:off x="7863840" y="4160520"/>
            <a:ext cx="64008" cy="16916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092440" y="4325112"/>
            <a:ext cx="3413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9 automated and passing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8092440" y="4727448"/>
            <a:ext cx="34134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chemeClr val="tx1"/>
                </a:solidFill>
              </a:rPr>
              <a:t>Login, OTP binding, and the full job flow (receive, take, arrive, mileage, photo, finish) inside the E2E-01 journey.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Two journeys that cross web, server and phone</a:t>
            </a:r>
            <a:endParaRPr lang="en-US" sz="2600" dirty="0"/>
          </a:p>
        </p:txBody>
      </p:sp>
      <p:sp>
        <p:nvSpPr>
          <p:cNvPr id="3" name="journey E2E-01  Job"/>
          <p:cNvSpPr/>
          <p:nvPr/>
        </p:nvSpPr>
        <p:spPr>
          <a:xfrm>
            <a:off x="548640" y="1417320"/>
            <a:ext cx="11094415" cy="2011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417320"/>
            <a:ext cx="82296" cy="201168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600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E2E-01  Job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492240" y="167335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TC-23-001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148840"/>
            <a:ext cx="104543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Agent creates a job and dispatches it → driver receives it, takes it, drives there, arrives, enters mileage, takes a photo, finishes → portal shows CLOSED with the driver's timestamps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926080"/>
            <a:ext cx="10454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PASSED 22 Oct 2026  ·  3.7 min  ·  11 steps  ·  job 26JB049155</a:t>
            </a:r>
            <a:endParaRPr lang="en-US" sz="1300" dirty="0"/>
          </a:p>
        </p:txBody>
      </p:sp>
      <p:sp>
        <p:nvSpPr>
          <p:cNvPr id="9" name="journey E2E-02  Announcement"/>
          <p:cNvSpPr/>
          <p:nvPr/>
        </p:nvSpPr>
        <p:spPr>
          <a:xfrm>
            <a:off x="548640" y="3657600"/>
            <a:ext cx="11094415" cy="2011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657600"/>
            <a:ext cx="82296" cy="201168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3840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E2E-02  Announcement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39136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TC-23-003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4389120"/>
            <a:ext cx="104543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Admin creates and publishes an announcement → drivers see it in the app (News + high-priority banner) → admin switches it off → it disappears from the app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5166360"/>
            <a:ext cx="10454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PASSED 22 Oct 2026  ·  1.6 min  ·  8 steps  ·  switched off at the end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E2E-01 Job: eleven steps, alternating between portal and phone</a:t>
            </a:r>
            <a:endParaRPr lang="en-US" sz="2600" dirty="0"/>
          </a:p>
        </p:txBody>
      </p:sp>
      <p:sp>
        <p:nvSpPr>
          <p:cNvPr id="3" name="lane Web"/>
          <p:cNvSpPr/>
          <p:nvPr/>
        </p:nvSpPr>
        <p:spPr>
          <a:xfrm>
            <a:off x="548640" y="1371600"/>
            <a:ext cx="11094415" cy="1325880"/>
          </a:xfrm>
          <a:prstGeom prst="rect">
            <a:avLst/>
          </a:prstGeom>
          <a:solidFill>
            <a:schemeClr val="accent6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8288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WEB</a:t>
            </a:r>
            <a:endParaRPr lang="en-US" sz="1100" dirty="0"/>
          </a:p>
        </p:txBody>
      </p:sp>
      <p:sp>
        <p:nvSpPr>
          <p:cNvPr id="5" name="lane Server"/>
          <p:cNvSpPr/>
          <p:nvPr/>
        </p:nvSpPr>
        <p:spPr>
          <a:xfrm>
            <a:off x="548640" y="2788920"/>
            <a:ext cx="11094415" cy="1325880"/>
          </a:xfrm>
          <a:prstGeom prst="rect">
            <a:avLst/>
          </a:prstGeom>
          <a:solidFill>
            <a:schemeClr val="bg2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2461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SERVER</a:t>
            </a:r>
            <a:endParaRPr lang="en-US" sz="1100" dirty="0"/>
          </a:p>
        </p:txBody>
      </p:sp>
      <p:sp>
        <p:nvSpPr>
          <p:cNvPr id="7" name="lane App"/>
          <p:cNvSpPr/>
          <p:nvPr/>
        </p:nvSpPr>
        <p:spPr>
          <a:xfrm>
            <a:off x="548640" y="4206240"/>
            <a:ext cx="11094415" cy="1325880"/>
          </a:xfrm>
          <a:prstGeom prst="rect">
            <a:avLst/>
          </a:prstGeom>
          <a:solidFill>
            <a:srgbClr val="FDF1EA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46634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APP</a:t>
            </a:r>
            <a:endParaRPr lang="en-US" sz="1100" dirty="0"/>
          </a:p>
        </p:txBody>
      </p:sp>
      <p:sp>
        <p:nvSpPr>
          <p:cNvPr id="9" name="step 1"/>
          <p:cNvSpPr/>
          <p:nvPr/>
        </p:nvSpPr>
        <p:spPr>
          <a:xfrm>
            <a:off x="1417320" y="4315968"/>
            <a:ext cx="886968" cy="1106424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72184" y="4370832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472184" y="4663440"/>
            <a:ext cx="777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Driver signs in, truck v3036, Ready on</a:t>
            </a:r>
            <a:endParaRPr lang="en-US" sz="950" dirty="0"/>
          </a:p>
        </p:txBody>
      </p:sp>
      <p:sp>
        <p:nvSpPr>
          <p:cNvPr id="12" name="step 2"/>
          <p:cNvSpPr/>
          <p:nvPr/>
        </p:nvSpPr>
        <p:spPr>
          <a:xfrm>
            <a:off x="2350008" y="1481328"/>
            <a:ext cx="886968" cy="1106424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04872" y="1536192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2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2404872" y="1828800"/>
            <a:ext cx="777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Agent creates the job (Thai address)</a:t>
            </a:r>
            <a:endParaRPr lang="en-US" sz="950" dirty="0"/>
          </a:p>
        </p:txBody>
      </p:sp>
      <p:sp>
        <p:nvSpPr>
          <p:cNvPr id="15" name="step 3"/>
          <p:cNvSpPr/>
          <p:nvPr/>
        </p:nvSpPr>
        <p:spPr>
          <a:xfrm>
            <a:off x="3282696" y="1481328"/>
            <a:ext cx="886968" cy="1106424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1536192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3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3337560" y="1828800"/>
            <a:ext cx="777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Agent sets the incident pin</a:t>
            </a:r>
            <a:endParaRPr lang="en-US" sz="950" dirty="0"/>
          </a:p>
        </p:txBody>
      </p:sp>
      <p:sp>
        <p:nvSpPr>
          <p:cNvPr id="18" name="step 4"/>
          <p:cNvSpPr/>
          <p:nvPr/>
        </p:nvSpPr>
        <p:spPr>
          <a:xfrm>
            <a:off x="4215384" y="1481328"/>
            <a:ext cx="886968" cy="1106424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70248" y="1536192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4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270248" y="1828800"/>
            <a:ext cx="777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Agent assigns truck v3036 and dispatches</a:t>
            </a:r>
            <a:endParaRPr lang="en-US" sz="950" dirty="0"/>
          </a:p>
        </p:txBody>
      </p:sp>
      <p:sp>
        <p:nvSpPr>
          <p:cNvPr id="21" name="step 5"/>
          <p:cNvSpPr/>
          <p:nvPr/>
        </p:nvSpPr>
        <p:spPr>
          <a:xfrm>
            <a:off x="5148072" y="4315968"/>
            <a:ext cx="886968" cy="1106424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02936" y="4370832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5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202936" y="4663440"/>
            <a:ext cx="777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Job card appears on the phone</a:t>
            </a:r>
            <a:endParaRPr lang="en-US" sz="950" dirty="0"/>
          </a:p>
        </p:txBody>
      </p:sp>
      <p:sp>
        <p:nvSpPr>
          <p:cNvPr id="24" name="step 6"/>
          <p:cNvSpPr/>
          <p:nvPr/>
        </p:nvSpPr>
        <p:spPr>
          <a:xfrm>
            <a:off x="6080760" y="4315968"/>
            <a:ext cx="886968" cy="1106424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35624" y="4370832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6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135624" y="4663440"/>
            <a:ext cx="777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Driver taps Take Job</a:t>
            </a:r>
            <a:endParaRPr lang="en-US" sz="950" dirty="0"/>
          </a:p>
        </p:txBody>
      </p:sp>
      <p:sp>
        <p:nvSpPr>
          <p:cNvPr id="27" name="step 7"/>
          <p:cNvSpPr/>
          <p:nvPr/>
        </p:nvSpPr>
        <p:spPr>
          <a:xfrm>
            <a:off x="7013448" y="4315968"/>
            <a:ext cx="886968" cy="1106424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68312" y="4370832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7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7068312" y="4663440"/>
            <a:ext cx="777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Truck drives ~5 km by road</a:t>
            </a:r>
            <a:endParaRPr lang="en-US" sz="950" dirty="0"/>
          </a:p>
        </p:txBody>
      </p:sp>
      <p:sp>
        <p:nvSpPr>
          <p:cNvPr id="30" name="step 8"/>
          <p:cNvSpPr/>
          <p:nvPr/>
        </p:nvSpPr>
        <p:spPr>
          <a:xfrm>
            <a:off x="7946136" y="4315968"/>
            <a:ext cx="886968" cy="1106424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01000" y="4370832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8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8001000" y="4663440"/>
            <a:ext cx="777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Arrived, odometer 48215</a:t>
            </a:r>
            <a:endParaRPr lang="en-US" sz="950" dirty="0"/>
          </a:p>
        </p:txBody>
      </p:sp>
      <p:sp>
        <p:nvSpPr>
          <p:cNvPr id="33" name="step 9"/>
          <p:cNvSpPr/>
          <p:nvPr/>
        </p:nvSpPr>
        <p:spPr>
          <a:xfrm>
            <a:off x="8878824" y="4315968"/>
            <a:ext cx="886968" cy="1106424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933688" y="4370832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9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8933688" y="4663440"/>
            <a:ext cx="777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Photo taken and uploaded</a:t>
            </a:r>
            <a:endParaRPr lang="en-US" sz="950" dirty="0"/>
          </a:p>
        </p:txBody>
      </p:sp>
      <p:sp>
        <p:nvSpPr>
          <p:cNvPr id="36" name="step 10"/>
          <p:cNvSpPr/>
          <p:nvPr/>
        </p:nvSpPr>
        <p:spPr>
          <a:xfrm>
            <a:off x="9811512" y="4315968"/>
            <a:ext cx="886968" cy="1106424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866376" y="4370832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10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9866376" y="4663440"/>
            <a:ext cx="777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Driver finishes the job</a:t>
            </a:r>
            <a:endParaRPr lang="en-US" sz="950" dirty="0"/>
          </a:p>
        </p:txBody>
      </p:sp>
      <p:sp>
        <p:nvSpPr>
          <p:cNvPr id="39" name="step 11"/>
          <p:cNvSpPr/>
          <p:nvPr/>
        </p:nvSpPr>
        <p:spPr>
          <a:xfrm>
            <a:off x="10744200" y="1481328"/>
            <a:ext cx="886968" cy="1106424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799064" y="1536192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11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10799064" y="1828800"/>
            <a:ext cx="777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Portal shows CLOSED with the driver's timestamps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548640" y="57150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The server sits in the middle: the phone asks it for jobs every few seconds while Ready; every driver action is written back and read by the portal.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TC-23-001 in the RoadSide web suite: steps and expected results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731520"/>
                <a:gridCol w="5669280"/>
                <a:gridCol w="418795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Step</a:t>
                      </a:r>
                      <a:endParaRPr lang="en-US" sz="105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Side</a:t>
                      </a:r>
                      <a:endParaRPr lang="en-US" sz="105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Action</a:t>
                      </a:r>
                      <a:endParaRPr lang="en-US" sz="105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Expected result</a:t>
                      </a:r>
                      <a:endParaRPr lang="en-US" sz="105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2"/>
                          </a:solidFill>
                        </a:rPr>
                        <a:t>App</a:t>
                      </a: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Sign in as the driver, choose truck v3036, switch Ready on</a:t>
                      </a: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Dashboard shows VIN v3036 and Ready = On</a:t>
                      </a: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1"/>
                          </a:solidFill>
                        </a:rPr>
                        <a:t>Web</a:t>
                      </a: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Sign in as the agent and create a Basic Repair job: client Honda, program HOT UAT Program, customer [AUTO-TEST] Jaidee, Thai incident address (ถ.ราชดำริ หน้าสวนลุมพินี, ปทุมวัน, กทม.), licence 1กข 2345, location note and service condition; Save</a:t>
                      </a: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Job number is issued; the values are kept after reload</a:t>
                      </a: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1"/>
                          </a:solidFill>
                        </a:rPr>
                        <a:t>Web</a:t>
                      </a: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Set the incident pin on the map at 13.7334, 100.5408</a:t>
                      </a: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Incident location is saved</a:t>
                      </a: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1"/>
                          </a:solidFill>
                        </a:rPr>
                        <a:t>Web</a:t>
                      </a: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Assign truck v3036 and click Dispatch</a:t>
                      </a: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Truck and dispatch time are saved; status stays OPEN</a:t>
                      </a: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2"/>
                          </a:solidFill>
                        </a:rPr>
                        <a:t>App</a:t>
                      </a: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Wait on the dashboard without refreshing</a:t>
                      </a: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A job card with the same job number appears, more than 2 km away (9.70 km on 20 Oct)</a:t>
                      </a: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2"/>
                          </a:solidFill>
                        </a:rPr>
                        <a:t>App</a:t>
                      </a: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Open the job and tap Take Job</a:t>
                      </a: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Job is accepted; the portal shows the accept time and status ONPROCESS</a:t>
                      </a: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2"/>
                          </a:solidFill>
                        </a:rPr>
                        <a:t>App</a:t>
                      </a: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Drive ~5 km by road to the customer (GPS point every ~150 m: Victory Monument - Phaya Thai - Rama I - Ratchadamri)</a:t>
                      </a: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App follows the route; the portal road distance is more than 2 km</a:t>
                      </a: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2"/>
                          </a:solidFill>
                        </a:rPr>
                        <a:t>App</a:t>
                      </a: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Tap Arrived, enter odometer 48215, Confirm</a:t>
                      </a: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Portal shows the reach time and mileage 48215</a:t>
                      </a: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2"/>
                          </a:solidFill>
                        </a:rPr>
                        <a:t>App</a:t>
                      </a: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Take a photo with the camera and tap Done</a:t>
                      </a: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Photo is listed in the app; portal photo count is 1</a:t>
                      </a: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2"/>
                          </a:solidFill>
                        </a:rPr>
                        <a:t>App</a:t>
                      </a: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Tap Finish job and confirm</a:t>
                      </a: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Completed screen is shown</a:t>
                      </a: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1"/>
                          </a:solidFill>
                        </a:rPr>
                        <a:t>Web</a:t>
                      </a: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Reload the job</a:t>
                      </a: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Status CLOSED; request &lt; accept &lt; reach &lt; complete; ACCEPT, REACH and COMPLETE rows stamped by truck v3036 with GPS; KPI Pass</a:t>
                      </a: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60350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Workbook sheet "23-E2E Journeys" - the same 11 steps, one row each. The test (TC-23-001.spec.ts) runs them in this order.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E2E-01 in the video: portal left, phone right, same run</a:t>
            </a:r>
            <a:endParaRPr lang="en-US" sz="2600" dirty="0"/>
          </a:p>
        </p:txBody>
      </p:sp>
      <p:pic>
        <p:nvPicPr>
          <p:cNvPr id="3" name="j5.png" descr="C:\Projects\AspireDigital\ai-workshop\presentations\e2e-img\j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3611880" cy="1928050"/>
          </a:xfrm>
          <a:prstGeom prst="rect">
            <a:avLst/>
          </a:prstGeom>
        </p:spPr>
      </p:pic>
      <p:sp>
        <p:nvSpPr>
          <p:cNvPr id="4" name="frame j5.png"/>
          <p:cNvSpPr/>
          <p:nvPr/>
        </p:nvSpPr>
        <p:spPr>
          <a:xfrm>
            <a:off x="548640" y="1417320"/>
            <a:ext cx="3611880" cy="1928050"/>
          </a:xfrm>
          <a:prstGeom prst="rect">
            <a:avLst/>
          </a:prstGeom>
          <a:ln w="12700">
            <a:solidFill>
              <a:schemeClr val="accent5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3455098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Step 5: dispatched on the portal; the job card is on the phone, 9.60 km away</a:t>
            </a:r>
            <a:endParaRPr lang="en-US" sz="1200" dirty="0"/>
          </a:p>
        </p:txBody>
      </p:sp>
      <p:pic>
        <p:nvPicPr>
          <p:cNvPr id="6" name="j8.png" descr="C:\Projects\AspireDigital\ai-workshop\presentations\e2e-img\j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417320"/>
            <a:ext cx="3611880" cy="1928050"/>
          </a:xfrm>
          <a:prstGeom prst="rect">
            <a:avLst/>
          </a:prstGeom>
        </p:spPr>
      </p:pic>
      <p:sp>
        <p:nvSpPr>
          <p:cNvPr id="7" name="frame j8.png"/>
          <p:cNvSpPr/>
          <p:nvPr/>
        </p:nvSpPr>
        <p:spPr>
          <a:xfrm>
            <a:off x="4297680" y="1417320"/>
            <a:ext cx="3611880" cy="1928050"/>
          </a:xfrm>
          <a:prstGeom prst="rect">
            <a:avLst/>
          </a:prstGeom>
          <a:ln w="12700">
            <a:solidFill>
              <a:schemeClr val="accent5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4297680" y="3455098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Step 8: driver arrives and enters odometer 48215</a:t>
            </a:r>
            <a:endParaRPr lang="en-US" sz="1200" dirty="0"/>
          </a:p>
        </p:txBody>
      </p:sp>
      <p:pic>
        <p:nvPicPr>
          <p:cNvPr id="9" name="j11.png" descr="C:\Projects\AspireDigital\ai-workshop\presentations\e2e-img\j1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417320"/>
            <a:ext cx="3611880" cy="1928050"/>
          </a:xfrm>
          <a:prstGeom prst="rect">
            <a:avLst/>
          </a:prstGeom>
        </p:spPr>
      </p:pic>
      <p:sp>
        <p:nvSpPr>
          <p:cNvPr id="10" name="frame j11.png"/>
          <p:cNvSpPr/>
          <p:nvPr/>
        </p:nvSpPr>
        <p:spPr>
          <a:xfrm>
            <a:off x="8046720" y="1417320"/>
            <a:ext cx="3611880" cy="1928050"/>
          </a:xfrm>
          <a:prstGeom prst="rect">
            <a:avLst/>
          </a:prstGeom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8046720" y="3455098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Step 11: portal shows ACCEPT / REACH / COMPLETE by truck v3036, KPI Pass; phone shows the route</a:t>
            </a:r>
            <a:endParaRPr lang="en-US" sz="1200" dirty="0"/>
          </a:p>
        </p:txBody>
      </p:sp>
      <p:sp>
        <p:nvSpPr>
          <p:cNvPr id="12" name="card Result 22 Oct 2026: PASSED in 3.7 min, job 26JB049155"/>
          <p:cNvSpPr/>
          <p:nvPr/>
        </p:nvSpPr>
        <p:spPr>
          <a:xfrm>
            <a:off x="548640" y="4434840"/>
            <a:ext cx="11094415" cy="1417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card edge Result 22 Oct 2026: PASSED in 3.7 min, job 26JB049155"/>
          <p:cNvSpPr/>
          <p:nvPr/>
        </p:nvSpPr>
        <p:spPr>
          <a:xfrm>
            <a:off x="548640" y="4434840"/>
            <a:ext cx="64008" cy="141732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777240" y="4599432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Result 22 Oct 2026: PASSED in 3.7 min, job 26JB049155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777240" y="5001768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All 11 steps passed. Job card 9.60 km, portal road distance 9.6 km, mileage 48215, 1 photo, status CLOSED, KPI Pass on accept / reach / complete. Evidence: captioned side-by-side video, Playwright report and trace. Also passed on 20 Oct (job 26JB049153).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E2E-02 Announcement: publish on the web, see it on every phone</a:t>
            </a:r>
            <a:endParaRPr lang="en-US" sz="2600" dirty="0"/>
          </a:p>
        </p:txBody>
      </p:sp>
      <p:sp>
        <p:nvSpPr>
          <p:cNvPr id="3" name="lane Web"/>
          <p:cNvSpPr/>
          <p:nvPr/>
        </p:nvSpPr>
        <p:spPr>
          <a:xfrm>
            <a:off x="548640" y="1371600"/>
            <a:ext cx="11094415" cy="1325880"/>
          </a:xfrm>
          <a:prstGeom prst="rect">
            <a:avLst/>
          </a:prstGeom>
          <a:solidFill>
            <a:schemeClr val="accent6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8288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WEB</a:t>
            </a:r>
            <a:endParaRPr lang="en-US" sz="1100" dirty="0"/>
          </a:p>
        </p:txBody>
      </p:sp>
      <p:sp>
        <p:nvSpPr>
          <p:cNvPr id="5" name="lane Server"/>
          <p:cNvSpPr/>
          <p:nvPr/>
        </p:nvSpPr>
        <p:spPr>
          <a:xfrm>
            <a:off x="548640" y="2788920"/>
            <a:ext cx="11094415" cy="1325880"/>
          </a:xfrm>
          <a:prstGeom prst="rect">
            <a:avLst/>
          </a:prstGeom>
          <a:solidFill>
            <a:schemeClr val="bg2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2461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SERVER</a:t>
            </a:r>
            <a:endParaRPr lang="en-US" sz="1100" dirty="0"/>
          </a:p>
        </p:txBody>
      </p:sp>
      <p:sp>
        <p:nvSpPr>
          <p:cNvPr id="7" name="lane App"/>
          <p:cNvSpPr/>
          <p:nvPr/>
        </p:nvSpPr>
        <p:spPr>
          <a:xfrm>
            <a:off x="548640" y="4206240"/>
            <a:ext cx="11094415" cy="1325880"/>
          </a:xfrm>
          <a:prstGeom prst="rect">
            <a:avLst/>
          </a:prstGeom>
          <a:solidFill>
            <a:srgbClr val="FDF1EA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46634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APP</a:t>
            </a:r>
            <a:endParaRPr lang="en-US" sz="1100" dirty="0"/>
          </a:p>
        </p:txBody>
      </p:sp>
      <p:sp>
        <p:nvSpPr>
          <p:cNvPr id="9" name="step 1"/>
          <p:cNvSpPr/>
          <p:nvPr/>
        </p:nvSpPr>
        <p:spPr>
          <a:xfrm>
            <a:off x="1417320" y="4315968"/>
            <a:ext cx="1234440" cy="1106424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72184" y="4370832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472184" y="4663440"/>
            <a:ext cx="1124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Driver on the dashboard</a:t>
            </a:r>
            <a:endParaRPr lang="en-US" sz="950" dirty="0"/>
          </a:p>
        </p:txBody>
      </p:sp>
      <p:sp>
        <p:nvSpPr>
          <p:cNvPr id="12" name="step 2"/>
          <p:cNvSpPr/>
          <p:nvPr/>
        </p:nvSpPr>
        <p:spPr>
          <a:xfrm>
            <a:off x="2697480" y="1481328"/>
            <a:ext cx="1234440" cy="1106424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52344" y="1536192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2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2752344" y="1828800"/>
            <a:ext cx="1124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Admin creates a High announcement and publishes</a:t>
            </a:r>
            <a:endParaRPr lang="en-US" sz="950" dirty="0"/>
          </a:p>
        </p:txBody>
      </p:sp>
      <p:sp>
        <p:nvSpPr>
          <p:cNvPr id="15" name="step 3"/>
          <p:cNvSpPr/>
          <p:nvPr/>
        </p:nvSpPr>
        <p:spPr>
          <a:xfrm>
            <a:off x="3977640" y="1481328"/>
            <a:ext cx="1234440" cy="1106424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32504" y="1536192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3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032504" y="1828800"/>
            <a:ext cx="1124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List shows Approved, Active, High</a:t>
            </a:r>
            <a:endParaRPr lang="en-US" sz="950" dirty="0"/>
          </a:p>
        </p:txBody>
      </p:sp>
      <p:sp>
        <p:nvSpPr>
          <p:cNvPr id="18" name="step 4"/>
          <p:cNvSpPr/>
          <p:nvPr/>
        </p:nvSpPr>
        <p:spPr>
          <a:xfrm>
            <a:off x="5257800" y="2898648"/>
            <a:ext cx="1234440" cy="110642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12664" y="2953512"/>
            <a:ext cx="274320" cy="27432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4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312664" y="3246120"/>
            <a:ext cx="1124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Mobile feed contains it</a:t>
            </a:r>
            <a:endParaRPr lang="en-US" sz="950" dirty="0"/>
          </a:p>
        </p:txBody>
      </p:sp>
      <p:sp>
        <p:nvSpPr>
          <p:cNvPr id="21" name="step 5"/>
          <p:cNvSpPr/>
          <p:nvPr/>
        </p:nvSpPr>
        <p:spPr>
          <a:xfrm>
            <a:off x="6537960" y="4315968"/>
            <a:ext cx="1234440" cy="1106424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92824" y="4370832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5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592824" y="4663440"/>
            <a:ext cx="1124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News tab shows the card</a:t>
            </a:r>
            <a:endParaRPr lang="en-US" sz="950" dirty="0"/>
          </a:p>
        </p:txBody>
      </p:sp>
      <p:sp>
        <p:nvSpPr>
          <p:cNvPr id="24" name="step 6"/>
          <p:cNvSpPr/>
          <p:nvPr/>
        </p:nvSpPr>
        <p:spPr>
          <a:xfrm>
            <a:off x="7818120" y="4315968"/>
            <a:ext cx="1234440" cy="1106424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72984" y="4370832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6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7872984" y="4663440"/>
            <a:ext cx="1124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Home shows the high-priority banner</a:t>
            </a:r>
            <a:endParaRPr lang="en-US" sz="950" dirty="0"/>
          </a:p>
        </p:txBody>
      </p:sp>
      <p:sp>
        <p:nvSpPr>
          <p:cNvPr id="27" name="step 7"/>
          <p:cNvSpPr/>
          <p:nvPr/>
        </p:nvSpPr>
        <p:spPr>
          <a:xfrm>
            <a:off x="9098280" y="1481328"/>
            <a:ext cx="1234440" cy="1106424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53144" y="1536192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7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9153144" y="1828800"/>
            <a:ext cx="1124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Admin unticks Active</a:t>
            </a:r>
            <a:endParaRPr lang="en-US" sz="950" dirty="0"/>
          </a:p>
        </p:txBody>
      </p:sp>
      <p:sp>
        <p:nvSpPr>
          <p:cNvPr id="30" name="step 8"/>
          <p:cNvSpPr/>
          <p:nvPr/>
        </p:nvSpPr>
        <p:spPr>
          <a:xfrm>
            <a:off x="10378440" y="4315968"/>
            <a:ext cx="1234440" cy="1106424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433304" y="4370832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8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0433304" y="4663440"/>
            <a:ext cx="1124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Gone from the News tab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57150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Administrators publish at once ("Submit &amp; Publish"). Announcements cannot be targeted - every UAT phone sees it - so the test always switches it off at the end.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TC-23-003 in the RoadSide web suite: steps and expected results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731520"/>
                <a:gridCol w="5669280"/>
                <a:gridCol w="418795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Step</a:t>
                      </a:r>
                      <a:endParaRPr lang="en-US" sz="12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Side</a:t>
                      </a:r>
                      <a:endParaRPr lang="en-US" sz="12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Action</a:t>
                      </a:r>
                      <a:endParaRPr lang="en-US" sz="12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Expected result</a:t>
                      </a:r>
                      <a:endParaRPr lang="en-US" sz="12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15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accent2"/>
                          </a:solidFill>
                        </a:rPr>
                        <a:t>App</a:t>
                      </a:r>
                      <a:endParaRPr lang="en-US" sz="115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Driver is signed in, on the dashboard</a:t>
                      </a:r>
                      <a:endParaRPr lang="en-US" sz="115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Dashboard is shown</a:t>
                      </a:r>
                      <a:endParaRPr lang="en-US" sz="115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15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accent1"/>
                          </a:solidFill>
                        </a:rPr>
                        <a:t>Web</a:t>
                      </a:r>
                      <a:endParaRPr lang="en-US" sz="115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Sign in as administrator; Announcements &gt; Create New: title, priority High, content, effective today, expiry tomorrow, Active; click Submit &amp; Publish</a:t>
                      </a:r>
                      <a:endParaRPr lang="en-US" sz="115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Announcement is saved and approved at once</a:t>
                      </a:r>
                      <a:endParaRPr lang="en-US" sz="115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15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accent1"/>
                          </a:solidFill>
                        </a:rPr>
                        <a:t>Web</a:t>
                      </a:r>
                      <a:endParaRPr lang="en-US" sz="115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Open the announcement list</a:t>
                      </a:r>
                      <a:endParaRPr lang="en-US" sz="115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Row shows priority High, Active, status Approved</a:t>
                      </a:r>
                      <a:endParaRPr lang="en-US" sz="115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15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accent4"/>
                          </a:solidFill>
                        </a:rPr>
                        <a:t>Server</a:t>
                      </a:r>
                      <a:endParaRPr lang="en-US" sz="115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Read the feed the app uses: GET api/pmws/announcements</a:t>
                      </a:r>
                      <a:endParaRPr lang="en-US" sz="115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Feed contains the new announcement</a:t>
                      </a:r>
                      <a:endParaRPr lang="en-US" sz="115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15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accent2"/>
                          </a:solidFill>
                        </a:rPr>
                        <a:t>App</a:t>
                      </a:r>
                      <a:endParaRPr lang="en-US" sz="115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Open the News tab and tap the card</a:t>
                      </a:r>
                      <a:endParaRPr lang="en-US" sz="115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Card shows the title; the content expands</a:t>
                      </a:r>
                      <a:endParaRPr lang="en-US" sz="115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15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accent2"/>
                          </a:solidFill>
                        </a:rPr>
                        <a:t>App</a:t>
                      </a:r>
                      <a:endParaRPr lang="en-US" sz="115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Open Home</a:t>
                      </a:r>
                      <a:endParaRPr lang="en-US" sz="115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High-priority banner shows the title</a:t>
                      </a:r>
                      <a:endParaRPr lang="en-US" sz="115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15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accent1"/>
                          </a:solidFill>
                        </a:rPr>
                        <a:t>Web</a:t>
                      </a:r>
                      <a:endParaRPr lang="en-US" sz="115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Edit the announcement, untick Active, Update</a:t>
                      </a:r>
                      <a:endParaRPr lang="en-US" sz="115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Feed no longer contains it</a:t>
                      </a:r>
                      <a:endParaRPr lang="en-US" sz="115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15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accent2"/>
                          </a:solidFill>
                        </a:rPr>
                        <a:t>App</a:t>
                      </a:r>
                      <a:endParaRPr lang="en-US" sz="115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Re-open the News tab</a:t>
                      </a:r>
                      <a:endParaRPr lang="en-US" sz="115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The announcement is gone</a:t>
                      </a:r>
                      <a:endParaRPr lang="en-US" sz="115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7607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Workbook sheet "23-E2E Journeys" - the same 8 steps, one row each.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E2E-02 in the video: publish on the portal, see it on the phone</a:t>
            </a:r>
            <a:endParaRPr lang="en-US" sz="2600" dirty="0"/>
          </a:p>
        </p:txBody>
      </p:sp>
      <p:pic>
        <p:nvPicPr>
          <p:cNvPr id="3" name="ann-create.png" descr="C:\Projects\AspireDigital\ai-workshop\presentations\e2e-img\ann-cre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3291840" cy="2057400"/>
          </a:xfrm>
          <a:prstGeom prst="rect">
            <a:avLst/>
          </a:prstGeom>
        </p:spPr>
      </p:pic>
      <p:sp>
        <p:nvSpPr>
          <p:cNvPr id="4" name="frame ann-create.png"/>
          <p:cNvSpPr/>
          <p:nvPr/>
        </p:nvSpPr>
        <p:spPr>
          <a:xfrm>
            <a:off x="548640" y="1325880"/>
            <a:ext cx="3291840" cy="2057400"/>
          </a:xfrm>
          <a:prstGeom prst="rect">
            <a:avLst/>
          </a:prstGeom>
          <a:ln w="12700">
            <a:solidFill>
              <a:schemeClr val="accent5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3977640" y="141732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Step 2: the create form an administrator fills (UAT screenshot)</a:t>
            </a:r>
            <a:endParaRPr lang="en-US" sz="1200" dirty="0"/>
          </a:p>
        </p:txBody>
      </p:sp>
      <p:pic>
        <p:nvPicPr>
          <p:cNvPr id="6" name="a5.png" descr="C:\Projects\AspireDigital\ai-workshop\presentations\e2e-img\a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325880"/>
            <a:ext cx="3291840" cy="1757210"/>
          </a:xfrm>
          <a:prstGeom prst="rect">
            <a:avLst/>
          </a:prstGeom>
        </p:spPr>
      </p:pic>
      <p:sp>
        <p:nvSpPr>
          <p:cNvPr id="7" name="frame a5.png"/>
          <p:cNvSpPr/>
          <p:nvPr/>
        </p:nvSpPr>
        <p:spPr>
          <a:xfrm>
            <a:off x="6126480" y="1325880"/>
            <a:ext cx="3291840" cy="1757210"/>
          </a:xfrm>
          <a:prstGeom prst="rect">
            <a:avLst/>
          </a:prstGeom>
          <a:ln w="12700">
            <a:solidFill>
              <a:schemeClr val="accent5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9555480" y="141732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Step 5: News tab shows the High card (and the push notification)</a:t>
            </a:r>
            <a:endParaRPr lang="en-US" sz="1200" dirty="0"/>
          </a:p>
        </p:txBody>
      </p:sp>
      <p:pic>
        <p:nvPicPr>
          <p:cNvPr id="9" name="a6.png" descr="C:\Projects\AspireDigital\ai-workshop\presentations\e2e-img\a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57600"/>
            <a:ext cx="3291840" cy="1757210"/>
          </a:xfrm>
          <a:prstGeom prst="rect">
            <a:avLst/>
          </a:prstGeom>
        </p:spPr>
      </p:pic>
      <p:sp>
        <p:nvSpPr>
          <p:cNvPr id="10" name="frame a6.png"/>
          <p:cNvSpPr/>
          <p:nvPr/>
        </p:nvSpPr>
        <p:spPr>
          <a:xfrm>
            <a:off x="548640" y="3657600"/>
            <a:ext cx="3291840" cy="1757210"/>
          </a:xfrm>
          <a:prstGeom prst="rect">
            <a:avLst/>
          </a:prstGeom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3977640" y="374904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Step 6: Home shows the high-priority banner</a:t>
            </a:r>
            <a:endParaRPr lang="en-US" sz="1200" dirty="0"/>
          </a:p>
        </p:txBody>
      </p:sp>
      <p:pic>
        <p:nvPicPr>
          <p:cNvPr id="12" name="a8.png" descr="C:\Projects\AspireDigital\ai-workshop\presentations\e2e-img\a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3657600"/>
            <a:ext cx="3291840" cy="1757210"/>
          </a:xfrm>
          <a:prstGeom prst="rect">
            <a:avLst/>
          </a:prstGeom>
        </p:spPr>
      </p:pic>
      <p:sp>
        <p:nvSpPr>
          <p:cNvPr id="13" name="frame a8.png"/>
          <p:cNvSpPr/>
          <p:nvPr/>
        </p:nvSpPr>
        <p:spPr>
          <a:xfrm>
            <a:off x="6126480" y="3657600"/>
            <a:ext cx="3291840" cy="1757210"/>
          </a:xfrm>
          <a:prstGeom prst="rect">
            <a:avLst/>
          </a:prstGeom>
          <a:ln w="12700">
            <a:solidFill>
              <a:schemeClr val="accent5"/>
            </a:solidFill>
            <a:prstDash val="solid"/>
          </a:ln>
        </p:spPr>
      </p:sp>
      <p:sp>
        <p:nvSpPr>
          <p:cNvPr id="14" name="Text 8"/>
          <p:cNvSpPr txBox="1"/>
          <p:nvPr/>
        </p:nvSpPr>
        <p:spPr>
          <a:xfrm>
            <a:off x="9555480" y="374904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Step 8: after "untick Active" the card is gone from News</a:t>
            </a:r>
            <a:endParaRPr lang="en-US" sz="1200" dirty="0"/>
          </a:p>
        </p:txBody>
      </p:sp>
      <p:sp>
        <p:nvSpPr>
          <p:cNvPr id="15" name="Text 9"/>
          <p:cNvSpPr txBox="1"/>
          <p:nvPr/>
        </p:nvSpPr>
        <p:spPr>
          <a:xfrm>
            <a:off x="548640" y="5989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Result 22 Oct 2026: PASSED in 1.6 min, all 8 steps. The announcement was switched off at the end and is no longer in the mobile feed.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Demo: watch the journeys</a:t>
            </a:r>
            <a:endParaRPr lang="en-US" sz="2600" dirty="0"/>
          </a:p>
        </p:txBody>
      </p:sp>
      <p:pic>
        <p:nvPicPr>
          <p:cNvPr id="3" name="j11.png" descr="C:\Projects\AspireDigital\ai-workshop\presentations\e2e-img\j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766560" cy="3612043"/>
          </a:xfrm>
          <a:prstGeom prst="rect">
            <a:avLst/>
          </a:prstGeom>
        </p:spPr>
      </p:pic>
      <p:sp>
        <p:nvSpPr>
          <p:cNvPr id="4" name="frame j11.png"/>
          <p:cNvSpPr/>
          <p:nvPr/>
        </p:nvSpPr>
        <p:spPr>
          <a:xfrm>
            <a:off x="548640" y="1371600"/>
            <a:ext cx="6766560" cy="3612043"/>
          </a:xfrm>
          <a:prstGeom prst="rect">
            <a:avLst/>
          </a:prstGeom>
          <a:ln w="12700">
            <a:solidFill>
              <a:schemeClr val="accent5"/>
            </a:solidFill>
            <a:prstDash val="solid"/>
          </a:ln>
        </p:spPr>
      </p:sp>
      <p:sp>
        <p:nvSpPr>
          <p:cNvPr id="5" name="card E2E-01 Job  (2 min 25 s)"/>
          <p:cNvSpPr/>
          <p:nvPr/>
        </p:nvSpPr>
        <p:spPr>
          <a:xfrm>
            <a:off x="7680960" y="1371600"/>
            <a:ext cx="3962095" cy="21031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card edge E2E-01 Job  (2 min 25 s)"/>
          <p:cNvSpPr/>
          <p:nvPr/>
        </p:nvSpPr>
        <p:spPr>
          <a:xfrm>
            <a:off x="7680960" y="1371600"/>
            <a:ext cx="64008" cy="210312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909560" y="1536192"/>
            <a:ext cx="3596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E2E-01 Job  (2 min 25 s)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909560" y="1938528"/>
            <a:ext cx="359633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TC-23-001-web-and-app.mp4 (22 Oct)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Portal left, phone right; a caption bar names each of the 11 steps.</a:t>
            </a:r>
            <a:endParaRPr lang="en-US" sz="1200" dirty="0"/>
          </a:p>
        </p:txBody>
      </p:sp>
      <p:sp>
        <p:nvSpPr>
          <p:cNvPr id="9" name="card E2E-02 Announcement  (55 s)"/>
          <p:cNvSpPr/>
          <p:nvPr/>
        </p:nvSpPr>
        <p:spPr>
          <a:xfrm>
            <a:off x="7680960" y="3657600"/>
            <a:ext cx="3962095" cy="2194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ard edge E2E-02 Announcement  (55 s)"/>
          <p:cNvSpPr/>
          <p:nvPr/>
        </p:nvSpPr>
        <p:spPr>
          <a:xfrm>
            <a:off x="7680960" y="3657600"/>
            <a:ext cx="64008" cy="219456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909560" y="3822192"/>
            <a:ext cx="3596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E2E-02 Announcement  (55 s)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909560" y="4224528"/>
            <a:ext cx="3596335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TC-23-003-web-and-app.mp4 (22 Oct)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Same layout, 8 captioned steps.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5120803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What to watch: the job number appearing on the phone after Dispatch, and the timestamps arriving on the portal after each tap.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What the work found, and what we need next</a:t>
            </a:r>
            <a:endParaRPr lang="en-US" sz="2600" dirty="0"/>
          </a:p>
        </p:txBody>
      </p:sp>
      <p:sp>
        <p:nvSpPr>
          <p:cNvPr id="3" name="card Found while building the suites"/>
          <p:cNvSpPr/>
          <p:nvPr/>
        </p:nvSpPr>
        <p:spPr>
          <a:xfrm>
            <a:off x="548640" y="1371600"/>
            <a:ext cx="5486400" cy="4480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ard edge Found while building the suites"/>
          <p:cNvSpPr/>
          <p:nvPr/>
        </p:nvSpPr>
        <p:spPr>
          <a:xfrm>
            <a:off x="548640" y="1371600"/>
            <a:ext cx="64008" cy="448056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3619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Found while building the suites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38528"/>
            <a:ext cx="51206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Job save checks no mandatory fields; dispatch does not check service or location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Double-click Save / Dispatch and two agents at once are not blocked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Load Provider lists busy trucks nationwide; stale GPS never excluded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Benefit timeout + retry can strand a job (31 Aug incident)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No role checks on job actions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Announcements cannot be targeted; no read tracking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App writes the login password to the device log (UAT build)</a:t>
            </a:r>
            <a:endParaRPr lang="en-US" sz="1300" dirty="0"/>
          </a:p>
        </p:txBody>
      </p:sp>
      <p:sp>
        <p:nvSpPr>
          <p:cNvPr id="7" name="card Next"/>
          <p:cNvSpPr/>
          <p:nvPr/>
        </p:nvSpPr>
        <p:spPr>
          <a:xfrm>
            <a:off x="6263640" y="1371600"/>
            <a:ext cx="5379415" cy="4480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card edge Next"/>
          <p:cNvSpPr/>
          <p:nvPr/>
        </p:nvSpPr>
        <p:spPr>
          <a:xfrm>
            <a:off x="6263640" y="1371600"/>
            <a:ext cx="64008" cy="44805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1536192"/>
            <a:ext cx="5013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Next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1938528"/>
            <a:ext cx="5013655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BA: mark mandatory fields per stage (sheet 24) and answer the review questions (sheet 25)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Run both journeys before each release; keep the report and video as release evidence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Next journeys: customer cancels while the driver is on the way (TC-23-002); towing job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Decide where journeys run before each release (desktop runner, cloud instance or device farm)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spire E2E">
  <a:themeElements>
    <a:clrScheme name="Aspire E2E">
      <a:dk1>
        <a:srgbClr val="1A1A1E"/>
      </a:dk1>
      <a:lt1>
        <a:srgbClr val="FFFFFF"/>
      </a:lt1>
      <a:dk2>
        <a:srgbClr val="0E2A47"/>
      </a:dk2>
      <a:lt2>
        <a:srgbClr val="F3F5F8"/>
      </a:lt2>
      <a:accent1>
        <a:srgbClr val="0B5FA5"/>
      </a:accent1>
      <a:accent2>
        <a:srgbClr val="C2410C"/>
      </a:accent2>
      <a:accent3>
        <a:srgbClr val="15803D"/>
      </a:accent3>
      <a:accent4>
        <a:srgbClr val="71717A"/>
      </a:accent4>
      <a:accent5>
        <a:srgbClr val="D9D9DE"/>
      </a:accent5>
      <a:accent6>
        <a:srgbClr val="E8F0F8"/>
      </a:accent6>
      <a:hlink>
        <a:srgbClr val="0B5FA5"/>
      </a:hlink>
      <a:folHlink>
        <a:srgbClr val="0E2A47"/>
      </a:folHlink>
    </a:clrScheme>
    <a:fontScheme name="Aspire E2E">
      <a:majorFont>
        <a:latin typeface="Segoe UI Semi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International SOS - APAC Aspire Digital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RoadSide end-to-end journeys: job and announcement</dc:title>
  <dc:subject>PptxGenJS Presentation</dc:subject>
  <dc:creator>APAC Aspire Digital</dc:creator>
  <cp:lastModifiedBy>APAC Aspire Digital</cp:lastModifiedBy>
  <cp:revision>1</cp:revision>
  <dcterms:created xsi:type="dcterms:W3CDTF">2026-10-22T09:20:07Z</dcterms:created>
  <dcterms:modified xsi:type="dcterms:W3CDTF">2026-10-22T09:20:07Z</dcterms:modified>
</cp:coreProperties>
</file>